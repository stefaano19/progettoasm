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e163b50e-841b-03fa-f0af-b5eba7aaf90e}">
          <p14:sldIdLst>
            <p14:sldId id="256"/>
            <p14:sldId id="257"/>
            <p14:sldId id="258"/>
          </p14:sldIdLst>
        </p14:section>
        <p14:section name="Architettura" id="{f979bcd5-5982-44a5-655f-073ac0496f0e}">
          <p14:sldIdLst>
            <p14:sldId id="259"/>
            <p14:sldId id="260"/>
            <p14:sldId id="261"/>
          </p14:sldIdLst>
        </p14:section>
        <p14:section name="Confronto tra algoritmi" id="{6659ff30-bbb9-4695-12cb-dfb0271b43cd}">
          <p14:sldIdLst>
            <p14:sldId id="262"/>
            <p14:sldId id="263"/>
            <p14:sldId id="264"/>
            <p14:sldId id="265"/>
            <p14:sldId id="266"/>
          </p14:sldIdLst>
        </p14:section>
        <p14:section name="Risultati" id="{cc0c68bd-c0d8-122d-063f-786c20223af4}">
          <p14:sldIdLst>
            <p14:sldId id="267"/>
            <p14:sldId id="268"/>
            <p14:sldId id="269"/>
            <p14:sldId id="270"/>
            <p14:sldId id="271"/>
            <p14:sldId id="272"/>
          </p14:sldIdLst>
        </p14:section>
        <p14:section name="Conclusioni" id="{ad644ee3-0591-36a1-81f8-ff974609e85d}">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3A"/>
                </a:solidFill>
                <a:latin typeface="+mn-lt"/>
              </a:defRPr>
            </a:pPr>
            <a:r>
              <a:rPr sz="1300" b="0" i="0" u="none" strike="noStrike">
                <a:solidFill>
                  <a:srgbClr val="16243A"/>
                </a:solidFill>
                <a:latin typeface="+mn-lt"/>
              </a:rPr>
              <a:t>Popolazioni degli stati, Fase 2</a:t>
            </a:r>
          </a:p>
        </c:rich>
      </c:tx>
      <c:layout/>
      <c:overlay val="0"/>
    </c:title>
    <c:autoTitleDeleted val="0"/>
    <c:plotArea>
      <c:layout/>
      <c:lineChart>
        <c:varyColors val="0"/>
        <c:ser>
          <c:idx val="0"/>
          <c:order val="0"/>
          <c:tx>
            <c:strRef>
              <c:f>Sheet1!$B$1</c:f>
              <c:strCache>
                <c:ptCount val="1"/>
                <c:pt idx="0">
                  <c:v>Infetti</c:v>
                </c:pt>
              </c:strCache>
            </c:strRef>
          </c:tx>
          <c:spPr>
            <a:solidFill>
              <a:srgbClr val="C53030"/>
            </a:solidFill>
            <a:ln w="25400" cap="flat">
              <a:solidFill>
                <a:srgbClr val="C5303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3030"/>
              </a:solidFill>
              <a:ln w="9525" cap="flat">
                <a:solidFill>
                  <a:srgbClr val="C53030"/>
                </a:solidFill>
                <a:prstDash val="solid"/>
                <a:round/>
              </a:ln>
              <a:effectLst/>
            </c:spPr>
          </c:marker>
          <c:cat>
            <c:multiLvlStrRef>
              <c:f>Sheet1!$A$2:$A$101</c:f>
              <c:multiLvlStrCache>
                <c:ptCount val="10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lvl>
              </c:multiLvlStrCache>
            </c:multiLvlStrRef>
          </c:cat>
          <c:val>
            <c:numRef>
              <c:f>Sheet1!$B$2:$B$101</c:f>
              <c:numCache>
                <c:formatCode>General</c:formatCode>
                <c:ptCount val="100"/>
                <c:pt idx="0">
                  <c:v>841</c:v>
                </c:pt>
                <c:pt idx="1">
                  <c:v>925</c:v>
                </c:pt>
                <c:pt idx="2">
                  <c:v>1020</c:v>
                </c:pt>
                <c:pt idx="3">
                  <c:v>1120</c:v>
                </c:pt>
                <c:pt idx="4">
                  <c:v>1187</c:v>
                </c:pt>
                <c:pt idx="5">
                  <c:v>1267</c:v>
                </c:pt>
                <c:pt idx="6">
                  <c:v>1335</c:v>
                </c:pt>
                <c:pt idx="7">
                  <c:v>1398</c:v>
                </c:pt>
                <c:pt idx="8">
                  <c:v>1452</c:v>
                </c:pt>
                <c:pt idx="9">
                  <c:v>1515</c:v>
                </c:pt>
                <c:pt idx="10">
                  <c:v>1567</c:v>
                </c:pt>
                <c:pt idx="11">
                  <c:v>1618</c:v>
                </c:pt>
                <c:pt idx="12">
                  <c:v>1657</c:v>
                </c:pt>
                <c:pt idx="13">
                  <c:v>1689</c:v>
                </c:pt>
                <c:pt idx="14">
                  <c:v>1721</c:v>
                </c:pt>
                <c:pt idx="15">
                  <c:v>1750</c:v>
                </c:pt>
                <c:pt idx="16">
                  <c:v>1779</c:v>
                </c:pt>
                <c:pt idx="17">
                  <c:v>1797</c:v>
                </c:pt>
                <c:pt idx="18">
                  <c:v>1822</c:v>
                </c:pt>
                <c:pt idx="19">
                  <c:v>1835</c:v>
                </c:pt>
                <c:pt idx="20">
                  <c:v>1854</c:v>
                </c:pt>
                <c:pt idx="21">
                  <c:v>1873</c:v>
                </c:pt>
                <c:pt idx="22">
                  <c:v>1891</c:v>
                </c:pt>
                <c:pt idx="23">
                  <c:v>1908</c:v>
                </c:pt>
                <c:pt idx="24">
                  <c:v>1918</c:v>
                </c:pt>
                <c:pt idx="25">
                  <c:v>1927</c:v>
                </c:pt>
                <c:pt idx="26">
                  <c:v>1936</c:v>
                </c:pt>
                <c:pt idx="27">
                  <c:v>1948</c:v>
                </c:pt>
                <c:pt idx="28">
                  <c:v>1957</c:v>
                </c:pt>
                <c:pt idx="29">
                  <c:v>1967</c:v>
                </c:pt>
                <c:pt idx="30">
                  <c:v>1973</c:v>
                </c:pt>
                <c:pt idx="31">
                  <c:v>1980</c:v>
                </c:pt>
                <c:pt idx="32">
                  <c:v>1983</c:v>
                </c:pt>
                <c:pt idx="33">
                  <c:v>1989</c:v>
                </c:pt>
                <c:pt idx="34">
                  <c:v>1990</c:v>
                </c:pt>
                <c:pt idx="35">
                  <c:v>1992</c:v>
                </c:pt>
                <c:pt idx="36">
                  <c:v>1995</c:v>
                </c:pt>
                <c:pt idx="37">
                  <c:v>2001</c:v>
                </c:pt>
                <c:pt idx="38">
                  <c:v>2006</c:v>
                </c:pt>
                <c:pt idx="39">
                  <c:v>2007</c:v>
                </c:pt>
                <c:pt idx="40">
                  <c:v>2009</c:v>
                </c:pt>
                <c:pt idx="41">
                  <c:v>2010</c:v>
                </c:pt>
                <c:pt idx="42">
                  <c:v>2012</c:v>
                </c:pt>
                <c:pt idx="43">
                  <c:v>2012</c:v>
                </c:pt>
                <c:pt idx="44">
                  <c:v>2014</c:v>
                </c:pt>
                <c:pt idx="45">
                  <c:v>2016</c:v>
                </c:pt>
                <c:pt idx="46">
                  <c:v>2016</c:v>
                </c:pt>
                <c:pt idx="47">
                  <c:v>2016</c:v>
                </c:pt>
                <c:pt idx="48">
                  <c:v>2020</c:v>
                </c:pt>
                <c:pt idx="49">
                  <c:v>2022</c:v>
                </c:pt>
                <c:pt idx="50">
                  <c:v>2020</c:v>
                </c:pt>
                <c:pt idx="51">
                  <c:v>2020</c:v>
                </c:pt>
                <c:pt idx="52">
                  <c:v>2025</c:v>
                </c:pt>
                <c:pt idx="53">
                  <c:v>2024</c:v>
                </c:pt>
                <c:pt idx="54">
                  <c:v>2028</c:v>
                </c:pt>
                <c:pt idx="55">
                  <c:v>2026</c:v>
                </c:pt>
                <c:pt idx="56">
                  <c:v>2024</c:v>
                </c:pt>
                <c:pt idx="57">
                  <c:v>2024</c:v>
                </c:pt>
                <c:pt idx="58">
                  <c:v>2026</c:v>
                </c:pt>
                <c:pt idx="59">
                  <c:v>2027</c:v>
                </c:pt>
                <c:pt idx="60">
                  <c:v>2027</c:v>
                </c:pt>
                <c:pt idx="61">
                  <c:v>2024</c:v>
                </c:pt>
                <c:pt idx="62">
                  <c:v>2022</c:v>
                </c:pt>
                <c:pt idx="63">
                  <c:v>2024</c:v>
                </c:pt>
                <c:pt idx="64">
                  <c:v>2027</c:v>
                </c:pt>
                <c:pt idx="65">
                  <c:v>2032</c:v>
                </c:pt>
                <c:pt idx="66">
                  <c:v>2031</c:v>
                </c:pt>
                <c:pt idx="67">
                  <c:v>2031</c:v>
                </c:pt>
                <c:pt idx="68">
                  <c:v>2028</c:v>
                </c:pt>
                <c:pt idx="69">
                  <c:v>2027</c:v>
                </c:pt>
                <c:pt idx="70">
                  <c:v>2026</c:v>
                </c:pt>
                <c:pt idx="71">
                  <c:v>2027</c:v>
                </c:pt>
                <c:pt idx="72">
                  <c:v>2028</c:v>
                </c:pt>
                <c:pt idx="73">
                  <c:v>2028</c:v>
                </c:pt>
                <c:pt idx="74">
                  <c:v>2030</c:v>
                </c:pt>
                <c:pt idx="75">
                  <c:v>2030</c:v>
                </c:pt>
                <c:pt idx="76">
                  <c:v>2031</c:v>
                </c:pt>
                <c:pt idx="77">
                  <c:v>2030</c:v>
                </c:pt>
                <c:pt idx="78">
                  <c:v>2030</c:v>
                </c:pt>
                <c:pt idx="79">
                  <c:v>2030</c:v>
                </c:pt>
                <c:pt idx="80">
                  <c:v>2029</c:v>
                </c:pt>
                <c:pt idx="81">
                  <c:v>2029</c:v>
                </c:pt>
                <c:pt idx="82">
                  <c:v>2030</c:v>
                </c:pt>
                <c:pt idx="83">
                  <c:v>2032</c:v>
                </c:pt>
                <c:pt idx="84">
                  <c:v>2032</c:v>
                </c:pt>
                <c:pt idx="85">
                  <c:v>2032</c:v>
                </c:pt>
                <c:pt idx="86">
                  <c:v>2033</c:v>
                </c:pt>
                <c:pt idx="87">
                  <c:v>2033</c:v>
                </c:pt>
                <c:pt idx="88">
                  <c:v>2034</c:v>
                </c:pt>
                <c:pt idx="89">
                  <c:v>2033</c:v>
                </c:pt>
                <c:pt idx="90">
                  <c:v>2032</c:v>
                </c:pt>
                <c:pt idx="91">
                  <c:v>2032</c:v>
                </c:pt>
                <c:pt idx="92">
                  <c:v>2030</c:v>
                </c:pt>
                <c:pt idx="93">
                  <c:v>2030</c:v>
                </c:pt>
                <c:pt idx="94">
                  <c:v>2032</c:v>
                </c:pt>
                <c:pt idx="95">
                  <c:v>2032</c:v>
                </c:pt>
                <c:pt idx="96">
                  <c:v>2033</c:v>
                </c:pt>
                <c:pt idx="97">
                  <c:v>2033</c:v>
                </c:pt>
                <c:pt idx="98">
                  <c:v>2033</c:v>
                </c:pt>
                <c:pt idx="99">
                  <c:v>2032</c:v>
                </c:pt>
              </c:numCache>
            </c:numRef>
          </c:val>
          <c:smooth val="0"/>
        </c:ser>
        <c:ser>
          <c:idx val="1"/>
          <c:order val="1"/>
          <c:tx>
            <c:strRef>
              <c:f>Sheet1!$C$1</c:f>
              <c:strCache>
                <c:ptCount val="1"/>
                <c:pt idx="0">
                  <c:v>Suscettibili</c:v>
                </c:pt>
              </c:strCache>
            </c:strRef>
          </c:tx>
          <c:spPr>
            <a:solidFill>
              <a:srgbClr val="2B6CB0"/>
            </a:solidFill>
            <a:ln w="25400" cap="flat">
              <a:solidFill>
                <a:srgbClr val="2B6C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6CB0"/>
              </a:solidFill>
              <a:ln w="9525" cap="flat">
                <a:solidFill>
                  <a:srgbClr val="2B6CB0"/>
                </a:solidFill>
                <a:prstDash val="solid"/>
                <a:round/>
              </a:ln>
              <a:effectLst/>
            </c:spPr>
          </c:marker>
          <c:cat>
            <c:multiLvlStrRef>
              <c:f>Sheet1!$A$2:$A$101</c:f>
              <c:multiLvlStrCache>
                <c:ptCount val="10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lvl>
              </c:multiLvlStrCache>
            </c:multiLvlStrRef>
          </c:cat>
          <c:val>
            <c:numRef>
              <c:f>Sheet1!$C$2:$C$101</c:f>
              <c:numCache>
                <c:formatCode>General</c:formatCode>
                <c:ptCount val="100"/>
                <c:pt idx="0">
                  <c:v>3965</c:v>
                </c:pt>
                <c:pt idx="1">
                  <c:v>3721</c:v>
                </c:pt>
                <c:pt idx="2">
                  <c:v>3489</c:v>
                </c:pt>
                <c:pt idx="3">
                  <c:v>3287</c:v>
                </c:pt>
                <c:pt idx="4">
                  <c:v>3122</c:v>
                </c:pt>
                <c:pt idx="5">
                  <c:v>2963</c:v>
                </c:pt>
                <c:pt idx="6">
                  <c:v>2788</c:v>
                </c:pt>
                <c:pt idx="7">
                  <c:v>2632</c:v>
                </c:pt>
                <c:pt idx="8">
                  <c:v>2501</c:v>
                </c:pt>
                <c:pt idx="9">
                  <c:v>2366</c:v>
                </c:pt>
                <c:pt idx="10">
                  <c:v>2250</c:v>
                </c:pt>
                <c:pt idx="11">
                  <c:v>2127</c:v>
                </c:pt>
                <c:pt idx="12">
                  <c:v>2039</c:v>
                </c:pt>
                <c:pt idx="13">
                  <c:v>1961</c:v>
                </c:pt>
                <c:pt idx="14">
                  <c:v>1891</c:v>
                </c:pt>
                <c:pt idx="15">
                  <c:v>1821</c:v>
                </c:pt>
                <c:pt idx="16">
                  <c:v>1755</c:v>
                </c:pt>
                <c:pt idx="17">
                  <c:v>1705</c:v>
                </c:pt>
                <c:pt idx="18">
                  <c:v>1644</c:v>
                </c:pt>
                <c:pt idx="19">
                  <c:v>1593</c:v>
                </c:pt>
                <c:pt idx="20">
                  <c:v>1547</c:v>
                </c:pt>
                <c:pt idx="21">
                  <c:v>1505</c:v>
                </c:pt>
                <c:pt idx="22">
                  <c:v>1463</c:v>
                </c:pt>
                <c:pt idx="23">
                  <c:v>1424</c:v>
                </c:pt>
                <c:pt idx="24">
                  <c:v>1393</c:v>
                </c:pt>
                <c:pt idx="25">
                  <c:v>1363</c:v>
                </c:pt>
                <c:pt idx="26">
                  <c:v>1333</c:v>
                </c:pt>
                <c:pt idx="27">
                  <c:v>1304</c:v>
                </c:pt>
                <c:pt idx="28">
                  <c:v>1280</c:v>
                </c:pt>
                <c:pt idx="29">
                  <c:v>1261</c:v>
                </c:pt>
                <c:pt idx="30">
                  <c:v>1246</c:v>
                </c:pt>
                <c:pt idx="31">
                  <c:v>1227</c:v>
                </c:pt>
                <c:pt idx="32">
                  <c:v>1213</c:v>
                </c:pt>
                <c:pt idx="33">
                  <c:v>1197</c:v>
                </c:pt>
                <c:pt idx="34">
                  <c:v>1185</c:v>
                </c:pt>
                <c:pt idx="35">
                  <c:v>1178</c:v>
                </c:pt>
                <c:pt idx="36">
                  <c:v>1166</c:v>
                </c:pt>
                <c:pt idx="37">
                  <c:v>1154</c:v>
                </c:pt>
                <c:pt idx="38">
                  <c:v>1141</c:v>
                </c:pt>
                <c:pt idx="39">
                  <c:v>1134</c:v>
                </c:pt>
                <c:pt idx="40">
                  <c:v>1125</c:v>
                </c:pt>
                <c:pt idx="41">
                  <c:v>1114</c:v>
                </c:pt>
                <c:pt idx="42">
                  <c:v>1106</c:v>
                </c:pt>
                <c:pt idx="43">
                  <c:v>1103</c:v>
                </c:pt>
                <c:pt idx="44">
                  <c:v>1098</c:v>
                </c:pt>
                <c:pt idx="45">
                  <c:v>1087</c:v>
                </c:pt>
                <c:pt idx="46">
                  <c:v>1083</c:v>
                </c:pt>
                <c:pt idx="47">
                  <c:v>1079</c:v>
                </c:pt>
                <c:pt idx="48">
                  <c:v>1072</c:v>
                </c:pt>
                <c:pt idx="49">
                  <c:v>1070</c:v>
                </c:pt>
                <c:pt idx="50">
                  <c:v>1064</c:v>
                </c:pt>
                <c:pt idx="51">
                  <c:v>1060</c:v>
                </c:pt>
                <c:pt idx="52">
                  <c:v>1052</c:v>
                </c:pt>
                <c:pt idx="53">
                  <c:v>1048</c:v>
                </c:pt>
                <c:pt idx="54">
                  <c:v>1038</c:v>
                </c:pt>
                <c:pt idx="55">
                  <c:v>1033</c:v>
                </c:pt>
                <c:pt idx="56">
                  <c:v>1032</c:v>
                </c:pt>
                <c:pt idx="57">
                  <c:v>1028</c:v>
                </c:pt>
                <c:pt idx="58">
                  <c:v>1025</c:v>
                </c:pt>
                <c:pt idx="59">
                  <c:v>1021</c:v>
                </c:pt>
                <c:pt idx="60">
                  <c:v>1018</c:v>
                </c:pt>
                <c:pt idx="61">
                  <c:v>1016</c:v>
                </c:pt>
                <c:pt idx="62">
                  <c:v>1014</c:v>
                </c:pt>
                <c:pt idx="63">
                  <c:v>1011</c:v>
                </c:pt>
                <c:pt idx="64">
                  <c:v>1006</c:v>
                </c:pt>
                <c:pt idx="65">
                  <c:v>999</c:v>
                </c:pt>
                <c:pt idx="66">
                  <c:v>998</c:v>
                </c:pt>
                <c:pt idx="67">
                  <c:v>997</c:v>
                </c:pt>
                <c:pt idx="68">
                  <c:v>996</c:v>
                </c:pt>
                <c:pt idx="69">
                  <c:v>994</c:v>
                </c:pt>
                <c:pt idx="70">
                  <c:v>994</c:v>
                </c:pt>
                <c:pt idx="71">
                  <c:v>993</c:v>
                </c:pt>
                <c:pt idx="72">
                  <c:v>993</c:v>
                </c:pt>
                <c:pt idx="73">
                  <c:v>992</c:v>
                </c:pt>
                <c:pt idx="74">
                  <c:v>990</c:v>
                </c:pt>
                <c:pt idx="75">
                  <c:v>990</c:v>
                </c:pt>
                <c:pt idx="76">
                  <c:v>989</c:v>
                </c:pt>
                <c:pt idx="77">
                  <c:v>989</c:v>
                </c:pt>
                <c:pt idx="78">
                  <c:v>988</c:v>
                </c:pt>
                <c:pt idx="79">
                  <c:v>988</c:v>
                </c:pt>
                <c:pt idx="80">
                  <c:v>988</c:v>
                </c:pt>
                <c:pt idx="81">
                  <c:v>987</c:v>
                </c:pt>
                <c:pt idx="82">
                  <c:v>986</c:v>
                </c:pt>
                <c:pt idx="83">
                  <c:v>985</c:v>
                </c:pt>
                <c:pt idx="84">
                  <c:v>985</c:v>
                </c:pt>
                <c:pt idx="85">
                  <c:v>985</c:v>
                </c:pt>
                <c:pt idx="86">
                  <c:v>985</c:v>
                </c:pt>
                <c:pt idx="87">
                  <c:v>985</c:v>
                </c:pt>
                <c:pt idx="88">
                  <c:v>983</c:v>
                </c:pt>
                <c:pt idx="89">
                  <c:v>982</c:v>
                </c:pt>
                <c:pt idx="90">
                  <c:v>982</c:v>
                </c:pt>
                <c:pt idx="91">
                  <c:v>982</c:v>
                </c:pt>
                <c:pt idx="92">
                  <c:v>982</c:v>
                </c:pt>
                <c:pt idx="93">
                  <c:v>982</c:v>
                </c:pt>
                <c:pt idx="94">
                  <c:v>980</c:v>
                </c:pt>
                <c:pt idx="95">
                  <c:v>979</c:v>
                </c:pt>
                <c:pt idx="96">
                  <c:v>978</c:v>
                </c:pt>
                <c:pt idx="97">
                  <c:v>978</c:v>
                </c:pt>
                <c:pt idx="98">
                  <c:v>978</c:v>
                </c:pt>
                <c:pt idx="99">
                  <c:v>978</c:v>
                </c:pt>
              </c:numCache>
            </c:numRef>
          </c:val>
          <c:smooth val="0"/>
        </c:ser>
        <c:ser>
          <c:idx val="2"/>
          <c:order val="2"/>
          <c:tx>
            <c:strRef>
              <c:f>Sheet1!$D$1</c:f>
              <c:strCache>
                <c:ptCount val="1"/>
                <c:pt idx="0">
                  <c:v>Resistenti</c:v>
                </c:pt>
              </c:strCache>
            </c:strRef>
          </c:tx>
          <c:spPr>
            <a:solidFill>
              <a:srgbClr val="2F855A"/>
            </a:solidFill>
            <a:ln w="25400" cap="flat">
              <a:solidFill>
                <a:srgbClr val="2F85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855A"/>
              </a:solidFill>
              <a:ln w="9525" cap="flat">
                <a:solidFill>
                  <a:srgbClr val="2F855A"/>
                </a:solidFill>
                <a:prstDash val="solid"/>
                <a:round/>
              </a:ln>
              <a:effectLst/>
            </c:spPr>
          </c:marker>
          <c:cat>
            <c:multiLvlStrRef>
              <c:f>Sheet1!$A$2:$A$101</c:f>
              <c:multiLvlStrCache>
                <c:ptCount val="10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lvl>
              </c:multiLvlStrCache>
            </c:multiLvlStrRef>
          </c:cat>
          <c:val>
            <c:numRef>
              <c:f>Sheet1!$D$2:$D$101</c:f>
              <c:numCache>
                <c:formatCode>General</c:formatCode>
                <c:ptCount val="100"/>
                <c:pt idx="0">
                  <c:v>194</c:v>
                </c:pt>
                <c:pt idx="1">
                  <c:v>354</c:v>
                </c:pt>
                <c:pt idx="2">
                  <c:v>491</c:v>
                </c:pt>
                <c:pt idx="3">
                  <c:v>593</c:v>
                </c:pt>
                <c:pt idx="4">
                  <c:v>691</c:v>
                </c:pt>
                <c:pt idx="5">
                  <c:v>770</c:v>
                </c:pt>
                <c:pt idx="6">
                  <c:v>877</c:v>
                </c:pt>
                <c:pt idx="7">
                  <c:v>970</c:v>
                </c:pt>
                <c:pt idx="8">
                  <c:v>1047</c:v>
                </c:pt>
                <c:pt idx="9">
                  <c:v>1119</c:v>
                </c:pt>
                <c:pt idx="10">
                  <c:v>1183</c:v>
                </c:pt>
                <c:pt idx="11">
                  <c:v>1255</c:v>
                </c:pt>
                <c:pt idx="12">
                  <c:v>1304</c:v>
                </c:pt>
                <c:pt idx="13">
                  <c:v>1350</c:v>
                </c:pt>
                <c:pt idx="14">
                  <c:v>1388</c:v>
                </c:pt>
                <c:pt idx="15">
                  <c:v>1429</c:v>
                </c:pt>
                <c:pt idx="16">
                  <c:v>1466</c:v>
                </c:pt>
                <c:pt idx="17">
                  <c:v>1498</c:v>
                </c:pt>
                <c:pt idx="18">
                  <c:v>1534</c:v>
                </c:pt>
                <c:pt idx="19">
                  <c:v>1572</c:v>
                </c:pt>
                <c:pt idx="20">
                  <c:v>1599</c:v>
                </c:pt>
                <c:pt idx="21">
                  <c:v>1622</c:v>
                </c:pt>
                <c:pt idx="22">
                  <c:v>1646</c:v>
                </c:pt>
                <c:pt idx="23">
                  <c:v>1668</c:v>
                </c:pt>
                <c:pt idx="24">
                  <c:v>1689</c:v>
                </c:pt>
                <c:pt idx="25">
                  <c:v>1710</c:v>
                </c:pt>
                <c:pt idx="26">
                  <c:v>1731</c:v>
                </c:pt>
                <c:pt idx="27">
                  <c:v>1748</c:v>
                </c:pt>
                <c:pt idx="28">
                  <c:v>1763</c:v>
                </c:pt>
                <c:pt idx="29">
                  <c:v>1772</c:v>
                </c:pt>
                <c:pt idx="30">
                  <c:v>1781</c:v>
                </c:pt>
                <c:pt idx="31">
                  <c:v>1793</c:v>
                </c:pt>
                <c:pt idx="32">
                  <c:v>1804</c:v>
                </c:pt>
                <c:pt idx="33">
                  <c:v>1814</c:v>
                </c:pt>
                <c:pt idx="34">
                  <c:v>1825</c:v>
                </c:pt>
                <c:pt idx="35">
                  <c:v>1830</c:v>
                </c:pt>
                <c:pt idx="36">
                  <c:v>1839</c:v>
                </c:pt>
                <c:pt idx="37">
                  <c:v>1845</c:v>
                </c:pt>
                <c:pt idx="38">
                  <c:v>1853</c:v>
                </c:pt>
                <c:pt idx="39">
                  <c:v>1859</c:v>
                </c:pt>
                <c:pt idx="40">
                  <c:v>1866</c:v>
                </c:pt>
                <c:pt idx="41">
                  <c:v>1876</c:v>
                </c:pt>
                <c:pt idx="42">
                  <c:v>1882</c:v>
                </c:pt>
                <c:pt idx="43">
                  <c:v>1885</c:v>
                </c:pt>
                <c:pt idx="44">
                  <c:v>1888</c:v>
                </c:pt>
                <c:pt idx="45">
                  <c:v>1897</c:v>
                </c:pt>
                <c:pt idx="46">
                  <c:v>1901</c:v>
                </c:pt>
                <c:pt idx="47">
                  <c:v>1905</c:v>
                </c:pt>
                <c:pt idx="48">
                  <c:v>1908</c:v>
                </c:pt>
                <c:pt idx="49">
                  <c:v>1908</c:v>
                </c:pt>
                <c:pt idx="50">
                  <c:v>1916</c:v>
                </c:pt>
                <c:pt idx="51">
                  <c:v>1920</c:v>
                </c:pt>
                <c:pt idx="52">
                  <c:v>1923</c:v>
                </c:pt>
                <c:pt idx="53">
                  <c:v>1928</c:v>
                </c:pt>
                <c:pt idx="54">
                  <c:v>1934</c:v>
                </c:pt>
                <c:pt idx="55">
                  <c:v>1941</c:v>
                </c:pt>
                <c:pt idx="56">
                  <c:v>1944</c:v>
                </c:pt>
                <c:pt idx="57">
                  <c:v>1948</c:v>
                </c:pt>
                <c:pt idx="58">
                  <c:v>1949</c:v>
                </c:pt>
                <c:pt idx="59">
                  <c:v>1952</c:v>
                </c:pt>
                <c:pt idx="60">
                  <c:v>1955</c:v>
                </c:pt>
                <c:pt idx="61">
                  <c:v>1960</c:v>
                </c:pt>
                <c:pt idx="62">
                  <c:v>1964</c:v>
                </c:pt>
                <c:pt idx="63">
                  <c:v>1965</c:v>
                </c:pt>
                <c:pt idx="64">
                  <c:v>1967</c:v>
                </c:pt>
                <c:pt idx="65">
                  <c:v>1969</c:v>
                </c:pt>
                <c:pt idx="66">
                  <c:v>1971</c:v>
                </c:pt>
                <c:pt idx="67">
                  <c:v>1972</c:v>
                </c:pt>
                <c:pt idx="68">
                  <c:v>1976</c:v>
                </c:pt>
                <c:pt idx="69">
                  <c:v>1979</c:v>
                </c:pt>
                <c:pt idx="70">
                  <c:v>1980</c:v>
                </c:pt>
                <c:pt idx="71">
                  <c:v>1980</c:v>
                </c:pt>
                <c:pt idx="72">
                  <c:v>1979</c:v>
                </c:pt>
                <c:pt idx="73">
                  <c:v>1980</c:v>
                </c:pt>
                <c:pt idx="74">
                  <c:v>1980</c:v>
                </c:pt>
                <c:pt idx="75">
                  <c:v>1980</c:v>
                </c:pt>
                <c:pt idx="76">
                  <c:v>1980</c:v>
                </c:pt>
                <c:pt idx="77">
                  <c:v>1981</c:v>
                </c:pt>
                <c:pt idx="78">
                  <c:v>1982</c:v>
                </c:pt>
                <c:pt idx="79">
                  <c:v>1982</c:v>
                </c:pt>
                <c:pt idx="80">
                  <c:v>1983</c:v>
                </c:pt>
                <c:pt idx="81">
                  <c:v>1984</c:v>
                </c:pt>
                <c:pt idx="82">
                  <c:v>1984</c:v>
                </c:pt>
                <c:pt idx="83">
                  <c:v>1983</c:v>
                </c:pt>
                <c:pt idx="84">
                  <c:v>1983</c:v>
                </c:pt>
                <c:pt idx="85">
                  <c:v>1983</c:v>
                </c:pt>
                <c:pt idx="86">
                  <c:v>1982</c:v>
                </c:pt>
                <c:pt idx="87">
                  <c:v>1982</c:v>
                </c:pt>
                <c:pt idx="88">
                  <c:v>1983</c:v>
                </c:pt>
                <c:pt idx="89">
                  <c:v>1985</c:v>
                </c:pt>
                <c:pt idx="90">
                  <c:v>1986</c:v>
                </c:pt>
                <c:pt idx="91">
                  <c:v>1986</c:v>
                </c:pt>
                <c:pt idx="92">
                  <c:v>1988</c:v>
                </c:pt>
                <c:pt idx="93">
                  <c:v>1988</c:v>
                </c:pt>
                <c:pt idx="94">
                  <c:v>1988</c:v>
                </c:pt>
                <c:pt idx="95">
                  <c:v>1989</c:v>
                </c:pt>
                <c:pt idx="96">
                  <c:v>1989</c:v>
                </c:pt>
                <c:pt idx="97">
                  <c:v>1989</c:v>
                </c:pt>
                <c:pt idx="98">
                  <c:v>1989</c:v>
                </c:pt>
                <c:pt idx="99">
                  <c:v>1990</c:v>
                </c:pt>
              </c:numCache>
            </c:numRef>
          </c:val>
          <c:smooth val="0"/>
        </c:ser>
        <c:ser>
          <c:idx val="3"/>
          <c:order val="3"/>
          <c:tx>
            <c:strRef>
              <c:f>Sheet1!$E$1</c:f>
              <c:strCache>
                <c:ptCount val="1"/>
                <c:pt idx="0">
                  <c:v>Fit logistico degli infetti</c:v>
                </c:pt>
              </c:strCache>
            </c:strRef>
          </c:tx>
          <c:spPr>
            <a:solidFill>
              <a:srgbClr val="1A202C"/>
            </a:solidFill>
            <a:ln w="25400" cap="flat">
              <a:solidFill>
                <a:srgbClr val="1A20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A202C"/>
              </a:solidFill>
              <a:ln w="9525" cap="flat">
                <a:solidFill>
                  <a:srgbClr val="1A202C"/>
                </a:solidFill>
                <a:prstDash val="solid"/>
                <a:round/>
              </a:ln>
              <a:effectLst/>
            </c:spPr>
          </c:marker>
          <c:cat>
            <c:multiLvlStrRef>
              <c:f>Sheet1!$A$2:$A$101</c:f>
              <c:multiLvlStrCache>
                <c:ptCount val="10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lvl>
              </c:multiLvlStrCache>
            </c:multiLvlStrRef>
          </c:cat>
          <c:val>
            <c:numRef>
              <c:f>Sheet1!$E$2:$E$101</c:f>
              <c:numCache>
                <c:formatCode>General</c:formatCode>
                <c:ptCount val="100"/>
                <c:pt idx="0">
                  <c:v>898</c:v>
                </c:pt>
                <c:pt idx="1">
                  <c:v>968</c:v>
                </c:pt>
                <c:pt idx="2">
                  <c:v>1038</c:v>
                </c:pt>
                <c:pt idx="3">
                  <c:v>1108</c:v>
                </c:pt>
                <c:pt idx="4">
                  <c:v>1178</c:v>
                </c:pt>
                <c:pt idx="5">
                  <c:v>1245</c:v>
                </c:pt>
                <c:pt idx="6">
                  <c:v>1311</c:v>
                </c:pt>
                <c:pt idx="7">
                  <c:v>1374</c:v>
                </c:pt>
                <c:pt idx="8">
                  <c:v>1434</c:v>
                </c:pt>
                <c:pt idx="9">
                  <c:v>1490</c:v>
                </c:pt>
                <c:pt idx="10">
                  <c:v>1543</c:v>
                </c:pt>
                <c:pt idx="11">
                  <c:v>1592</c:v>
                </c:pt>
                <c:pt idx="12">
                  <c:v>1638</c:v>
                </c:pt>
                <c:pt idx="13">
                  <c:v>1679</c:v>
                </c:pt>
                <c:pt idx="14">
                  <c:v>1717</c:v>
                </c:pt>
                <c:pt idx="15">
                  <c:v>1752</c:v>
                </c:pt>
                <c:pt idx="16">
                  <c:v>1783</c:v>
                </c:pt>
                <c:pt idx="17">
                  <c:v>1811</c:v>
                </c:pt>
                <c:pt idx="18">
                  <c:v>1836</c:v>
                </c:pt>
                <c:pt idx="19">
                  <c:v>1859</c:v>
                </c:pt>
                <c:pt idx="20">
                  <c:v>1878</c:v>
                </c:pt>
                <c:pt idx="21">
                  <c:v>1896</c:v>
                </c:pt>
                <c:pt idx="22">
                  <c:v>1912</c:v>
                </c:pt>
                <c:pt idx="23">
                  <c:v>1926</c:v>
                </c:pt>
                <c:pt idx="24">
                  <c:v>1938</c:v>
                </c:pt>
                <c:pt idx="25">
                  <c:v>1949</c:v>
                </c:pt>
                <c:pt idx="26">
                  <c:v>1958</c:v>
                </c:pt>
                <c:pt idx="27">
                  <c:v>1966</c:v>
                </c:pt>
                <c:pt idx="28">
                  <c:v>1974</c:v>
                </c:pt>
                <c:pt idx="29">
                  <c:v>1980</c:v>
                </c:pt>
                <c:pt idx="30">
                  <c:v>1986</c:v>
                </c:pt>
                <c:pt idx="31">
                  <c:v>1991</c:v>
                </c:pt>
                <c:pt idx="32">
                  <c:v>1995</c:v>
                </c:pt>
                <c:pt idx="33">
                  <c:v>1999</c:v>
                </c:pt>
                <c:pt idx="34">
                  <c:v>2002</c:v>
                </c:pt>
                <c:pt idx="35">
                  <c:v>2005</c:v>
                </c:pt>
                <c:pt idx="36">
                  <c:v>2007</c:v>
                </c:pt>
                <c:pt idx="37">
                  <c:v>2009</c:v>
                </c:pt>
                <c:pt idx="38">
                  <c:v>2011</c:v>
                </c:pt>
                <c:pt idx="39">
                  <c:v>2013</c:v>
                </c:pt>
                <c:pt idx="40">
                  <c:v>2014</c:v>
                </c:pt>
                <c:pt idx="41">
                  <c:v>2015</c:v>
                </c:pt>
                <c:pt idx="42">
                  <c:v>2017</c:v>
                </c:pt>
                <c:pt idx="43">
                  <c:v>2017</c:v>
                </c:pt>
                <c:pt idx="44">
                  <c:v>2018</c:v>
                </c:pt>
                <c:pt idx="45">
                  <c:v>2019</c:v>
                </c:pt>
                <c:pt idx="46">
                  <c:v>2020</c:v>
                </c:pt>
                <c:pt idx="47">
                  <c:v>2020</c:v>
                </c:pt>
                <c:pt idx="48">
                  <c:v>2021</c:v>
                </c:pt>
                <c:pt idx="49">
                  <c:v>2021</c:v>
                </c:pt>
                <c:pt idx="50">
                  <c:v>2021</c:v>
                </c:pt>
                <c:pt idx="51">
                  <c:v>2022</c:v>
                </c:pt>
                <c:pt idx="52">
                  <c:v>2022</c:v>
                </c:pt>
                <c:pt idx="53">
                  <c:v>2022</c:v>
                </c:pt>
                <c:pt idx="54">
                  <c:v>2022</c:v>
                </c:pt>
                <c:pt idx="55">
                  <c:v>2023</c:v>
                </c:pt>
                <c:pt idx="56">
                  <c:v>2023</c:v>
                </c:pt>
                <c:pt idx="57">
                  <c:v>2023</c:v>
                </c:pt>
                <c:pt idx="58">
                  <c:v>2023</c:v>
                </c:pt>
                <c:pt idx="59">
                  <c:v>2023</c:v>
                </c:pt>
                <c:pt idx="60">
                  <c:v>2023</c:v>
                </c:pt>
                <c:pt idx="61">
                  <c:v>2023</c:v>
                </c:pt>
                <c:pt idx="62">
                  <c:v>2023</c:v>
                </c:pt>
                <c:pt idx="63">
                  <c:v>2023</c:v>
                </c:pt>
                <c:pt idx="64">
                  <c:v>2023</c:v>
                </c:pt>
                <c:pt idx="65">
                  <c:v>2024</c:v>
                </c:pt>
                <c:pt idx="66">
                  <c:v>2024</c:v>
                </c:pt>
                <c:pt idx="67">
                  <c:v>2024</c:v>
                </c:pt>
                <c:pt idx="68">
                  <c:v>2024</c:v>
                </c:pt>
                <c:pt idx="69">
                  <c:v>2024</c:v>
                </c:pt>
                <c:pt idx="70">
                  <c:v>2024</c:v>
                </c:pt>
                <c:pt idx="71">
                  <c:v>2024</c:v>
                </c:pt>
                <c:pt idx="72">
                  <c:v>2024</c:v>
                </c:pt>
                <c:pt idx="73">
                  <c:v>2024</c:v>
                </c:pt>
                <c:pt idx="74">
                  <c:v>2024</c:v>
                </c:pt>
                <c:pt idx="75">
                  <c:v>2024</c:v>
                </c:pt>
                <c:pt idx="76">
                  <c:v>2024</c:v>
                </c:pt>
                <c:pt idx="77">
                  <c:v>2024</c:v>
                </c:pt>
                <c:pt idx="78">
                  <c:v>2024</c:v>
                </c:pt>
                <c:pt idx="79">
                  <c:v>2024</c:v>
                </c:pt>
                <c:pt idx="80">
                  <c:v>2024</c:v>
                </c:pt>
                <c:pt idx="81">
                  <c:v>2024</c:v>
                </c:pt>
                <c:pt idx="82">
                  <c:v>2024</c:v>
                </c:pt>
                <c:pt idx="83">
                  <c:v>2024</c:v>
                </c:pt>
                <c:pt idx="84">
                  <c:v>2024</c:v>
                </c:pt>
                <c:pt idx="85">
                  <c:v>2024</c:v>
                </c:pt>
                <c:pt idx="86">
                  <c:v>2024</c:v>
                </c:pt>
                <c:pt idx="87">
                  <c:v>2024</c:v>
                </c:pt>
                <c:pt idx="88">
                  <c:v>2024</c:v>
                </c:pt>
                <c:pt idx="89">
                  <c:v>2024</c:v>
                </c:pt>
                <c:pt idx="90">
                  <c:v>2024</c:v>
                </c:pt>
                <c:pt idx="91">
                  <c:v>2024</c:v>
                </c:pt>
                <c:pt idx="92">
                  <c:v>2024</c:v>
                </c:pt>
                <c:pt idx="93">
                  <c:v>2024</c:v>
                </c:pt>
                <c:pt idx="94">
                  <c:v>2024</c:v>
                </c:pt>
                <c:pt idx="95">
                  <c:v>2024</c:v>
                </c:pt>
                <c:pt idx="96">
                  <c:v>2024</c:v>
                </c:pt>
                <c:pt idx="97">
                  <c:v>2024</c:v>
                </c:pt>
                <c:pt idx="98">
                  <c:v>2024</c:v>
                </c:pt>
                <c:pt idx="99">
                  <c:v>2024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4A5568"/>
                    </a:solidFill>
                    <a:latin typeface="+mn-lt"/>
                  </a:defRPr>
                </a:pPr>
                <a:r>
                  <a:rPr sz="1100" b="0" i="0" u="none" strike="noStrike">
                    <a:solidFill>
                      <a:srgbClr val="4A5568"/>
                    </a:solidFill>
                    <a:latin typeface="+mn-lt"/>
                  </a:rPr>
                  <a:t>Step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tickLblSkip val="10"/>
      </c:catAx>
      <c:valAx>
        <c:axId val="2094734552"/>
        <c:scaling>
          <c:orientation val="minMax"/>
          <c:max val="4000"/>
          <c:min val="0"/>
        </c:scaling>
        <c:delete val="0"/>
        <c:axPos val="l"/>
        <c:majorGridlines>
          <c:spPr>
            <a:ln w="9525" cap="flat">
              <a:solidFill>
                <a:srgbClr val="E2E8F0"/>
              </a:solidFill>
              <a:prstDash val="solid"/>
              <a:round/>
            </a:ln>
          </c:spPr>
        </c:majorGridlines>
        <c:title>
          <c:tx>
            <c:rich>
              <a:bodyPr/>
              <a:lstStyle/>
              <a:p>
                <a:pPr>
                  <a:defRPr sz="1100" b="0" i="0" u="none" strike="noStrike">
                    <a:solidFill>
                      <a:srgbClr val="4A5568"/>
                    </a:solidFill>
                    <a:latin typeface="+mn-lt"/>
                  </a:defRPr>
                </a:pPr>
                <a:r>
                  <a:rPr sz="1100" b="0" i="0" u="none" strike="noStrike">
                    <a:solidFill>
                      <a:srgbClr val="4A5568"/>
                    </a:solidFill>
                    <a:latin typeface="+mn-lt"/>
                  </a:rPr>
                  <a:t>Nodi</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1000"/>
      </c:valAx>
      <c:spPr>
        <a:noFill/>
        <a:ln>
          <a:noFill/>
        </a:ln>
        <a:effectLst/>
      </c:spPr>
    </c:plotArea>
    <c:legend>
      <c:legendPos val="b"/>
      <c:overlay val="0"/>
      <c:txPr>
        <a:bodyPr/>
        <a:lstStyle/>
        <a:p>
          <a:pPr>
            <a:defRPr sz="11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3A"/>
                </a:solidFill>
                <a:latin typeface="+mn-lt"/>
              </a:defRPr>
            </a:pPr>
            <a:r>
              <a:rPr sz="1300" b="0" i="0" u="none" strike="noStrike">
                <a:solidFill>
                  <a:srgbClr val="16243A"/>
                </a:solidFill>
                <a:latin typeface="+mn-lt"/>
              </a:rPr>
              <a:t>Metriche strutturali (viola) e di opinione (arancione)</a:t>
            </a:r>
          </a:p>
        </c:rich>
      </c:tx>
      <c:layout/>
      <c:overlay val="0"/>
    </c:title>
    <c:autoTitleDeleted val="0"/>
    <c:plotArea>
      <c:layout/>
      <c:barChart>
        <c:barDir val="bar"/>
        <c:grouping val="clustered"/>
        <c:varyColors val="0"/>
        <c:ser>
          <c:idx val="0"/>
          <c:order val="0"/>
          <c:tx>
            <c:strRef>
              <c:f>Sheet1!$B$1</c:f>
              <c:strCache>
                <c:ptCount val="1"/>
                <c:pt idx="0">
                  <c:v>Variazione step 0 → 99 (%)</c:v>
                </c:pt>
              </c:strCache>
            </c:strRef>
          </c:tx>
          <c:spPr>
            <a:solidFill>
              <a:srgbClr val="553C9A"/>
            </a:solidFill>
            <a:effectLst/>
          </c:spPr>
          <c:invertIfNegative val="0"/>
          <c:dLbls>
            <c:numFmt formatCode="0.0" sourceLinked="0"/>
            <c:txPr>
              <a:bodyPr/>
              <a:lstStyle/>
              <a:p>
                <a:pPr>
                  <a:defRPr b="0" i="0" strike="noStrike" sz="1200" u="none">
                    <a:solidFill>
                      <a:srgbClr val="1A202C"/>
                    </a:solidFill>
                    <a:latin typeface="+mn-lt"/>
                  </a:defRPr>
                </a:pPr>
              </a:p>
            </c:txPr>
            <c:showLegendKey val="0"/>
            <c:showVal val="1"/>
            <c:showCatName val="0"/>
            <c:showSerName val="0"/>
            <c:showPercent val="0"/>
            <c:showBubbleSize val="0"/>
            <c:showLeaderLines val="0"/>
          </c:dLbls>
          <c:dPt>
            <c:idx val="0"/>
            <c:invertIfNegative val="0"/>
            <c:bubble3D val="0"/>
            <c:spPr>
              <a:solidFill>
                <a:srgbClr val="553C9A"/>
              </a:solidFill>
              <a:effectLst/>
            </c:spPr>
          </c:dPt>
          <c:dPt>
            <c:idx val="1"/>
            <c:invertIfNegative val="0"/>
            <c:bubble3D val="0"/>
            <c:spPr>
              <a:solidFill>
                <a:srgbClr val="553C9A"/>
              </a:solidFill>
              <a:effectLst/>
            </c:spPr>
          </c:dPt>
          <c:dPt>
            <c:idx val="2"/>
            <c:invertIfNegative val="0"/>
            <c:bubble3D val="0"/>
            <c:spPr>
              <a:solidFill>
                <a:srgbClr val="DD6B20"/>
              </a:solidFill>
              <a:effectLst/>
            </c:spPr>
          </c:dPt>
          <c:dPt>
            <c:idx val="3"/>
            <c:invertIfNegative val="0"/>
            <c:bubble3D val="0"/>
            <c:spPr>
              <a:solidFill>
                <a:srgbClr val="DD6B20"/>
              </a:solidFill>
              <a:effectLst/>
            </c:spPr>
          </c:dPt>
          <c:cat>
            <c:multiLvlStrRef>
              <c:f>Sheet1!$A$2:$A$5</c:f>
              <c:multiLvlStrCache>
                <c:ptCount val="4"/>
                <c:lvl>
                  <c:pt idx="0">
                    <c:v>Echo Chamber Index</c:v>
                  </c:pt>
                  <c:pt idx="1">
                    <c:v>Modularità Q</c:v>
                  </c:pt>
                  <c:pt idx="2">
                    <c:v>Opinion homophily</c:v>
                  </c:pt>
                  <c:pt idx="3">
                    <c:v>Belief assortativity</c:v>
                  </c:pt>
                </c:lvl>
              </c:multiLvlStrCache>
            </c:multiLvlStrRef>
          </c:cat>
          <c:val>
            <c:numRef>
              <c:f>Sheet1!$B$2:$B$5</c:f>
              <c:numCache>
                <c:formatCode>General</c:formatCode>
                <c:ptCount val="4"/>
                <c:pt idx="0">
                  <c:v>5</c:v>
                </c:pt>
                <c:pt idx="1">
                  <c:v>6</c:v>
                </c:pt>
                <c:pt idx="2">
                  <c:v>29.4</c:v>
                </c:pt>
                <c:pt idx="3">
                  <c:v>145.5</c:v>
                </c:pt>
              </c:numCache>
            </c:numRef>
          </c:val>
        </c:ser>
        <c:dLbls>
          <c:numFmt formatCode="0.0" sourceLinked="0"/>
          <c:txPr>
            <a:bodyPr/>
            <a:lstStyle/>
            <a:p>
              <a:pPr>
                <a:defRPr b="0" i="0" strike="noStrike" sz="1200" u="none">
                  <a:solidFill>
                    <a:srgbClr val="1A20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60"/>
          <c:min val="0"/>
        </c:scaling>
        <c:delete val="0"/>
        <c:axPos val="b"/>
        <c:majorGridlines>
          <c:spPr>
            <a:ln w="9525" cap="flat">
              <a:solidFill>
                <a:srgbClr val="E2E8F0"/>
              </a:solidFill>
              <a:prstDash val="solid"/>
              <a:round/>
            </a:ln>
          </c:spPr>
        </c:majorGridlines>
        <c:title>
          <c:tx>
            <c:rich>
              <a:bodyPr/>
              <a:lstStyle/>
              <a:p>
                <a:pPr>
                  <a:defRPr sz="1100" b="0" i="0" u="none" strike="noStrike">
                    <a:solidFill>
                      <a:srgbClr val="4A5568"/>
                    </a:solidFill>
                    <a:latin typeface="+mn-lt"/>
                  </a:defRPr>
                </a:pPr>
                <a:r>
                  <a:rPr sz="1100" b="0" i="0" u="none" strike="noStrike">
                    <a:solidFill>
                      <a:srgbClr val="4A5568"/>
                    </a:solidFill>
                    <a:latin typeface="+mn-lt"/>
                  </a:rPr>
                  <a:t>Variazione relativa (%)</a:t>
                </a:r>
              </a:p>
            </c:rich>
          </c:tx>
          <c:layout/>
          <c:overlay val="0"/>
        </c:title>
        <c:numFmt formatCode="General" sourceLinked="0"/>
        <c:majorTickMark val="out"/>
        <c:minorTickMark val="none"/>
        <c:tickLblPos val="low"/>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3A"/>
                </a:solidFill>
                <a:latin typeface="+mn-lt"/>
              </a:defRPr>
            </a:pPr>
            <a:r>
              <a:rPr sz="1300" b="0" i="0" u="none" strike="noStrike">
                <a:solidFill>
                  <a:srgbClr val="16243A"/>
                </a:solidFill>
                <a:latin typeface="+mn-lt"/>
              </a:rPr>
              <a:t>Omofilia osservata e attesa, step 0–129</a:t>
            </a:r>
          </a:p>
        </c:rich>
      </c:tx>
      <c:layout/>
      <c:overlay val="0"/>
    </c:title>
    <c:autoTitleDeleted val="0"/>
    <c:plotArea>
      <c:layout/>
      <c:lineChart>
        <c:varyColors val="0"/>
        <c:ser>
          <c:idx val="0"/>
          <c:order val="0"/>
          <c:tx>
            <c:strRef>
              <c:f>Sheet1!$B$1</c:f>
              <c:strCache>
                <c:ptCount val="1"/>
                <c:pt idx="0">
                  <c:v>Omofilia osservata H</c:v>
                </c:pt>
              </c:strCache>
            </c:strRef>
          </c:tx>
          <c:spPr>
            <a:solidFill>
              <a:srgbClr val="DD6B20"/>
            </a:solidFill>
            <a:ln w="25400" cap="flat">
              <a:solidFill>
                <a:srgbClr val="DD6B2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D6B20"/>
              </a:solidFill>
              <a:ln w="9525" cap="flat">
                <a:solidFill>
                  <a:srgbClr val="DD6B20"/>
                </a:solidFill>
                <a:prstDash val="solid"/>
                <a:round/>
              </a:ln>
              <a:effectLst/>
            </c:spPr>
          </c:marker>
          <c:cat>
            <c:multiLvlStrRef>
              <c:f>Sheet1!$A$2:$A$131</c:f>
              <c:multiLvlStrCache>
                <c:ptCount val="13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lvl>
              </c:multiLvlStrCache>
            </c:multiLvlStrRef>
          </c:cat>
          <c:val>
            <c:numRef>
              <c:f>Sheet1!$B$2:$B$131</c:f>
              <c:numCache>
                <c:formatCode>General</c:formatCode>
                <c:ptCount val="130"/>
                <c:pt idx="0">
                  <c:v>0.629</c:v>
                </c:pt>
                <c:pt idx="1">
                  <c:v>0.6089</c:v>
                </c:pt>
                <c:pt idx="2">
                  <c:v>0.5937</c:v>
                </c:pt>
                <c:pt idx="3">
                  <c:v>0.5886</c:v>
                </c:pt>
                <c:pt idx="4">
                  <c:v>0.5846</c:v>
                </c:pt>
                <c:pt idx="5">
                  <c:v>0.5858</c:v>
                </c:pt>
                <c:pt idx="6">
                  <c:v>0.5877</c:v>
                </c:pt>
                <c:pt idx="7">
                  <c:v>0.5908</c:v>
                </c:pt>
                <c:pt idx="8">
                  <c:v>0.5954</c:v>
                </c:pt>
                <c:pt idx="9">
                  <c:v>0.6041</c:v>
                </c:pt>
                <c:pt idx="10">
                  <c:v>0.6146</c:v>
                </c:pt>
                <c:pt idx="11">
                  <c:v>0.6236</c:v>
                </c:pt>
                <c:pt idx="12">
                  <c:v>0.6337</c:v>
                </c:pt>
                <c:pt idx="13">
                  <c:v>0.6415</c:v>
                </c:pt>
                <c:pt idx="14">
                  <c:v>0.6486</c:v>
                </c:pt>
                <c:pt idx="15">
                  <c:v>0.6548</c:v>
                </c:pt>
                <c:pt idx="16">
                  <c:v>0.6627</c:v>
                </c:pt>
                <c:pt idx="17">
                  <c:v>0.6679</c:v>
                </c:pt>
                <c:pt idx="18">
                  <c:v>0.6763</c:v>
                </c:pt>
                <c:pt idx="19">
                  <c:v>0.682</c:v>
                </c:pt>
                <c:pt idx="20">
                  <c:v>0.688</c:v>
                </c:pt>
                <c:pt idx="21">
                  <c:v>0.691</c:v>
                </c:pt>
                <c:pt idx="22">
                  <c:v>0.6958</c:v>
                </c:pt>
                <c:pt idx="23">
                  <c:v>0.6995</c:v>
                </c:pt>
                <c:pt idx="24">
                  <c:v>0.7046</c:v>
                </c:pt>
                <c:pt idx="25">
                  <c:v>0.7081</c:v>
                </c:pt>
                <c:pt idx="26">
                  <c:v>0.7121</c:v>
                </c:pt>
                <c:pt idx="27">
                  <c:v>0.7138</c:v>
                </c:pt>
                <c:pt idx="28">
                  <c:v>0.7191</c:v>
                </c:pt>
                <c:pt idx="29">
                  <c:v>0.7232</c:v>
                </c:pt>
                <c:pt idx="30">
                  <c:v>0.7249</c:v>
                </c:pt>
                <c:pt idx="31">
                  <c:v>0.727</c:v>
                </c:pt>
                <c:pt idx="32">
                  <c:v>0.73</c:v>
                </c:pt>
                <c:pt idx="33">
                  <c:v>0.7312</c:v>
                </c:pt>
                <c:pt idx="34">
                  <c:v>0.7344</c:v>
                </c:pt>
                <c:pt idx="35">
                  <c:v>0.7361</c:v>
                </c:pt>
                <c:pt idx="36">
                  <c:v>0.7402</c:v>
                </c:pt>
                <c:pt idx="37">
                  <c:v>0.7411</c:v>
                </c:pt>
                <c:pt idx="38">
                  <c:v>0.7425</c:v>
                </c:pt>
                <c:pt idx="39">
                  <c:v>0.7446</c:v>
                </c:pt>
                <c:pt idx="40">
                  <c:v>0.7466</c:v>
                </c:pt>
                <c:pt idx="41">
                  <c:v>0.7472</c:v>
                </c:pt>
                <c:pt idx="42">
                  <c:v>0.7498</c:v>
                </c:pt>
                <c:pt idx="43">
                  <c:v>0.7506</c:v>
                </c:pt>
                <c:pt idx="44">
                  <c:v>0.7512</c:v>
                </c:pt>
                <c:pt idx="45">
                  <c:v>0.7538</c:v>
                </c:pt>
                <c:pt idx="46">
                  <c:v>0.7563</c:v>
                </c:pt>
                <c:pt idx="47">
                  <c:v>0.7566</c:v>
                </c:pt>
                <c:pt idx="48">
                  <c:v>0.7575</c:v>
                </c:pt>
                <c:pt idx="49">
                  <c:v>0.7585</c:v>
                </c:pt>
                <c:pt idx="50">
                  <c:v>0.7621</c:v>
                </c:pt>
                <c:pt idx="51">
                  <c:v>0.7622</c:v>
                </c:pt>
                <c:pt idx="52">
                  <c:v>0.7639</c:v>
                </c:pt>
                <c:pt idx="53">
                  <c:v>0.7658</c:v>
                </c:pt>
                <c:pt idx="54">
                  <c:v>0.7688</c:v>
                </c:pt>
                <c:pt idx="55">
                  <c:v>0.7717</c:v>
                </c:pt>
                <c:pt idx="56">
                  <c:v>0.7725</c:v>
                </c:pt>
                <c:pt idx="57">
                  <c:v>0.7739</c:v>
                </c:pt>
                <c:pt idx="58">
                  <c:v>0.7753</c:v>
                </c:pt>
                <c:pt idx="59">
                  <c:v>0.7768</c:v>
                </c:pt>
                <c:pt idx="60">
                  <c:v>0.7787</c:v>
                </c:pt>
                <c:pt idx="61">
                  <c:v>0.7809</c:v>
                </c:pt>
                <c:pt idx="62">
                  <c:v>0.7831</c:v>
                </c:pt>
                <c:pt idx="63">
                  <c:v>0.7843</c:v>
                </c:pt>
                <c:pt idx="64">
                  <c:v>0.7867</c:v>
                </c:pt>
                <c:pt idx="65">
                  <c:v>0.7878</c:v>
                </c:pt>
                <c:pt idx="66">
                  <c:v>0.7896</c:v>
                </c:pt>
                <c:pt idx="67">
                  <c:v>0.7901</c:v>
                </c:pt>
                <c:pt idx="68">
                  <c:v>0.7917</c:v>
                </c:pt>
                <c:pt idx="69">
                  <c:v>0.7927</c:v>
                </c:pt>
                <c:pt idx="70">
                  <c:v>0.7933</c:v>
                </c:pt>
                <c:pt idx="71">
                  <c:v>0.794</c:v>
                </c:pt>
                <c:pt idx="72">
                  <c:v>0.7956</c:v>
                </c:pt>
                <c:pt idx="73">
                  <c:v>0.7956</c:v>
                </c:pt>
                <c:pt idx="74">
                  <c:v>0.7968</c:v>
                </c:pt>
                <c:pt idx="75">
                  <c:v>0.7968</c:v>
                </c:pt>
                <c:pt idx="76">
                  <c:v>0.7996</c:v>
                </c:pt>
                <c:pt idx="77">
                  <c:v>0.8</c:v>
                </c:pt>
                <c:pt idx="78">
                  <c:v>0.8008</c:v>
                </c:pt>
                <c:pt idx="79">
                  <c:v>0.8008</c:v>
                </c:pt>
                <c:pt idx="80">
                  <c:v>0.802</c:v>
                </c:pt>
                <c:pt idx="81">
                  <c:v>0.8027</c:v>
                </c:pt>
                <c:pt idx="82">
                  <c:v>0.804</c:v>
                </c:pt>
                <c:pt idx="83">
                  <c:v>0.8043</c:v>
                </c:pt>
                <c:pt idx="84">
                  <c:v>0.8046</c:v>
                </c:pt>
                <c:pt idx="85">
                  <c:v>0.8046</c:v>
                </c:pt>
                <c:pt idx="86">
                  <c:v>0.8058</c:v>
                </c:pt>
                <c:pt idx="87">
                  <c:v>0.8058</c:v>
                </c:pt>
                <c:pt idx="88">
                  <c:v>0.8069</c:v>
                </c:pt>
                <c:pt idx="89">
                  <c:v>0.8076</c:v>
                </c:pt>
                <c:pt idx="90">
                  <c:v>0.8093</c:v>
                </c:pt>
                <c:pt idx="91">
                  <c:v>0.8093</c:v>
                </c:pt>
                <c:pt idx="92">
                  <c:v>0.8112</c:v>
                </c:pt>
                <c:pt idx="93">
                  <c:v>0.8112</c:v>
                </c:pt>
                <c:pt idx="94">
                  <c:v>0.8118</c:v>
                </c:pt>
                <c:pt idx="95">
                  <c:v>0.8119</c:v>
                </c:pt>
                <c:pt idx="96">
                  <c:v>0.8123</c:v>
                </c:pt>
                <c:pt idx="97">
                  <c:v>0.8123</c:v>
                </c:pt>
                <c:pt idx="98">
                  <c:v>0.8135</c:v>
                </c:pt>
                <c:pt idx="99">
                  <c:v>0.814</c:v>
                </c:pt>
                <c:pt idx="100">
                  <c:v>0.8074</c:v>
                </c:pt>
                <c:pt idx="101">
                  <c:v>0.8062</c:v>
                </c:pt>
                <c:pt idx="102">
                  <c:v>0.8062</c:v>
                </c:pt>
                <c:pt idx="103">
                  <c:v>0.8068</c:v>
                </c:pt>
                <c:pt idx="104">
                  <c:v>0.8081</c:v>
                </c:pt>
                <c:pt idx="105">
                  <c:v>0.809</c:v>
                </c:pt>
                <c:pt idx="106">
                  <c:v>0.8108</c:v>
                </c:pt>
                <c:pt idx="107">
                  <c:v>0.8112</c:v>
                </c:pt>
                <c:pt idx="108">
                  <c:v>0.8133</c:v>
                </c:pt>
                <c:pt idx="109">
                  <c:v>0.8143</c:v>
                </c:pt>
                <c:pt idx="110">
                  <c:v>0.8157</c:v>
                </c:pt>
                <c:pt idx="111">
                  <c:v>0.8162</c:v>
                </c:pt>
                <c:pt idx="112">
                  <c:v>0.8175</c:v>
                </c:pt>
                <c:pt idx="113">
                  <c:v>0.8182</c:v>
                </c:pt>
                <c:pt idx="114">
                  <c:v>0.8192</c:v>
                </c:pt>
                <c:pt idx="115">
                  <c:v>0.8194</c:v>
                </c:pt>
                <c:pt idx="116">
                  <c:v>0.8212</c:v>
                </c:pt>
                <c:pt idx="117">
                  <c:v>0.822</c:v>
                </c:pt>
                <c:pt idx="118">
                  <c:v>0.8228</c:v>
                </c:pt>
                <c:pt idx="119">
                  <c:v>0.8231</c:v>
                </c:pt>
                <c:pt idx="120">
                  <c:v>0.8243</c:v>
                </c:pt>
                <c:pt idx="121">
                  <c:v>0.8252</c:v>
                </c:pt>
                <c:pt idx="122">
                  <c:v>0.8262</c:v>
                </c:pt>
                <c:pt idx="123">
                  <c:v>0.8265</c:v>
                </c:pt>
                <c:pt idx="124">
                  <c:v>0.8273</c:v>
                </c:pt>
                <c:pt idx="125">
                  <c:v>0.8273</c:v>
                </c:pt>
                <c:pt idx="126">
                  <c:v>0.8282</c:v>
                </c:pt>
                <c:pt idx="127">
                  <c:v>0.8294</c:v>
                </c:pt>
                <c:pt idx="128">
                  <c:v>0.8303</c:v>
                </c:pt>
                <c:pt idx="129">
                  <c:v>0.8305</c:v>
                </c:pt>
              </c:numCache>
            </c:numRef>
          </c:val>
          <c:smooth val="0"/>
        </c:ser>
        <c:ser>
          <c:idx val="1"/>
          <c:order val="1"/>
          <c:tx>
            <c:strRef>
              <c:f>Sheet1!$C$1</c:f>
              <c:strCache>
                <c:ptCount val="1"/>
                <c:pt idx="0">
                  <c:v>Omofilia attesa per caso</c:v>
                </c:pt>
              </c:strCache>
            </c:strRef>
          </c:tx>
          <c:spPr>
            <a:solidFill>
              <a:srgbClr val="718096"/>
            </a:solidFill>
            <a:ln w="25400" cap="flat">
              <a:solidFill>
                <a:srgbClr val="7180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18096"/>
              </a:solidFill>
              <a:ln w="9525" cap="flat">
                <a:solidFill>
                  <a:srgbClr val="718096"/>
                </a:solidFill>
                <a:prstDash val="solid"/>
                <a:round/>
              </a:ln>
              <a:effectLst/>
            </c:spPr>
          </c:marker>
          <c:cat>
            <c:multiLvlStrRef>
              <c:f>Sheet1!$A$2:$A$131</c:f>
              <c:multiLvlStrCache>
                <c:ptCount val="13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lvl>
              </c:multiLvlStrCache>
            </c:multiLvlStrRef>
          </c:cat>
          <c:val>
            <c:numRef>
              <c:f>Sheet1!$C$2:$C$131</c:f>
              <c:numCache>
                <c:formatCode>General</c:formatCode>
                <c:ptCount val="130"/>
                <c:pt idx="0">
                  <c:v>0.6586</c:v>
                </c:pt>
                <c:pt idx="1">
                  <c:v>0.5931</c:v>
                </c:pt>
                <c:pt idx="2">
                  <c:v>0.5382</c:v>
                </c:pt>
                <c:pt idx="3">
                  <c:v>0.4964</c:v>
                </c:pt>
                <c:pt idx="4">
                  <c:v>0.4653</c:v>
                </c:pt>
                <c:pt idx="5">
                  <c:v>0.4391</c:v>
                </c:pt>
                <c:pt idx="6">
                  <c:v>0.413</c:v>
                </c:pt>
                <c:pt idx="7">
                  <c:v>0.3929</c:v>
                </c:pt>
                <c:pt idx="8">
                  <c:v>0.3784</c:v>
                </c:pt>
                <c:pt idx="9">
                  <c:v>0.3658</c:v>
                </c:pt>
                <c:pt idx="10">
                  <c:v>0.3567</c:v>
                </c:pt>
                <c:pt idx="11">
                  <c:v>0.3487</c:v>
                </c:pt>
                <c:pt idx="12">
                  <c:v>0.3441</c:v>
                </c:pt>
                <c:pt idx="13">
                  <c:v>0.3408</c:v>
                </c:pt>
                <c:pt idx="14">
                  <c:v>0.3386</c:v>
                </c:pt>
                <c:pt idx="15">
                  <c:v>0.3368</c:v>
                </c:pt>
                <c:pt idx="16">
                  <c:v>0.3358</c:v>
                </c:pt>
                <c:pt idx="17">
                  <c:v>0.3352</c:v>
                </c:pt>
                <c:pt idx="18">
                  <c:v>0.335</c:v>
                </c:pt>
                <c:pt idx="19">
                  <c:v>0.335</c:v>
                </c:pt>
                <c:pt idx="20">
                  <c:v>0.3355</c:v>
                </c:pt>
                <c:pt idx="21">
                  <c:v>0.3362</c:v>
                </c:pt>
                <c:pt idx="22">
                  <c:v>0.337</c:v>
                </c:pt>
                <c:pt idx="23">
                  <c:v>0.338</c:v>
                </c:pt>
                <c:pt idx="24">
                  <c:v>0.3389</c:v>
                </c:pt>
                <c:pt idx="25">
                  <c:v>0.3398</c:v>
                </c:pt>
                <c:pt idx="26">
                  <c:v>0.3409</c:v>
                </c:pt>
                <c:pt idx="27">
                  <c:v>0.342</c:v>
                </c:pt>
                <c:pt idx="28">
                  <c:v>0.3431</c:v>
                </c:pt>
                <c:pt idx="29">
                  <c:v>0.344</c:v>
                </c:pt>
                <c:pt idx="30">
                  <c:v>0.3447</c:v>
                </c:pt>
                <c:pt idx="31">
                  <c:v>0.3456</c:v>
                </c:pt>
                <c:pt idx="32">
                  <c:v>0.3463</c:v>
                </c:pt>
                <c:pt idx="33">
                  <c:v>0.3472</c:v>
                </c:pt>
                <c:pt idx="34">
                  <c:v>0.3478</c:v>
                </c:pt>
                <c:pt idx="35">
                  <c:v>0.3482</c:v>
                </c:pt>
                <c:pt idx="36">
                  <c:v>0.3489</c:v>
                </c:pt>
                <c:pt idx="37">
                  <c:v>0.3496</c:v>
                </c:pt>
                <c:pt idx="38">
                  <c:v>0.3504</c:v>
                </c:pt>
                <c:pt idx="39">
                  <c:v>0.3508</c:v>
                </c:pt>
                <c:pt idx="40">
                  <c:v>0.3513</c:v>
                </c:pt>
                <c:pt idx="41">
                  <c:v>0.352</c:v>
                </c:pt>
                <c:pt idx="42">
                  <c:v>0.3525</c:v>
                </c:pt>
                <c:pt idx="43">
                  <c:v>0.3527</c:v>
                </c:pt>
                <c:pt idx="44">
                  <c:v>0.3531</c:v>
                </c:pt>
                <c:pt idx="45">
                  <c:v>0.3538</c:v>
                </c:pt>
                <c:pt idx="46">
                  <c:v>0.354</c:v>
                </c:pt>
                <c:pt idx="47">
                  <c:v>0.3543</c:v>
                </c:pt>
                <c:pt idx="48">
                  <c:v>0.3548</c:v>
                </c:pt>
                <c:pt idx="49">
                  <c:v>0.355</c:v>
                </c:pt>
                <c:pt idx="50">
                  <c:v>0.3553</c:v>
                </c:pt>
                <c:pt idx="51">
                  <c:v>0.3556</c:v>
                </c:pt>
                <c:pt idx="52">
                  <c:v>0.3562</c:v>
                </c:pt>
                <c:pt idx="53">
                  <c:v>0.3565</c:v>
                </c:pt>
                <c:pt idx="54">
                  <c:v>0.3572</c:v>
                </c:pt>
                <c:pt idx="55">
                  <c:v>0.3576</c:v>
                </c:pt>
                <c:pt idx="56">
                  <c:v>0.3576</c:v>
                </c:pt>
                <c:pt idx="57">
                  <c:v>0.3579</c:v>
                </c:pt>
                <c:pt idx="58">
                  <c:v>0.3582</c:v>
                </c:pt>
                <c:pt idx="59">
                  <c:v>0.3585</c:v>
                </c:pt>
                <c:pt idx="60">
                  <c:v>0.3587</c:v>
                </c:pt>
                <c:pt idx="61">
                  <c:v>0.3588</c:v>
                </c:pt>
                <c:pt idx="62">
                  <c:v>0.359</c:v>
                </c:pt>
                <c:pt idx="63">
                  <c:v>0.3592</c:v>
                </c:pt>
                <c:pt idx="64">
                  <c:v>0.3596</c:v>
                </c:pt>
                <c:pt idx="65">
                  <c:v>0.3602</c:v>
                </c:pt>
                <c:pt idx="66">
                  <c:v>0.3602</c:v>
                </c:pt>
                <c:pt idx="67">
                  <c:v>0.3603</c:v>
                </c:pt>
                <c:pt idx="68">
                  <c:v>0.3604</c:v>
                </c:pt>
                <c:pt idx="69">
                  <c:v>0.3605</c:v>
                </c:pt>
                <c:pt idx="70">
                  <c:v>0.3605</c:v>
                </c:pt>
                <c:pt idx="71">
                  <c:v>0.3606</c:v>
                </c:pt>
                <c:pt idx="72">
                  <c:v>0.3606</c:v>
                </c:pt>
                <c:pt idx="73">
                  <c:v>0.3607</c:v>
                </c:pt>
                <c:pt idx="74">
                  <c:v>0.3609</c:v>
                </c:pt>
                <c:pt idx="75">
                  <c:v>0.3609</c:v>
                </c:pt>
                <c:pt idx="76">
                  <c:v>0.3609</c:v>
                </c:pt>
                <c:pt idx="77">
                  <c:v>0.3609</c:v>
                </c:pt>
                <c:pt idx="78">
                  <c:v>0.361</c:v>
                </c:pt>
                <c:pt idx="79">
                  <c:v>0.361</c:v>
                </c:pt>
                <c:pt idx="80">
                  <c:v>0.361</c:v>
                </c:pt>
                <c:pt idx="81">
                  <c:v>0.3611</c:v>
                </c:pt>
                <c:pt idx="82">
                  <c:v>0.3612</c:v>
                </c:pt>
                <c:pt idx="83">
                  <c:v>0.3613</c:v>
                </c:pt>
                <c:pt idx="84">
                  <c:v>0.3613</c:v>
                </c:pt>
                <c:pt idx="85">
                  <c:v>0.3613</c:v>
                </c:pt>
                <c:pt idx="86">
                  <c:v>0.3613</c:v>
                </c:pt>
                <c:pt idx="87">
                  <c:v>0.3613</c:v>
                </c:pt>
                <c:pt idx="88">
                  <c:v>0.3614</c:v>
                </c:pt>
                <c:pt idx="89">
                  <c:v>0.3615</c:v>
                </c:pt>
                <c:pt idx="90">
                  <c:v>0.3615</c:v>
                </c:pt>
                <c:pt idx="91">
                  <c:v>0.3615</c:v>
                </c:pt>
                <c:pt idx="92">
                  <c:v>0.3615</c:v>
                </c:pt>
                <c:pt idx="93">
                  <c:v>0.3615</c:v>
                </c:pt>
                <c:pt idx="94">
                  <c:v>0.3617</c:v>
                </c:pt>
                <c:pt idx="95">
                  <c:v>0.3617</c:v>
                </c:pt>
                <c:pt idx="96">
                  <c:v>0.3618</c:v>
                </c:pt>
                <c:pt idx="97">
                  <c:v>0.3618</c:v>
                </c:pt>
                <c:pt idx="98">
                  <c:v>0.3618</c:v>
                </c:pt>
                <c:pt idx="99">
                  <c:v>0.3618</c:v>
                </c:pt>
                <c:pt idx="100">
                  <c:v>0.3654</c:v>
                </c:pt>
                <c:pt idx="101">
                  <c:v>0.3673</c:v>
                </c:pt>
                <c:pt idx="102">
                  <c:v>0.3686</c:v>
                </c:pt>
                <c:pt idx="103">
                  <c:v>0.3706</c:v>
                </c:pt>
                <c:pt idx="104">
                  <c:v>0.3717</c:v>
                </c:pt>
                <c:pt idx="105">
                  <c:v>0.373</c:v>
                </c:pt>
                <c:pt idx="106">
                  <c:v>0.3738</c:v>
                </c:pt>
                <c:pt idx="107">
                  <c:v>0.3742</c:v>
                </c:pt>
                <c:pt idx="108">
                  <c:v>0.3749</c:v>
                </c:pt>
                <c:pt idx="109">
                  <c:v>0.3756</c:v>
                </c:pt>
                <c:pt idx="110">
                  <c:v>0.376</c:v>
                </c:pt>
                <c:pt idx="111">
                  <c:v>0.3763</c:v>
                </c:pt>
                <c:pt idx="112">
                  <c:v>0.3765</c:v>
                </c:pt>
                <c:pt idx="113">
                  <c:v>0.3767</c:v>
                </c:pt>
                <c:pt idx="114">
                  <c:v>0.3771</c:v>
                </c:pt>
                <c:pt idx="115">
                  <c:v>0.3773</c:v>
                </c:pt>
                <c:pt idx="116">
                  <c:v>0.3775</c:v>
                </c:pt>
                <c:pt idx="117">
                  <c:v>0.3778</c:v>
                </c:pt>
                <c:pt idx="118">
                  <c:v>0.3778</c:v>
                </c:pt>
                <c:pt idx="119">
                  <c:v>0.378</c:v>
                </c:pt>
                <c:pt idx="120">
                  <c:v>0.3781</c:v>
                </c:pt>
                <c:pt idx="121">
                  <c:v>0.3783</c:v>
                </c:pt>
                <c:pt idx="122">
                  <c:v>0.3784</c:v>
                </c:pt>
                <c:pt idx="123">
                  <c:v>0.3785</c:v>
                </c:pt>
                <c:pt idx="124">
                  <c:v>0.3786</c:v>
                </c:pt>
                <c:pt idx="125">
                  <c:v>0.3786</c:v>
                </c:pt>
                <c:pt idx="126">
                  <c:v>0.3786</c:v>
                </c:pt>
                <c:pt idx="127">
                  <c:v>0.3789</c:v>
                </c:pt>
                <c:pt idx="128">
                  <c:v>0.379</c:v>
                </c:pt>
                <c:pt idx="129">
                  <c:v>0.3791</c:v>
                </c:pt>
              </c:numCache>
            </c:numRef>
          </c:val>
          <c:smooth val="0"/>
        </c:ser>
        <c:ser>
          <c:idx val="2"/>
          <c:order val="2"/>
          <c:tx>
            <c:strRef>
              <c:f>Sheet1!$D$1</c:f>
              <c:strCache>
                <c:ptCount val="1"/>
                <c:pt idx="0">
                  <c:v>Belief assortativity r</c:v>
                </c:pt>
              </c:strCache>
            </c:strRef>
          </c:tx>
          <c:spPr>
            <a:solidFill>
              <a:srgbClr val="553C9A"/>
            </a:solidFill>
            <a:ln w="25400" cap="flat">
              <a:solidFill>
                <a:srgbClr val="553C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53C9A"/>
              </a:solidFill>
              <a:ln w="9525" cap="flat">
                <a:solidFill>
                  <a:srgbClr val="553C9A"/>
                </a:solidFill>
                <a:prstDash val="solid"/>
                <a:round/>
              </a:ln>
              <a:effectLst/>
            </c:spPr>
          </c:marker>
          <c:cat>
            <c:multiLvlStrRef>
              <c:f>Sheet1!$A$2:$A$131</c:f>
              <c:multiLvlStrCache>
                <c:ptCount val="13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lvl>
              </c:multiLvlStrCache>
            </c:multiLvlStrRef>
          </c:cat>
          <c:val>
            <c:numRef>
              <c:f>Sheet1!$D$2:$D$131</c:f>
              <c:numCache>
                <c:formatCode>General</c:formatCode>
                <c:ptCount val="13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4A5568"/>
                    </a:solidFill>
                    <a:latin typeface="+mn-lt"/>
                  </a:defRPr>
                </a:pPr>
                <a:r>
                  <a:rPr sz="1100" b="0" i="0" u="none" strike="noStrike">
                    <a:solidFill>
                      <a:srgbClr val="4A5568"/>
                    </a:solidFill>
                    <a:latin typeface="+mn-lt"/>
                  </a:rPr>
                  <a:t>Step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tickLblSkip val="10"/>
      </c:catAx>
      <c:valAx>
        <c:axId val="2094734552"/>
        <c:scaling>
          <c:orientation val="minMax"/>
          <c:max val="1"/>
          <c:min val="0"/>
        </c:scaling>
        <c:delete val="0"/>
        <c:axPos val="l"/>
        <c:majorGridlines>
          <c:spPr>
            <a:ln w="9525" cap="flat">
              <a:solidFill>
                <a:srgbClr val="E2E8F0"/>
              </a:solidFill>
              <a:prstDash val="solid"/>
              <a:round/>
            </a:ln>
          </c:spPr>
        </c:majorGridlines>
        <c:title>
          <c:tx>
            <c:rich>
              <a:bodyPr/>
              <a:lstStyle/>
              <a:p>
                <a:pPr>
                  <a:defRPr sz="1100" b="0" i="0" u="none" strike="noStrike">
                    <a:solidFill>
                      <a:srgbClr val="4A5568"/>
                    </a:solidFill>
                    <a:latin typeface="+mn-lt"/>
                  </a:defRPr>
                </a:pPr>
                <a:r>
                  <a:rPr sz="1100" b="0" i="0" u="none" strike="noStrike">
                    <a:solidFill>
                      <a:srgbClr val="4A5568"/>
                    </a:solidFill>
                    <a:latin typeface="+mn-lt"/>
                  </a:rPr>
                  <a:t>Indice</a:t>
                </a:r>
              </a:p>
            </c:rich>
          </c:tx>
          <c:layout/>
          <c:overlay val="0"/>
        </c:title>
        <c:numFmt formatCode="0.0" sourceLinked="0"/>
        <c:majorTickMark val="out"/>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3A"/>
                </a:solidFill>
                <a:latin typeface="+mn-lt"/>
              </a:defRPr>
            </a:pPr>
            <a:r>
              <a:rPr sz="1300" b="0" i="0" u="none" strike="noStrike">
                <a:solidFill>
                  <a:srgbClr val="16243A"/>
                </a:solidFill>
                <a:latin typeface="+mn-lt"/>
              </a:rPr>
              <a:t>Cinetica dell'effetto: 78% nei primi 10 step (modello: 80%)</a:t>
            </a:r>
          </a:p>
        </c:rich>
      </c:tx>
      <c:layout/>
      <c:overlay val="0"/>
    </c:title>
    <c:autoTitleDeleted val="0"/>
    <c:plotArea>
      <c:layout/>
      <c:lineChart>
        <c:varyColors val="0"/>
        <c:ser>
          <c:idx val="0"/>
          <c:order val="0"/>
          <c:tx>
            <c:strRef>
              <c:f>Sheet1!$B$1</c:f>
              <c:strCache>
                <c:ptCount val="1"/>
                <c:pt idx="0">
                  <c:v>Transizioni attribuibili (intervento − controllo), cumulate</c:v>
                </c:pt>
              </c:strCache>
            </c:strRef>
          </c:tx>
          <c:spPr>
            <a:solidFill>
              <a:srgbClr val="2F855A"/>
            </a:solidFill>
            <a:ln w="25400" cap="flat">
              <a:solidFill>
                <a:srgbClr val="2F85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855A"/>
              </a:solidFill>
              <a:ln w="9525" cap="flat">
                <a:solidFill>
                  <a:srgbClr val="2F855A"/>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Sheet1!$B$2:$B$31</c:f>
              <c:numCache>
                <c:formatCode>General</c:formatCode>
                <c:ptCount val="30"/>
                <c:pt idx="0">
                  <c:v>21</c:v>
                </c:pt>
                <c:pt idx="1">
                  <c:v>43</c:v>
                </c:pt>
                <c:pt idx="2">
                  <c:v>57</c:v>
                </c:pt>
                <c:pt idx="3">
                  <c:v>76</c:v>
                </c:pt>
                <c:pt idx="4">
                  <c:v>87</c:v>
                </c:pt>
                <c:pt idx="5">
                  <c:v>100</c:v>
                </c:pt>
                <c:pt idx="6">
                  <c:v>104</c:v>
                </c:pt>
                <c:pt idx="7">
                  <c:v>109</c:v>
                </c:pt>
                <c:pt idx="8">
                  <c:v>116</c:v>
                </c:pt>
                <c:pt idx="9">
                  <c:v>125</c:v>
                </c:pt>
                <c:pt idx="10">
                  <c:v>129</c:v>
                </c:pt>
                <c:pt idx="11">
                  <c:v>133</c:v>
                </c:pt>
                <c:pt idx="12">
                  <c:v>135</c:v>
                </c:pt>
                <c:pt idx="13">
                  <c:v>136</c:v>
                </c:pt>
                <c:pt idx="14">
                  <c:v>141</c:v>
                </c:pt>
                <c:pt idx="15">
                  <c:v>142</c:v>
                </c:pt>
                <c:pt idx="16">
                  <c:v>145</c:v>
                </c:pt>
                <c:pt idx="17">
                  <c:v>147</c:v>
                </c:pt>
                <c:pt idx="18">
                  <c:v>147</c:v>
                </c:pt>
                <c:pt idx="19">
                  <c:v>149</c:v>
                </c:pt>
                <c:pt idx="20">
                  <c:v>150</c:v>
                </c:pt>
                <c:pt idx="21">
                  <c:v>152</c:v>
                </c:pt>
                <c:pt idx="22">
                  <c:v>153</c:v>
                </c:pt>
                <c:pt idx="23">
                  <c:v>155</c:v>
                </c:pt>
                <c:pt idx="24">
                  <c:v>156</c:v>
                </c:pt>
                <c:pt idx="25">
                  <c:v>155</c:v>
                </c:pt>
                <c:pt idx="26">
                  <c:v>154</c:v>
                </c:pt>
                <c:pt idx="27">
                  <c:v>158</c:v>
                </c:pt>
                <c:pt idx="28">
                  <c:v>159</c:v>
                </c:pt>
                <c:pt idx="29">
                  <c:v>160</c:v>
                </c:pt>
              </c:numCache>
            </c:numRef>
          </c:val>
          <c:smooth val="0"/>
        </c:ser>
        <c:ser>
          <c:idx val="1"/>
          <c:order val="1"/>
          <c:tx>
            <c:strRef>
              <c:f>Sheet1!$C$1</c:f>
              <c:strCache>
                <c:ptCount val="1"/>
                <c:pt idx="0">
                  <c:v>Modello di attivazione 160·[1 − 0.85^t]</c:v>
                </c:pt>
              </c:strCache>
            </c:strRef>
          </c:tx>
          <c:spPr>
            <a:solidFill>
              <a:srgbClr val="1A202C"/>
            </a:solidFill>
            <a:ln w="25400" cap="flat">
              <a:solidFill>
                <a:srgbClr val="1A20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A202C"/>
              </a:solidFill>
              <a:ln w="9525" cap="flat">
                <a:solidFill>
                  <a:srgbClr val="1A202C"/>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Sheet1!$C$2:$C$31</c:f>
              <c:numCache>
                <c:formatCode>General</c:formatCode>
                <c:ptCount val="30"/>
                <c:pt idx="0">
                  <c:v>24</c:v>
                </c:pt>
                <c:pt idx="1">
                  <c:v>44.4</c:v>
                </c:pt>
                <c:pt idx="2">
                  <c:v>61.7</c:v>
                </c:pt>
                <c:pt idx="3">
                  <c:v>76.5</c:v>
                </c:pt>
                <c:pt idx="4">
                  <c:v>89</c:v>
                </c:pt>
                <c:pt idx="5">
                  <c:v>99.7</c:v>
                </c:pt>
                <c:pt idx="6">
                  <c:v>108.7</c:v>
                </c:pt>
                <c:pt idx="7">
                  <c:v>116.4</c:v>
                </c:pt>
                <c:pt idx="8">
                  <c:v>122.9</c:v>
                </c:pt>
                <c:pt idx="9">
                  <c:v>128.5</c:v>
                </c:pt>
                <c:pt idx="10">
                  <c:v>133.2</c:v>
                </c:pt>
                <c:pt idx="11">
                  <c:v>137.2</c:v>
                </c:pt>
                <c:pt idx="12">
                  <c:v>140.7</c:v>
                </c:pt>
                <c:pt idx="13">
                  <c:v>143.6</c:v>
                </c:pt>
                <c:pt idx="14">
                  <c:v>146</c:v>
                </c:pt>
                <c:pt idx="15">
                  <c:v>148.1</c:v>
                </c:pt>
                <c:pt idx="16">
                  <c:v>149.9</c:v>
                </c:pt>
                <c:pt idx="17">
                  <c:v>151.4</c:v>
                </c:pt>
                <c:pt idx="18">
                  <c:v>152.7</c:v>
                </c:pt>
                <c:pt idx="19">
                  <c:v>153.8</c:v>
                </c:pt>
                <c:pt idx="20">
                  <c:v>154.7</c:v>
                </c:pt>
                <c:pt idx="21">
                  <c:v>155.5</c:v>
                </c:pt>
                <c:pt idx="22">
                  <c:v>156.2</c:v>
                </c:pt>
                <c:pt idx="23">
                  <c:v>156.8</c:v>
                </c:pt>
                <c:pt idx="24">
                  <c:v>157.2</c:v>
                </c:pt>
                <c:pt idx="25">
                  <c:v>157.7</c:v>
                </c:pt>
                <c:pt idx="26">
                  <c:v>158</c:v>
                </c:pt>
                <c:pt idx="27">
                  <c:v>158.3</c:v>
                </c:pt>
                <c:pt idx="28">
                  <c:v>158.6</c:v>
                </c:pt>
                <c:pt idx="29">
                  <c:v>158.8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4A5568"/>
                    </a:solidFill>
                    <a:latin typeface="+mn-lt"/>
                  </a:defRPr>
                </a:pPr>
                <a:r>
                  <a:rPr sz="1100" b="0" i="0" u="none" strike="noStrike">
                    <a:solidFill>
                      <a:srgbClr val="4A5568"/>
                    </a:solidFill>
                    <a:latin typeface="+mn-lt"/>
                  </a:rPr>
                  <a:t>Step dall'iniezione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tickLblSkip val="5"/>
      </c:catAx>
      <c:valAx>
        <c:axId val="2094734552"/>
        <c:scaling>
          <c:orientation val="minMax"/>
          <c:max val="180"/>
          <c:min val="0"/>
        </c:scaling>
        <c:delete val="0"/>
        <c:axPos val="l"/>
        <c:majorGridlines>
          <c:spPr>
            <a:ln w="9525" cap="flat">
              <a:solidFill>
                <a:srgbClr val="E2E8F0"/>
              </a:solidFill>
              <a:prstDash val="solid"/>
              <a:round/>
            </a:ln>
          </c:spPr>
        </c:majorGridlines>
        <c:title>
          <c:tx>
            <c:rich>
              <a:bodyPr/>
              <a:lstStyle/>
              <a:p>
                <a:pPr>
                  <a:defRPr sz="1100" b="0" i="0" u="none" strike="noStrike">
                    <a:solidFill>
                      <a:srgbClr val="4A5568"/>
                    </a:solidFill>
                    <a:latin typeface="+mn-lt"/>
                  </a:defRPr>
                </a:pPr>
                <a:r>
                  <a:rPr sz="1100" b="0" i="0" u="none" strike="noStrike">
                    <a:solidFill>
                      <a:srgbClr val="4A5568"/>
                    </a:solidFill>
                    <a:latin typeface="+mn-lt"/>
                  </a:rPr>
                  <a:t>Transizioni cumulate</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30"/>
      </c:valAx>
      <c:spPr>
        <a:noFill/>
        <a:ln>
          <a:noFill/>
        </a:ln>
        <a:effectLst/>
      </c:spPr>
    </c:plotArea>
    <c:legend>
      <c:legendPos val="b"/>
      <c:overlay val="0"/>
      <c:txPr>
        <a:bodyPr/>
        <a:lstStyle/>
        <a:p>
          <a:pPr>
            <a:defRPr sz="11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lavoro presenta un framework di simulazione in cui lo stato cognitivo di agenti generativi, la topologia della rete e un intervento di fact-checking evolvono congiuntamente. L'esposizione segue la struttura della relazione: contesto e domande di ricerca, architettura, confronto tra algoritmi, risultati, limiti e conclusioni.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letteratura sull'omofilia distingue selezione e influenza sociale; nei sistemi reali agiscono insieme. I modelli di diffusione assumono grafi statici; i modelli co-evolutivi riducono l'opinione a una variabile elementare. Il contributo del lavoro consiste nell'integrare i due processi e l'intervento in un unico ciclo, sostituendo il parametro scalare di risposta con la valutazione di un agente generativo.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riguarda il livello cognitivo e la forma della diffusione. RQ2 riguarda il livello strutturale e richiede di distinguere segregazione comunitaria e segregazione di opinione. RQ3 riguarda il livello di intervento e richiede un disegno con simulazione di controllo per isolare l'effetto causale.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requisito di accoppiamento bidirezionale esclude la simulazione della diffusione su grafo fisso seguita da un rewiring a posteriori. A ogni step la topologia dello step successivo riflette le opinioni prodotte allo step corrente, e la nuova topologia definisce il vicinato e il feed percepiti dagli agenti. Nello schema il blocco di intervento è indicato come CELF, dal nome del modulo celf.py; nell'esperimento è stato utilizzato l'obiettivo a soglia con greedy esatto, come discusso più avanti.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 motiva il ciclo chiuso e l'uso dell'embedding come canale di accoppiamento. R2 motiva l'infrastruttura di inferenza e l'attivazione parziale. R3 motiva il seed per richiesta, equivalente all'uso di numeri casuali comuni. R4 motiva un checkpoint che contiene anche lo stato dell'ottimizzatore, così che una run spezzata in più sessioni coincida con una run continua. R5 motiva la partizione fissa e la doppia famiglia di metriche.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L'ordine delle operazioni segue la catena causale: agenti, link predictor, rewiring. L'aggiornamento sincrono elimina la dipendenza dall'ordine di elaborazione presente nella versione asincrona e consente l'invio parallelo delle richieste. L'attivazione parziale riduce di circa 6.7 volte le invocazioni dell'LLM e implica un tempo di attesa geometrico prima della valutazione di ciascun nodo, proprietà utilizzata nell'analisi dell'intervento.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sottografo di 5000 nodi conserva il clustering, rilevante per il rewiring basato su chiusura triadica, e una coda pesante dei gradi, ma con troncamento degli hub estremi: i risultati sui nodi centrali vanno riferiti a una rete con coda troncata. La partizione Label Propagation è calcolata una sola volta e fissata: ricalcolarla a ogni step confonderebbe la dinamica con il rumore dell'algoritmo di partizionamento.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pesi pari a 1/deg(v) la frazione di vicini infetti coincide con la somma dei pesi del modello LT. Il modello se ne discosta per soglie non uniformi, modulazione temporale da parte dell'LLM, regola congiuntiva e dinamica non progressiva: appartiene alla famiglia General Threshold, per la quale i risultati di submodularità di Kempe et al. non valgono. Questa conseguenza determina la scelta dell'algoritmo di intervento.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argomenti: le feature sono il canale di accoppiamento, quindi i metodi che le ignorano sono esclusi; il grafo cambia a ogni step e un modello induttivo consente l'aggiornamento incrementale dei parametri; il segnale di opinione risiede nell'embedding del nodo e GraphSAGE mantiene matrici distinte per nodo e vicinato. GAT è escluso per parsimonia. L'aggregazione usa l'intero vicinato, praticabile a questa scala e priva di varianza di campionamento.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rewiring a soglie separate produceva una densificazione monotona che avrebbe confuso l'aumento delle metriche di segregazione con l'aumento della densità. Lo scambio mantiene costante il numero di archi. I candidati a distanza 2 corrispondono alla chiusura triadica. Il limite di velocità mantiene la dinamica topologica più lenta di quella delle opinioni. Il vincolo di sicurezza evita l'isolamento di singoli nodi ma non il distacco di piccoli gruppi.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conta i nodi su cui la pressione dei fact-checker supera le soglie della macchina a stati. Con soglie deterministiche la funzione è a gradino: un nodo che richiede due fact-checker produce un guadagno solo al secondo. La valutazione lazy di CELF presuppone che il guadagno passato sia un limite superiore del guadagno corrente, ipotesi qui falsa. CELF su Independent Cascade avrebbe una garanzia, ma su una funzione che non corrisponde al meccanismo simulato. Il greedy completo è esatto e costa circa un milione di operazioni. Il limite è la natura miope dell'obiettivo.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due simulazioni della Fase 3 partono dallo stesso checkpoint dello step 99 e durano 30 step. L'effetto è la differenza tra le due allo stesso step. Il seed per richiesta realizza l'equivalente dei numeri casuali comuni, riducendo la varianza della differenza. Il limite principale è che ogni configurazione è stata eseguita una sola volta.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forma logistica è attesa per qualunque contagio con popolazione finita; il dato rilevante è la saturazione al 40.5%. Il modello SI prevede la saturazione dell'intera popolazione; qui il compartimento resistente cresce di circa 1800 nodi e l'eterogeneità delle soglie lascia una parte dei suscettibili sotto soglia. La scala temporale 1/r di circa 7.2 step è confrontabile con il tempo medio di attivazione 1/rho di circa 6.7 step: la velocità di diffusione sembra limitata dal calendario di attivazione, ipotesi da verificare variando rho.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rete parte senza omofilia di opinione: allo step 0 gli archi tra stati diversi sono più numerosi di quelli attesi per caso, coerentemente con la scelta dei pazienti zero tra i nodi centrali. Allo step 99 sono il 29% di quelli attesi. ECI e modularità crescono di un ordine di grandezza in meno: una valutazione basata solo sull'ECI sottostimerebbe le echo chamber. Una parte della crescita strutturale può dipendere dalla chiusura triadica in sé; servono esperimenti di ablazione.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indici richiedono cautela. L'omofilia grezza H dipende dalla distribuzione marginale degli stati: il suo calo iniziale è un effetto di composizione, smentito dal confronto con H0 e dall'assortatività, che cresce dal primo step. La belief polarisation è una funzione delle sole numerosità: aumenta ogni volta che nodi neutrali assumono una qualunque posizione, inclusa quella resistente, e non misura la polarizzazione della 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L'effetto principale riguarda i suscettibili: 156 nodi protetti in più rispetto al controllo, circa nove volte le transizioni spontanee. La copertura stimata dalla selezione, 162 nodi, predice l'effetto realizzato con un errore dell'1.2%. La cinetica segue il calendario di attivazione: con probabilità 0.15 per step, dopo 10 step è attesa l'attivazione dell'80% dei nodi coperti; l'osservato è 78%. Sugli infetti l'effetto non è distinguibile: il recupero richiede un quarto di vicini fact-checker. L'intervento opera come immunizzazione mirata. ECI e modularità restano invariati; assortatività e BP aumentano per effetto della conversione di nodi neutrali.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GNN, rewiring e metriche hanno costi di ordini di grandezza inferiori all'inferenza. Il parallelismo tensoriale dimezza il tempo per step; l'attivazione parziale riduce di circa 6.7 volte le invocazioni. Il costo di circa 6 minuti per step ha impedito di replicare le simulazioni con seed diversi, limite discusso nella slide successiva.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protezione dei suscettibili è robusta rispetto alla variabilità osservata nel controllo; gli effetti su infetti e assortatività richiedono repliche. Le ablazioni proposte servono a separare selezione, influenza e contributo della chiusura triadica. La variazione della tempistica dell'intervento verifica se un intervento precoce riduca anche la popolazione infetta.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tre risposte sintetizzano i risultati. Il filo conduttore metodologico è la coerenza tra modello, obiettivo e metriche: il greedy esatto sull'obiettivo a soglia, le metriche corrette rispetto al caso e il disegno con controllo derivano tutti dal principio di misurare e ottimizzare la grandezza che governa effettivamente la simulazione.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_SCURO">
    <p:bg>
      <p:bgPr>
        <a:solidFill>
          <a:srgbClr val="1624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949440" cy="20116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4069080"/>
            <a:ext cx="694944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T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ph idx="101" type="body" hasCustomPrompt="1"/>
          </p:nvPr>
        </p:nvSpPr>
        <p:spPr>
          <a:xfrm>
            <a:off x="548640" y="1024128"/>
            <a:ext cx="11094415" cy="457200"/>
          </a:xfrm>
          <a:prstGeom prst="rect">
            <a:avLst/>
          </a:prstGeom>
          <a:noFill/>
          <a:ln/>
        </p:spPr>
        <p:txBody>
          <a:bodyPr wrap="square" rtlCol="0"/>
          <a:lstStyle>
            <a:lvl1pPr indent="0" marL="0">
              <a:buNone/>
              <a:defRPr lang="en-US" sz="1800" i="1" dirty="0">
                <a:solidFill>
                  <a:schemeClr val="accent3"/>
                </a:solidFill>
              </a:defRPr>
            </a:lvl1pPr>
          </a:lstStyle>
          <a:p>
            <a:pPr indent="0" marL="0">
              <a:buNone/>
            </a:pPr>
            <a:endParaRPr lang="en-US" sz="18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4A5568"/>
                </a:solidFill>
              </a:rPr>
              <a:t>Co-evoluzione tra agenti LLM, topologia e intervento</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IUSURA_SCURA">
    <p:bg>
      <p:bgPr>
        <a:solidFill>
          <a:srgbClr val="1624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949440" cy="2011680"/>
          </a:xfrm>
          <a:prstGeom prst="rect">
            <a:avLst/>
          </a:prstGeom>
          <a:noFill/>
          <a:ln/>
        </p:spPr>
        <p:txBody>
          <a:bodyPr wrap="square" lIns="0" tIns="0" rIns="0" bIns="0" rtlCol="0" anchor="b"/>
          <a:lstStyle/>
          <a:p>
            <a:pPr algn="l" indent="0" marL="0">
              <a:buNone/>
            </a:pPr>
            <a:r>
              <a:rPr lang="it-IT" altLang="en-US" sz="3800" b="1" dirty="0">
                <a:solidFill>
                  <a:schemeClr val="bg1"/>
                </a:solidFill>
              </a:rPr>
              <a:t>Co-evoluzione tra cognizione generativa, topologia e intervento correttivo</a:t>
            </a:r>
            <a:endParaRPr lang="it-IT" sz="3800" dirty="0"/>
          </a:p>
        </p:txBody>
      </p:sp>
      <p:sp>
        <p:nvSpPr>
          <p:cNvPr id="3" name="Text 0"/>
          <p:cNvSpPr/>
          <p:nvPr>
            <p:ph idx="101" type="body" hasCustomPrompt="1"/>
          </p:nvPr>
        </p:nvSpPr>
        <p:spPr>
          <a:xfrm>
            <a:off x="548640" y="4069080"/>
            <a:ext cx="6949440" cy="1463040"/>
          </a:xfrm>
          <a:prstGeom prst="rect">
            <a:avLst/>
          </a:prstGeom>
          <a:noFill/>
          <a:ln/>
        </p:spPr>
        <p:txBody>
          <a:bodyPr wrap="square" lIns="0" tIns="0" rIns="0" bIns="0" rtlCol="0" anchor="t"/>
          <a:lstStyle/>
          <a:p>
            <a:pPr indent="0" marL="0">
              <a:buNone/>
            </a:pPr>
            <a:r>
              <a:rPr lang="it-IT" altLang="en-US" sz="1800" dirty="0">
                <a:solidFill>
                  <a:schemeClr val="bg2"/>
                </a:solidFill>
              </a:rPr>
              <a:t>Giustificazione delle scelte progettuali e analisi dei risultati</a:t>
            </a:r>
            <a:endParaRPr lang="it-IT" sz="1800" dirty="0"/>
          </a:p>
          <a:p>
            <a:pPr indent="0" marL="0">
              <a:buNone/>
            </a:pPr>
            <a:r>
              <a:rPr lang="it-IT" altLang="en-US" sz="800" dirty="0">
                <a:solidFill>
                  <a:schemeClr val="bg2"/>
                </a:solidFill>
              </a:rPr>
              <a:t> </a:t>
            </a:r>
            <a:endParaRPr lang="it-IT" sz="1800" dirty="0"/>
          </a:p>
          <a:p>
            <a:pPr indent="0" marL="0">
              <a:buNone/>
            </a:pPr>
            <a:r>
              <a:rPr lang="it-IT" altLang="en-US" sz="1500" dirty="0">
                <a:solidFill>
                  <a:schemeClr val="bg2"/>
                </a:solidFill>
              </a:rPr>
              <a:t>Stefano Brusco · Analisi di Social Network e Media</a:t>
            </a:r>
            <a:endParaRPr lang="it-IT" sz="1800" dirty="0"/>
          </a:p>
          <a:p>
            <a:pPr indent="0" marL="0">
              <a:buNone/>
            </a:pPr>
            <a:r>
              <a:rPr lang="it-IT" altLang="en-US" sz="1500" dirty="0">
                <a:solidFill>
                  <a:schemeClr val="bg2"/>
                </a:solidFill>
              </a:rPr>
              <a:t>Laurea Magistrale in Ingegneria Informatica · Università della Calabria</a:t>
            </a:r>
            <a:endParaRPr lang="it-IT" sz="1800" dirty="0"/>
          </a:p>
        </p:txBody>
      </p:sp>
      <p:sp>
        <p:nvSpPr>
          <p:cNvPr id="4" name="Shape 2"/>
          <p:cNvSpPr/>
          <p:nvPr/>
        </p:nvSpPr>
        <p:spPr>
          <a:xfrm flipV="1">
            <a:off x="8970264" y="1197864"/>
            <a:ext cx="1463040" cy="274320"/>
          </a:xfrm>
          <a:prstGeom prst="line">
            <a:avLst/>
          </a:prstGeom>
          <a:noFill/>
          <a:ln w="15875">
            <a:solidFill>
              <a:srgbClr val="4A5A73"/>
            </a:solidFill>
            <a:prstDash val="solid"/>
          </a:ln>
        </p:spPr>
      </p:sp>
      <p:sp>
        <p:nvSpPr>
          <p:cNvPr id="5" name="Shape 3"/>
          <p:cNvSpPr/>
          <p:nvPr/>
        </p:nvSpPr>
        <p:spPr>
          <a:xfrm>
            <a:off x="8970264" y="1472184"/>
            <a:ext cx="822960" cy="914400"/>
          </a:xfrm>
          <a:prstGeom prst="line">
            <a:avLst/>
          </a:prstGeom>
          <a:noFill/>
          <a:ln w="15875">
            <a:solidFill>
              <a:srgbClr val="4A5A73"/>
            </a:solidFill>
            <a:prstDash val="solid"/>
          </a:ln>
        </p:spPr>
      </p:sp>
      <p:sp>
        <p:nvSpPr>
          <p:cNvPr id="6" name="Shape 4"/>
          <p:cNvSpPr/>
          <p:nvPr/>
        </p:nvSpPr>
        <p:spPr>
          <a:xfrm>
            <a:off x="10433304" y="1197864"/>
            <a:ext cx="1005840" cy="914400"/>
          </a:xfrm>
          <a:prstGeom prst="line">
            <a:avLst/>
          </a:prstGeom>
          <a:noFill/>
          <a:ln w="15875">
            <a:solidFill>
              <a:srgbClr val="4A5A73"/>
            </a:solidFill>
            <a:prstDash val="solid"/>
          </a:ln>
        </p:spPr>
      </p:sp>
      <p:sp>
        <p:nvSpPr>
          <p:cNvPr id="7" name="Shape 5"/>
          <p:cNvSpPr/>
          <p:nvPr/>
        </p:nvSpPr>
        <p:spPr>
          <a:xfrm flipV="1">
            <a:off x="9793224" y="1197864"/>
            <a:ext cx="640080" cy="1188720"/>
          </a:xfrm>
          <a:prstGeom prst="line">
            <a:avLst/>
          </a:prstGeom>
          <a:noFill/>
          <a:ln w="15875">
            <a:solidFill>
              <a:srgbClr val="4A5A73"/>
            </a:solidFill>
            <a:prstDash val="solid"/>
          </a:ln>
        </p:spPr>
      </p:sp>
      <p:sp>
        <p:nvSpPr>
          <p:cNvPr id="8" name="Shape 6"/>
          <p:cNvSpPr/>
          <p:nvPr/>
        </p:nvSpPr>
        <p:spPr>
          <a:xfrm flipV="1">
            <a:off x="10799064" y="2112264"/>
            <a:ext cx="640080" cy="1005840"/>
          </a:xfrm>
          <a:prstGeom prst="line">
            <a:avLst/>
          </a:prstGeom>
          <a:noFill/>
          <a:ln w="15875">
            <a:solidFill>
              <a:srgbClr val="4A5A73"/>
            </a:solidFill>
            <a:prstDash val="solid"/>
          </a:ln>
        </p:spPr>
      </p:sp>
      <p:sp>
        <p:nvSpPr>
          <p:cNvPr id="9" name="Shape 7"/>
          <p:cNvSpPr/>
          <p:nvPr/>
        </p:nvSpPr>
        <p:spPr>
          <a:xfrm flipV="1">
            <a:off x="8421624" y="2386584"/>
            <a:ext cx="1371600" cy="457200"/>
          </a:xfrm>
          <a:prstGeom prst="line">
            <a:avLst/>
          </a:prstGeom>
          <a:noFill/>
          <a:ln w="15875">
            <a:solidFill>
              <a:srgbClr val="4A5A73"/>
            </a:solidFill>
            <a:prstDash val="solid"/>
          </a:ln>
        </p:spPr>
      </p:sp>
      <p:sp>
        <p:nvSpPr>
          <p:cNvPr id="10" name="Shape 8"/>
          <p:cNvSpPr/>
          <p:nvPr/>
        </p:nvSpPr>
        <p:spPr>
          <a:xfrm>
            <a:off x="9793224" y="2386584"/>
            <a:ext cx="1005840" cy="731520"/>
          </a:xfrm>
          <a:prstGeom prst="line">
            <a:avLst/>
          </a:prstGeom>
          <a:noFill/>
          <a:ln w="15875">
            <a:solidFill>
              <a:srgbClr val="4A5A73"/>
            </a:solidFill>
            <a:prstDash val="solid"/>
          </a:ln>
        </p:spPr>
      </p:sp>
      <p:sp>
        <p:nvSpPr>
          <p:cNvPr id="11" name="Shape 9"/>
          <p:cNvSpPr/>
          <p:nvPr/>
        </p:nvSpPr>
        <p:spPr>
          <a:xfrm flipV="1">
            <a:off x="9518904" y="2386584"/>
            <a:ext cx="274320" cy="1280160"/>
          </a:xfrm>
          <a:prstGeom prst="line">
            <a:avLst/>
          </a:prstGeom>
          <a:noFill/>
          <a:ln w="15875">
            <a:solidFill>
              <a:srgbClr val="4A5A73"/>
            </a:solidFill>
            <a:prstDash val="solid"/>
          </a:ln>
        </p:spPr>
      </p:sp>
      <p:sp>
        <p:nvSpPr>
          <p:cNvPr id="12" name="Shape 10"/>
          <p:cNvSpPr/>
          <p:nvPr/>
        </p:nvSpPr>
        <p:spPr>
          <a:xfrm>
            <a:off x="8421624" y="2843784"/>
            <a:ext cx="1097280" cy="822960"/>
          </a:xfrm>
          <a:prstGeom prst="line">
            <a:avLst/>
          </a:prstGeom>
          <a:noFill/>
          <a:ln w="15875">
            <a:solidFill>
              <a:srgbClr val="4A5A73"/>
            </a:solidFill>
            <a:prstDash val="solid"/>
          </a:ln>
        </p:spPr>
      </p:sp>
      <p:sp>
        <p:nvSpPr>
          <p:cNvPr id="13" name="Shape 11"/>
          <p:cNvSpPr/>
          <p:nvPr/>
        </p:nvSpPr>
        <p:spPr>
          <a:xfrm>
            <a:off x="10799064" y="3118104"/>
            <a:ext cx="457200" cy="1005840"/>
          </a:xfrm>
          <a:prstGeom prst="line">
            <a:avLst/>
          </a:prstGeom>
          <a:noFill/>
          <a:ln w="15875">
            <a:solidFill>
              <a:srgbClr val="4A5A73"/>
            </a:solidFill>
            <a:prstDash val="solid"/>
          </a:ln>
        </p:spPr>
      </p:sp>
      <p:sp>
        <p:nvSpPr>
          <p:cNvPr id="14" name="Shape 12"/>
          <p:cNvSpPr/>
          <p:nvPr/>
        </p:nvSpPr>
        <p:spPr>
          <a:xfrm flipV="1">
            <a:off x="10250424" y="3118104"/>
            <a:ext cx="548640" cy="1554480"/>
          </a:xfrm>
          <a:prstGeom prst="line">
            <a:avLst/>
          </a:prstGeom>
          <a:noFill/>
          <a:ln w="15875">
            <a:solidFill>
              <a:srgbClr val="4A5A73"/>
            </a:solidFill>
            <a:prstDash val="solid"/>
          </a:ln>
        </p:spPr>
      </p:sp>
      <p:sp>
        <p:nvSpPr>
          <p:cNvPr id="15" name="Shape 13"/>
          <p:cNvSpPr/>
          <p:nvPr/>
        </p:nvSpPr>
        <p:spPr>
          <a:xfrm flipV="1">
            <a:off x="8787384" y="3666744"/>
            <a:ext cx="731520" cy="731520"/>
          </a:xfrm>
          <a:prstGeom prst="line">
            <a:avLst/>
          </a:prstGeom>
          <a:noFill/>
          <a:ln w="15875">
            <a:solidFill>
              <a:srgbClr val="4A5A73"/>
            </a:solidFill>
            <a:prstDash val="solid"/>
          </a:ln>
        </p:spPr>
      </p:sp>
      <p:sp>
        <p:nvSpPr>
          <p:cNvPr id="16" name="Shape 14"/>
          <p:cNvSpPr/>
          <p:nvPr/>
        </p:nvSpPr>
        <p:spPr>
          <a:xfrm>
            <a:off x="9518904" y="3666744"/>
            <a:ext cx="731520" cy="1005840"/>
          </a:xfrm>
          <a:prstGeom prst="line">
            <a:avLst/>
          </a:prstGeom>
          <a:noFill/>
          <a:ln w="15875">
            <a:solidFill>
              <a:srgbClr val="4A5A73"/>
            </a:solidFill>
            <a:prstDash val="solid"/>
          </a:ln>
        </p:spPr>
      </p:sp>
      <p:sp>
        <p:nvSpPr>
          <p:cNvPr id="17" name="Shape 15"/>
          <p:cNvSpPr/>
          <p:nvPr/>
        </p:nvSpPr>
        <p:spPr>
          <a:xfrm flipV="1">
            <a:off x="10250424" y="4123944"/>
            <a:ext cx="1005840" cy="548640"/>
          </a:xfrm>
          <a:prstGeom prst="line">
            <a:avLst/>
          </a:prstGeom>
          <a:noFill/>
          <a:ln w="15875">
            <a:solidFill>
              <a:srgbClr val="4A5A73"/>
            </a:solidFill>
            <a:prstDash val="solid"/>
          </a:ln>
        </p:spPr>
      </p:sp>
      <p:sp>
        <p:nvSpPr>
          <p:cNvPr id="18" name="Shape 16"/>
          <p:cNvSpPr/>
          <p:nvPr/>
        </p:nvSpPr>
        <p:spPr>
          <a:xfrm>
            <a:off x="11256264" y="4123944"/>
            <a:ext cx="274320" cy="1188720"/>
          </a:xfrm>
          <a:prstGeom prst="line">
            <a:avLst/>
          </a:prstGeom>
          <a:noFill/>
          <a:ln w="15875">
            <a:solidFill>
              <a:srgbClr val="4A5A73"/>
            </a:solidFill>
            <a:prstDash val="solid"/>
          </a:ln>
        </p:spPr>
      </p:sp>
      <p:sp>
        <p:nvSpPr>
          <p:cNvPr id="19" name="Shape 17"/>
          <p:cNvSpPr/>
          <p:nvPr/>
        </p:nvSpPr>
        <p:spPr>
          <a:xfrm>
            <a:off x="8787384" y="4398264"/>
            <a:ext cx="640080" cy="1005840"/>
          </a:xfrm>
          <a:prstGeom prst="line">
            <a:avLst/>
          </a:prstGeom>
          <a:noFill/>
          <a:ln w="15875">
            <a:solidFill>
              <a:srgbClr val="4A5A73"/>
            </a:solidFill>
            <a:prstDash val="solid"/>
          </a:ln>
        </p:spPr>
      </p:sp>
      <p:sp>
        <p:nvSpPr>
          <p:cNvPr id="20" name="Shape 18"/>
          <p:cNvSpPr/>
          <p:nvPr/>
        </p:nvSpPr>
        <p:spPr>
          <a:xfrm flipV="1">
            <a:off x="8147304" y="4398264"/>
            <a:ext cx="640080" cy="822960"/>
          </a:xfrm>
          <a:prstGeom prst="line">
            <a:avLst/>
          </a:prstGeom>
          <a:noFill/>
          <a:ln w="15875">
            <a:solidFill>
              <a:srgbClr val="4A5A73"/>
            </a:solidFill>
            <a:prstDash val="solid"/>
          </a:ln>
        </p:spPr>
      </p:sp>
      <p:sp>
        <p:nvSpPr>
          <p:cNvPr id="21" name="Shape 19"/>
          <p:cNvSpPr/>
          <p:nvPr/>
        </p:nvSpPr>
        <p:spPr>
          <a:xfrm flipV="1">
            <a:off x="9427464" y="4672584"/>
            <a:ext cx="822960" cy="731520"/>
          </a:xfrm>
          <a:prstGeom prst="line">
            <a:avLst/>
          </a:prstGeom>
          <a:noFill/>
          <a:ln w="15875">
            <a:solidFill>
              <a:srgbClr val="4A5A73"/>
            </a:solidFill>
            <a:prstDash val="solid"/>
          </a:ln>
        </p:spPr>
      </p:sp>
      <p:sp>
        <p:nvSpPr>
          <p:cNvPr id="22" name="Shape 20"/>
          <p:cNvSpPr/>
          <p:nvPr/>
        </p:nvSpPr>
        <p:spPr>
          <a:xfrm>
            <a:off x="10250424" y="4672584"/>
            <a:ext cx="457200" cy="1280160"/>
          </a:xfrm>
          <a:prstGeom prst="line">
            <a:avLst/>
          </a:prstGeom>
          <a:noFill/>
          <a:ln w="15875">
            <a:solidFill>
              <a:srgbClr val="4A5A73"/>
            </a:solidFill>
            <a:prstDash val="solid"/>
          </a:ln>
        </p:spPr>
      </p:sp>
      <p:sp>
        <p:nvSpPr>
          <p:cNvPr id="23" name="Shape 21"/>
          <p:cNvSpPr/>
          <p:nvPr/>
        </p:nvSpPr>
        <p:spPr>
          <a:xfrm flipV="1">
            <a:off x="10707624" y="5312664"/>
            <a:ext cx="822960" cy="640080"/>
          </a:xfrm>
          <a:prstGeom prst="line">
            <a:avLst/>
          </a:prstGeom>
          <a:noFill/>
          <a:ln w="15875">
            <a:solidFill>
              <a:srgbClr val="4A5A73"/>
            </a:solidFill>
            <a:prstDash val="solid"/>
          </a:ln>
        </p:spPr>
      </p:sp>
      <p:sp>
        <p:nvSpPr>
          <p:cNvPr id="24" name="Shape 22"/>
          <p:cNvSpPr/>
          <p:nvPr/>
        </p:nvSpPr>
        <p:spPr>
          <a:xfrm>
            <a:off x="8147304" y="5221224"/>
            <a:ext cx="1280160" cy="182880"/>
          </a:xfrm>
          <a:prstGeom prst="line">
            <a:avLst/>
          </a:prstGeom>
          <a:noFill/>
          <a:ln w="15875">
            <a:solidFill>
              <a:srgbClr val="4A5A73"/>
            </a:solidFill>
            <a:prstDash val="solid"/>
          </a:ln>
        </p:spPr>
      </p:sp>
      <p:sp>
        <p:nvSpPr>
          <p:cNvPr id="25" name="nodo_0"/>
          <p:cNvSpPr/>
          <p:nvPr/>
        </p:nvSpPr>
        <p:spPr>
          <a:xfrm>
            <a:off x="8778240" y="1280160"/>
            <a:ext cx="384048" cy="384048"/>
          </a:xfrm>
          <a:prstGeom prst="ellipse">
            <a:avLst/>
          </a:prstGeom>
          <a:solidFill>
            <a:srgbClr val="2B6CB0"/>
          </a:solidFill>
          <a:ln/>
        </p:spPr>
      </p:sp>
      <p:sp>
        <p:nvSpPr>
          <p:cNvPr id="26" name="nodo_1"/>
          <p:cNvSpPr/>
          <p:nvPr/>
        </p:nvSpPr>
        <p:spPr>
          <a:xfrm>
            <a:off x="10241280" y="1005840"/>
            <a:ext cx="384048" cy="384048"/>
          </a:xfrm>
          <a:prstGeom prst="ellipse">
            <a:avLst/>
          </a:prstGeom>
          <a:solidFill>
            <a:srgbClr val="C53030"/>
          </a:solidFill>
          <a:ln/>
        </p:spPr>
      </p:sp>
      <p:sp>
        <p:nvSpPr>
          <p:cNvPr id="27" name="nodo_2"/>
          <p:cNvSpPr/>
          <p:nvPr/>
        </p:nvSpPr>
        <p:spPr>
          <a:xfrm>
            <a:off x="11247120" y="1920240"/>
            <a:ext cx="384048" cy="384048"/>
          </a:xfrm>
          <a:prstGeom prst="ellipse">
            <a:avLst/>
          </a:prstGeom>
          <a:solidFill>
            <a:srgbClr val="C53030"/>
          </a:solidFill>
          <a:ln/>
        </p:spPr>
      </p:sp>
      <p:sp>
        <p:nvSpPr>
          <p:cNvPr id="28" name="nodo_3"/>
          <p:cNvSpPr/>
          <p:nvPr/>
        </p:nvSpPr>
        <p:spPr>
          <a:xfrm>
            <a:off x="9601200" y="2194560"/>
            <a:ext cx="384048" cy="384048"/>
          </a:xfrm>
          <a:prstGeom prst="ellipse">
            <a:avLst/>
          </a:prstGeom>
          <a:solidFill>
            <a:srgbClr val="2B6CB0"/>
          </a:solidFill>
          <a:ln/>
        </p:spPr>
      </p:sp>
      <p:sp>
        <p:nvSpPr>
          <p:cNvPr id="29" name="nodo_4"/>
          <p:cNvSpPr/>
          <p:nvPr/>
        </p:nvSpPr>
        <p:spPr>
          <a:xfrm>
            <a:off x="8229600" y="2651760"/>
            <a:ext cx="384048" cy="384048"/>
          </a:xfrm>
          <a:prstGeom prst="ellipse">
            <a:avLst/>
          </a:prstGeom>
          <a:solidFill>
            <a:srgbClr val="2F855A"/>
          </a:solidFill>
          <a:ln/>
        </p:spPr>
      </p:sp>
      <p:sp>
        <p:nvSpPr>
          <p:cNvPr id="30" name="nodo_5"/>
          <p:cNvSpPr/>
          <p:nvPr/>
        </p:nvSpPr>
        <p:spPr>
          <a:xfrm>
            <a:off x="10607040" y="2926080"/>
            <a:ext cx="384048" cy="384048"/>
          </a:xfrm>
          <a:prstGeom prst="ellipse">
            <a:avLst/>
          </a:prstGeom>
          <a:solidFill>
            <a:srgbClr val="C53030"/>
          </a:solidFill>
          <a:ln/>
        </p:spPr>
      </p:sp>
      <p:sp>
        <p:nvSpPr>
          <p:cNvPr id="31" name="nodo_6"/>
          <p:cNvSpPr/>
          <p:nvPr/>
        </p:nvSpPr>
        <p:spPr>
          <a:xfrm>
            <a:off x="9326880" y="3474720"/>
            <a:ext cx="384048" cy="384048"/>
          </a:xfrm>
          <a:prstGeom prst="ellipse">
            <a:avLst/>
          </a:prstGeom>
          <a:solidFill>
            <a:srgbClr val="B7791F"/>
          </a:solidFill>
          <a:ln/>
        </p:spPr>
      </p:sp>
      <p:sp>
        <p:nvSpPr>
          <p:cNvPr id="32" name="nodo_7"/>
          <p:cNvSpPr/>
          <p:nvPr/>
        </p:nvSpPr>
        <p:spPr>
          <a:xfrm>
            <a:off x="11064240" y="3931920"/>
            <a:ext cx="384048" cy="384048"/>
          </a:xfrm>
          <a:prstGeom prst="ellipse">
            <a:avLst/>
          </a:prstGeom>
          <a:solidFill>
            <a:srgbClr val="2F855A"/>
          </a:solidFill>
          <a:ln/>
        </p:spPr>
      </p:sp>
      <p:sp>
        <p:nvSpPr>
          <p:cNvPr id="33" name="nodo_8"/>
          <p:cNvSpPr/>
          <p:nvPr/>
        </p:nvSpPr>
        <p:spPr>
          <a:xfrm>
            <a:off x="8595360" y="4206240"/>
            <a:ext cx="384048" cy="384048"/>
          </a:xfrm>
          <a:prstGeom prst="ellipse">
            <a:avLst/>
          </a:prstGeom>
          <a:solidFill>
            <a:srgbClr val="2B6CB0"/>
          </a:solidFill>
          <a:ln/>
        </p:spPr>
      </p:sp>
      <p:sp>
        <p:nvSpPr>
          <p:cNvPr id="34" name="nodo_9"/>
          <p:cNvSpPr/>
          <p:nvPr/>
        </p:nvSpPr>
        <p:spPr>
          <a:xfrm>
            <a:off x="10058400" y="4480560"/>
            <a:ext cx="384048" cy="384048"/>
          </a:xfrm>
          <a:prstGeom prst="ellipse">
            <a:avLst/>
          </a:prstGeom>
          <a:solidFill>
            <a:srgbClr val="2F855A"/>
          </a:solidFill>
          <a:ln/>
        </p:spPr>
      </p:sp>
      <p:sp>
        <p:nvSpPr>
          <p:cNvPr id="35" name="nodo_10"/>
          <p:cNvSpPr/>
          <p:nvPr/>
        </p:nvSpPr>
        <p:spPr>
          <a:xfrm>
            <a:off x="11338560" y="5120640"/>
            <a:ext cx="384048" cy="384048"/>
          </a:xfrm>
          <a:prstGeom prst="ellipse">
            <a:avLst/>
          </a:prstGeom>
          <a:solidFill>
            <a:srgbClr val="2B6CB0"/>
          </a:solidFill>
          <a:ln/>
        </p:spPr>
      </p:sp>
      <p:sp>
        <p:nvSpPr>
          <p:cNvPr id="36" name="nodo_11"/>
          <p:cNvSpPr/>
          <p:nvPr/>
        </p:nvSpPr>
        <p:spPr>
          <a:xfrm>
            <a:off x="9235440" y="5212080"/>
            <a:ext cx="384048" cy="384048"/>
          </a:xfrm>
          <a:prstGeom prst="ellipse">
            <a:avLst/>
          </a:prstGeom>
          <a:solidFill>
            <a:srgbClr val="C53030"/>
          </a:solidFill>
          <a:ln/>
        </p:spPr>
      </p:sp>
      <p:sp>
        <p:nvSpPr>
          <p:cNvPr id="37" name="nodo_12"/>
          <p:cNvSpPr/>
          <p:nvPr/>
        </p:nvSpPr>
        <p:spPr>
          <a:xfrm>
            <a:off x="7955280" y="5029200"/>
            <a:ext cx="384048" cy="384048"/>
          </a:xfrm>
          <a:prstGeom prst="ellipse">
            <a:avLst/>
          </a:prstGeom>
          <a:solidFill>
            <a:srgbClr val="2F855A"/>
          </a:solidFill>
          <a:ln/>
        </p:spPr>
      </p:sp>
      <p:sp>
        <p:nvSpPr>
          <p:cNvPr id="38" name="nodo_13"/>
          <p:cNvSpPr/>
          <p:nvPr/>
        </p:nvSpPr>
        <p:spPr>
          <a:xfrm>
            <a:off x="10515600" y="5760720"/>
            <a:ext cx="384048" cy="384048"/>
          </a:xfrm>
          <a:prstGeom prst="ellipse">
            <a:avLst/>
          </a:prstGeom>
          <a:solidFill>
            <a:srgbClr val="2B6CB0"/>
          </a:solidFill>
          <a:ln/>
        </p:spPr>
      </p:sp>
      <p:sp>
        <p:nvSpPr>
          <p:cNvPr id="39" name="legenda_S"/>
          <p:cNvSpPr/>
          <p:nvPr/>
        </p:nvSpPr>
        <p:spPr>
          <a:xfrm>
            <a:off x="8001000" y="6172200"/>
            <a:ext cx="164592" cy="164592"/>
          </a:xfrm>
          <a:prstGeom prst="ellipse">
            <a:avLst/>
          </a:prstGeom>
          <a:solidFill>
            <a:srgbClr val="2B6CB0"/>
          </a:solidFill>
          <a:ln/>
        </p:spPr>
      </p:sp>
      <p:sp>
        <p:nvSpPr>
          <p:cNvPr id="40" name="Text 38"/>
          <p:cNvSpPr txBox="1"/>
          <p:nvPr/>
        </p:nvSpPr>
        <p:spPr>
          <a:xfrm>
            <a:off x="8211312" y="6108192"/>
            <a:ext cx="868680" cy="292608"/>
          </a:xfrm>
          <a:prstGeom prst="rect">
            <a:avLst/>
          </a:prstGeom>
          <a:noFill/>
          <a:ln/>
        </p:spPr>
        <p:txBody>
          <a:bodyPr wrap="square" lIns="0" tIns="0" rIns="0" bIns="0" rtlCol="0" anchor="ctr"/>
          <a:lstStyle/>
          <a:p>
            <a:pPr indent="0" marL="0">
              <a:buNone/>
            </a:pPr>
            <a:r>
              <a:rPr lang="en-US" sz="1000" dirty="0">
                <a:solidFill>
                  <a:srgbClr val="CBD5E0"/>
                </a:solidFill>
              </a:rPr>
              <a:t>Suscettibile</a:t>
            </a:r>
            <a:endParaRPr lang="en-US" sz="1000" dirty="0"/>
          </a:p>
        </p:txBody>
      </p:sp>
      <p:sp>
        <p:nvSpPr>
          <p:cNvPr id="41" name="legenda_I"/>
          <p:cNvSpPr/>
          <p:nvPr/>
        </p:nvSpPr>
        <p:spPr>
          <a:xfrm>
            <a:off x="9025128" y="6172200"/>
            <a:ext cx="164592" cy="164592"/>
          </a:xfrm>
          <a:prstGeom prst="ellipse">
            <a:avLst/>
          </a:prstGeom>
          <a:solidFill>
            <a:srgbClr val="C53030"/>
          </a:solidFill>
          <a:ln/>
        </p:spPr>
      </p:sp>
      <p:sp>
        <p:nvSpPr>
          <p:cNvPr id="42" name="Text 40"/>
          <p:cNvSpPr txBox="1"/>
          <p:nvPr/>
        </p:nvSpPr>
        <p:spPr>
          <a:xfrm>
            <a:off x="9235440" y="6108192"/>
            <a:ext cx="868680" cy="292608"/>
          </a:xfrm>
          <a:prstGeom prst="rect">
            <a:avLst/>
          </a:prstGeom>
          <a:noFill/>
          <a:ln/>
        </p:spPr>
        <p:txBody>
          <a:bodyPr wrap="square" lIns="0" tIns="0" rIns="0" bIns="0" rtlCol="0" anchor="ctr"/>
          <a:lstStyle/>
          <a:p>
            <a:pPr indent="0" marL="0">
              <a:buNone/>
            </a:pPr>
            <a:r>
              <a:rPr lang="en-US" sz="1000" dirty="0">
                <a:solidFill>
                  <a:srgbClr val="CBD5E0"/>
                </a:solidFill>
              </a:rPr>
              <a:t>Infetto</a:t>
            </a:r>
            <a:endParaRPr lang="en-US" sz="1000" dirty="0"/>
          </a:p>
        </p:txBody>
      </p:sp>
      <p:sp>
        <p:nvSpPr>
          <p:cNvPr id="43" name="legenda_R"/>
          <p:cNvSpPr/>
          <p:nvPr/>
        </p:nvSpPr>
        <p:spPr>
          <a:xfrm>
            <a:off x="10049256" y="6172200"/>
            <a:ext cx="164592" cy="164592"/>
          </a:xfrm>
          <a:prstGeom prst="ellipse">
            <a:avLst/>
          </a:prstGeom>
          <a:solidFill>
            <a:srgbClr val="2F855A"/>
          </a:solidFill>
          <a:ln/>
        </p:spPr>
      </p:sp>
      <p:sp>
        <p:nvSpPr>
          <p:cNvPr id="44" name="Text 42"/>
          <p:cNvSpPr txBox="1"/>
          <p:nvPr/>
        </p:nvSpPr>
        <p:spPr>
          <a:xfrm>
            <a:off x="10259568" y="6108192"/>
            <a:ext cx="868680" cy="292608"/>
          </a:xfrm>
          <a:prstGeom prst="rect">
            <a:avLst/>
          </a:prstGeom>
          <a:noFill/>
          <a:ln/>
        </p:spPr>
        <p:txBody>
          <a:bodyPr wrap="square" lIns="0" tIns="0" rIns="0" bIns="0" rtlCol="0" anchor="ctr"/>
          <a:lstStyle/>
          <a:p>
            <a:pPr indent="0" marL="0">
              <a:buNone/>
            </a:pPr>
            <a:r>
              <a:rPr lang="en-US" sz="1000" dirty="0">
                <a:solidFill>
                  <a:srgbClr val="CBD5E0"/>
                </a:solidFill>
              </a:rPr>
              <a:t>Resistente</a:t>
            </a:r>
            <a:endParaRPr lang="en-US" sz="1000" dirty="0"/>
          </a:p>
        </p:txBody>
      </p:sp>
      <p:sp>
        <p:nvSpPr>
          <p:cNvPr id="45" name="legenda_F"/>
          <p:cNvSpPr/>
          <p:nvPr/>
        </p:nvSpPr>
        <p:spPr>
          <a:xfrm>
            <a:off x="11073384" y="6172200"/>
            <a:ext cx="164592" cy="164592"/>
          </a:xfrm>
          <a:prstGeom prst="ellipse">
            <a:avLst/>
          </a:prstGeom>
          <a:solidFill>
            <a:srgbClr val="B7791F"/>
          </a:solidFill>
          <a:ln/>
        </p:spPr>
      </p:sp>
      <p:sp>
        <p:nvSpPr>
          <p:cNvPr id="46" name="Text 44"/>
          <p:cNvSpPr txBox="1"/>
          <p:nvPr/>
        </p:nvSpPr>
        <p:spPr>
          <a:xfrm>
            <a:off x="11283696" y="6108192"/>
            <a:ext cx="868680" cy="292608"/>
          </a:xfrm>
          <a:prstGeom prst="rect">
            <a:avLst/>
          </a:prstGeom>
          <a:noFill/>
          <a:ln/>
        </p:spPr>
        <p:txBody>
          <a:bodyPr wrap="square" lIns="0" tIns="0" rIns="0" bIns="0" rtlCol="0" anchor="ctr"/>
          <a:lstStyle/>
          <a:p>
            <a:pPr indent="0" marL="0">
              <a:buNone/>
            </a:pPr>
            <a:r>
              <a:rPr lang="en-US" sz="1000" dirty="0">
                <a:solidFill>
                  <a:srgbClr val="CBD5E0"/>
                </a:solidFill>
              </a:rPr>
              <a:t>Fact-checker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Il problema: rete e opinioni co-evolvono</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Selezione e influenza sociale agiscono simultaneamente; i modelli classici le trattano separatamente</a:t>
            </a:r>
            <a:endParaRPr lang="it-IT" sz="1800" dirty="0"/>
          </a:p>
        </p:txBody>
      </p:sp>
      <p:sp>
        <p:nvSpPr>
          <p:cNvPr id="4" name="card_classici"/>
          <p:cNvSpPr/>
          <p:nvPr/>
        </p:nvSpPr>
        <p:spPr>
          <a:xfrm>
            <a:off x="548640" y="1783080"/>
            <a:ext cx="5349240" cy="3657600"/>
          </a:xfrm>
          <a:prstGeom prst="roundRect">
            <a:avLst>
              <a:gd name="adj" fmla="val 2000"/>
            </a:avLst>
          </a:prstGeom>
          <a:solidFill>
            <a:schemeClr val="bg2"/>
          </a:solidFill>
          <a:ln/>
        </p:spPr>
      </p:sp>
      <p:sp>
        <p:nvSpPr>
          <p:cNvPr id="5" name="card_lavoro"/>
          <p:cNvSpPr/>
          <p:nvPr/>
        </p:nvSpPr>
        <p:spPr>
          <a:xfrm>
            <a:off x="6291072" y="1783080"/>
            <a:ext cx="5349240" cy="3657600"/>
          </a:xfrm>
          <a:prstGeom prst="roundRect">
            <a:avLst>
              <a:gd name="adj" fmla="val 2000"/>
            </a:avLst>
          </a:prstGeom>
          <a:solidFill>
            <a:schemeClr val="bg2"/>
          </a:solidFill>
          <a:ln/>
        </p:spPr>
      </p:sp>
      <p:sp>
        <p:nvSpPr>
          <p:cNvPr id="6" name="Text 4"/>
          <p:cNvSpPr txBox="1"/>
          <p:nvPr/>
        </p:nvSpPr>
        <p:spPr>
          <a:xfrm>
            <a:off x="822960" y="1965960"/>
            <a:ext cx="4800600" cy="411480"/>
          </a:xfrm>
          <a:prstGeom prst="rect">
            <a:avLst/>
          </a:prstGeom>
          <a:noFill/>
          <a:ln/>
        </p:spPr>
        <p:txBody>
          <a:bodyPr wrap="square" lIns="0" tIns="0" rIns="0" bIns="0" rtlCol="0" anchor="t"/>
          <a:lstStyle/>
          <a:p>
            <a:pPr indent="0" marL="0">
              <a:buNone/>
            </a:pPr>
            <a:r>
              <a:rPr lang="it-IT" altLang="en-US" sz="2000" b="1" dirty="0">
                <a:solidFill>
                  <a:schemeClr val="tx2"/>
                </a:solidFill>
                <a:latin typeface="Cambria" pitchFamily="34" charset="0"/>
                <a:ea typeface="Cambria" pitchFamily="34" charset="-122"/>
                <a:cs typeface="Cambria" pitchFamily="34" charset="-120"/>
              </a:rPr>
              <a:t>Modelli classici</a:t>
            </a:r>
            <a:endParaRPr lang="it-IT" sz="2000" dirty="0"/>
          </a:p>
        </p:txBody>
      </p:sp>
      <p:sp>
        <p:nvSpPr>
          <p:cNvPr id="7" name="Text 5"/>
          <p:cNvSpPr txBox="1"/>
          <p:nvPr/>
        </p:nvSpPr>
        <p:spPr>
          <a:xfrm>
            <a:off x="822960" y="2514600"/>
            <a:ext cx="4800600" cy="2788920"/>
          </a:xfrm>
          <a:prstGeom prst="rect">
            <a:avLst/>
          </a:prstGeom>
          <a:noFill/>
          <a:ln/>
        </p:spPr>
        <p:txBody>
          <a:bodyPr wrap="square" lIns="0" tIns="0" rIns="0" bIns="0" rtlCol="0" anchor="t"/>
          <a:lstStyle/>
          <a:p>
            <a:pPr marL="203200" indent="-203200">
              <a:spcAft>
                <a:spcPts val="600"/>
              </a:spcAft>
              <a:buSzPct val="100000"/>
              <a:buChar char="•"/>
            </a:pPr>
            <a:r>
              <a:rPr lang="it-IT" altLang="en-US" sz="1700" dirty="0">
                <a:solidFill>
                  <a:schemeClr val="tx1"/>
                </a:solidFill>
              </a:rPr>
              <a:t>Diffusione (IC, LT) su grafo statico</a:t>
            </a:r>
            <a:endParaRPr lang="it-IT" sz="1500" dirty="0"/>
          </a:p>
          <a:p>
            <a:pPr marL="203200" indent="-203200">
              <a:spcAft>
                <a:spcPts val="600"/>
              </a:spcAft>
              <a:buSzPct val="100000"/>
              <a:buChar char="•"/>
            </a:pPr>
            <a:r>
              <a:rPr lang="it-IT" altLang="en-US" sz="1700" dirty="0">
                <a:solidFill>
                  <a:schemeClr val="tx1"/>
                </a:solidFill>
              </a:rPr>
              <a:t>Co-evoluzione (Holme–Newman) con opinioni categoriali aggiornate da regole elementari</a:t>
            </a:r>
            <a:endParaRPr lang="it-IT" sz="1500" dirty="0"/>
          </a:p>
          <a:p>
            <a:pPr marL="203200" indent="-203200">
              <a:spcAft>
                <a:spcPts val="600"/>
              </a:spcAft>
              <a:buSzPct val="100000"/>
              <a:buChar char="•"/>
            </a:pPr>
            <a:r>
              <a:rPr lang="it-IT" altLang="en-US" sz="1700" dirty="0">
                <a:solidFill>
                  <a:schemeClr val="tx1"/>
                </a:solidFill>
              </a:rPr>
              <a:t>Risposta individuale ridotta a un parametro scalare: probabilità o soglia</a:t>
            </a:r>
            <a:endParaRPr lang="it-IT" sz="1500" dirty="0"/>
          </a:p>
          <a:p>
            <a:pPr marL="203200" indent="-203200">
              <a:spcAft>
                <a:spcPts val="600"/>
              </a:spcAft>
              <a:buSzPct val="100000"/>
              <a:buChar char="•"/>
            </a:pPr>
            <a:r>
              <a:rPr lang="it-IT" altLang="en-US" sz="1700" dirty="0">
                <a:solidFill>
                  <a:schemeClr val="tx1"/>
                </a:solidFill>
              </a:rPr>
              <a:t>Rewiring, diffusione e intervento eseguiti come fasi indipendenti</a:t>
            </a:r>
            <a:endParaRPr lang="it-IT" sz="1500" dirty="0"/>
          </a:p>
        </p:txBody>
      </p:sp>
      <p:sp>
        <p:nvSpPr>
          <p:cNvPr id="8" name="Text 6"/>
          <p:cNvSpPr txBox="1"/>
          <p:nvPr/>
        </p:nvSpPr>
        <p:spPr>
          <a:xfrm>
            <a:off x="6565392" y="1965960"/>
            <a:ext cx="4800600" cy="411480"/>
          </a:xfrm>
          <a:prstGeom prst="rect">
            <a:avLst/>
          </a:prstGeom>
          <a:noFill/>
          <a:ln/>
        </p:spPr>
        <p:txBody>
          <a:bodyPr wrap="square" lIns="0" tIns="0" rIns="0" bIns="0" rtlCol="0" anchor="t"/>
          <a:lstStyle/>
          <a:p>
            <a:pPr indent="0" marL="0">
              <a:buNone/>
            </a:pPr>
            <a:r>
              <a:rPr lang="it-IT" altLang="en-US" sz="2000" b="1" dirty="0">
                <a:solidFill>
                  <a:schemeClr val="tx2"/>
                </a:solidFill>
                <a:latin typeface="Cambria" pitchFamily="34" charset="0"/>
                <a:ea typeface="Cambria" pitchFamily="34" charset="-122"/>
                <a:cs typeface="Cambria" pitchFamily="34" charset="-120"/>
              </a:rPr>
              <a:t>Questo lavoro</a:t>
            </a:r>
            <a:endParaRPr lang="it-IT" sz="2000" dirty="0"/>
          </a:p>
        </p:txBody>
      </p:sp>
      <p:sp>
        <p:nvSpPr>
          <p:cNvPr id="9" name="Text 7"/>
          <p:cNvSpPr txBox="1"/>
          <p:nvPr/>
        </p:nvSpPr>
        <p:spPr>
          <a:xfrm>
            <a:off x="6565392" y="2514600"/>
            <a:ext cx="4800600" cy="2788920"/>
          </a:xfrm>
          <a:prstGeom prst="rect">
            <a:avLst/>
          </a:prstGeom>
          <a:noFill/>
          <a:ln/>
        </p:spPr>
        <p:txBody>
          <a:bodyPr wrap="square" lIns="0" tIns="0" rIns="0" bIns="0" rtlCol="0" anchor="t"/>
          <a:lstStyle/>
          <a:p>
            <a:pPr marL="203200" indent="-203200">
              <a:spcAft>
                <a:spcPts val="600"/>
              </a:spcAft>
              <a:buSzPct val="100000"/>
              <a:buChar char="•"/>
            </a:pPr>
            <a:r>
              <a:rPr lang="it-IT" altLang="en-US" sz="1700" dirty="0">
                <a:solidFill>
                  <a:schemeClr val="tx1"/>
                </a:solidFill>
              </a:rPr>
              <a:t>Agenti LLM valutano il contenuto letto nel feed dei vicini</a:t>
            </a:r>
            <a:endParaRPr lang="it-IT" sz="1500" dirty="0"/>
          </a:p>
          <a:p>
            <a:pPr marL="203200" indent="-203200">
              <a:spcAft>
                <a:spcPts val="600"/>
              </a:spcAft>
              <a:buSzPct val="100000"/>
              <a:buChar char="•"/>
            </a:pPr>
            <a:r>
              <a:rPr lang="it-IT" altLang="en-US" sz="1700" dirty="0">
                <a:solidFill>
                  <a:schemeClr val="tx1"/>
                </a:solidFill>
              </a:rPr>
              <a:t>La soglia di contagio è modulata dalla suscettibilità dichiarata dall'agente</a:t>
            </a:r>
            <a:endParaRPr lang="it-IT" sz="1500" dirty="0"/>
          </a:p>
          <a:p>
            <a:pPr marL="203200" indent="-203200">
              <a:spcAft>
                <a:spcPts val="600"/>
              </a:spcAft>
              <a:buSzPct val="100000"/>
              <a:buChar char="•"/>
            </a:pPr>
            <a:r>
              <a:rPr lang="it-IT" altLang="en-US" sz="1700" dirty="0">
                <a:solidFill>
                  <a:schemeClr val="tx1"/>
                </a:solidFill>
              </a:rPr>
              <a:t>Le transizioni perturbano gli embedding; un link predictor GNN guida il rewiring</a:t>
            </a:r>
            <a:endParaRPr lang="it-IT" sz="1500" dirty="0"/>
          </a:p>
          <a:p>
            <a:pPr marL="203200" indent="-203200">
              <a:spcAft>
                <a:spcPts val="600"/>
              </a:spcAft>
              <a:buSzPct val="100000"/>
              <a:buChar char="•"/>
            </a:pPr>
            <a:r>
              <a:rPr lang="it-IT" altLang="en-US" sz="1700" dirty="0">
                <a:solidFill>
                  <a:schemeClr val="tx1"/>
                </a:solidFill>
              </a:rPr>
              <a:t>L'intervento seleziona i fact-checker sullo stato corrente della rete, in ciclo chiuso</a:t>
            </a:r>
            <a:endParaRPr lang="it-IT" sz="1500" dirty="0"/>
          </a:p>
        </p:txBody>
      </p:sp>
      <p:sp>
        <p:nvSpPr>
          <p:cNvPr id="10" name="Text 8"/>
          <p:cNvSpPr txBox="1"/>
          <p:nvPr/>
        </p:nvSpPr>
        <p:spPr>
          <a:xfrm>
            <a:off x="548640" y="5669280"/>
            <a:ext cx="11094415" cy="457200"/>
          </a:xfrm>
          <a:prstGeom prst="rect">
            <a:avLst/>
          </a:prstGeom>
          <a:noFill/>
          <a:ln/>
        </p:spPr>
        <p:txBody>
          <a:bodyPr wrap="square" lIns="0" tIns="0" rIns="0" bIns="0" rtlCol="0" anchor="t"/>
          <a:lstStyle/>
          <a:p>
            <a:pPr indent="0" marL="0">
              <a:buNone/>
            </a:pPr>
            <a:r>
              <a:rPr lang="it-IT" altLang="en-US" sz="1600" i="1" dirty="0">
                <a:solidFill>
                  <a:srgbClr val="4A5568"/>
                </a:solidFill>
              </a:rPr>
              <a:t>Ipotesi di lavoro: la risposta individuale all'esposizione non è riducibile a un parametro scalare.</a:t>
            </a:r>
            <a:endParaRPr lang="it-IT"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Tre domande di ricerca</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Ogni domanda corrisponde a un livello del sistema e a una famiglia di metriche</a:t>
            </a:r>
            <a:endParaRPr lang="it-IT" sz="1800" dirty="0"/>
          </a:p>
        </p:txBody>
      </p:sp>
      <p:sp>
        <p:nvSpPr>
          <p:cNvPr id="4" name="card_RQ1"/>
          <p:cNvSpPr/>
          <p:nvPr/>
        </p:nvSpPr>
        <p:spPr>
          <a:xfrm>
            <a:off x="548640" y="1783080"/>
            <a:ext cx="3520440" cy="3749040"/>
          </a:xfrm>
          <a:prstGeom prst="roundRect">
            <a:avLst>
              <a:gd name="adj" fmla="val 2078"/>
            </a:avLst>
          </a:prstGeom>
          <a:solidFill>
            <a:schemeClr val="bg2"/>
          </a:solidFill>
          <a:ln/>
        </p:spPr>
      </p:sp>
      <p:sp>
        <p:nvSpPr>
          <p:cNvPr id="5" name="badge_RQ1"/>
          <p:cNvSpPr/>
          <p:nvPr/>
        </p:nvSpPr>
        <p:spPr>
          <a:xfrm>
            <a:off x="822960" y="2011680"/>
            <a:ext cx="685800" cy="685800"/>
          </a:xfrm>
          <a:prstGeom prst="ellipse">
            <a:avLst/>
          </a:prstGeom>
          <a:solidFill>
            <a:srgbClr val="C53030"/>
          </a:solidFill>
          <a:ln/>
        </p:spPr>
      </p:sp>
      <p:sp>
        <p:nvSpPr>
          <p:cNvPr id="6" name="Text 4"/>
          <p:cNvSpPr txBox="1"/>
          <p:nvPr/>
        </p:nvSpPr>
        <p:spPr>
          <a:xfrm>
            <a:off x="822960" y="2011680"/>
            <a:ext cx="685800" cy="685800"/>
          </a:xfrm>
          <a:prstGeom prst="rect">
            <a:avLst/>
          </a:prstGeom>
          <a:noFill/>
          <a:ln/>
        </p:spPr>
        <p:txBody>
          <a:bodyPr wrap="square" lIns="0" tIns="0" rIns="0" bIns="0" rtlCol="0" anchor="ctr"/>
          <a:lstStyle/>
          <a:p>
            <a:pPr algn="ctr" indent="0" marL="0">
              <a:buNone/>
            </a:pPr>
            <a:r>
              <a:rPr lang="en-US" sz="1500" b="1" dirty="0">
                <a:solidFill>
                  <a:schemeClr val="bg1"/>
                </a:solidFill>
              </a:rPr>
              <a:t>RQ1</a:t>
            </a:r>
            <a:endParaRPr lang="en-US" sz="1500" dirty="0"/>
          </a:p>
        </p:txBody>
      </p:sp>
      <p:sp>
        <p:nvSpPr>
          <p:cNvPr id="7" name="Text 5"/>
          <p:cNvSpPr txBox="1"/>
          <p:nvPr/>
        </p:nvSpPr>
        <p:spPr>
          <a:xfrm>
            <a:off x="1645920" y="2121408"/>
            <a:ext cx="2240280" cy="457200"/>
          </a:xfrm>
          <a:prstGeom prst="rect">
            <a:avLst/>
          </a:prstGeom>
          <a:noFill/>
          <a:ln/>
        </p:spPr>
        <p:txBody>
          <a:bodyPr wrap="square" lIns="0" tIns="0" rIns="0" bIns="0" rtlCol="0" anchor="ctr"/>
          <a:lstStyle/>
          <a:p>
            <a:pPr indent="0" marL="0">
              <a:buNone/>
            </a:pPr>
            <a:r>
              <a:rPr lang="it-IT" altLang="en-US" sz="2000" b="1" dirty="0">
                <a:solidFill>
                  <a:schemeClr val="tx2"/>
                </a:solidFill>
                <a:latin typeface="Cambria" pitchFamily="34" charset="0"/>
                <a:ea typeface="Cambria" pitchFamily="34" charset="-122"/>
                <a:cs typeface="Cambria" pitchFamily="34" charset="-120"/>
              </a:rPr>
              <a:t>Diffusione</a:t>
            </a:r>
            <a:endParaRPr lang="it-IT" sz="2000" dirty="0"/>
          </a:p>
        </p:txBody>
      </p:sp>
      <p:sp>
        <p:nvSpPr>
          <p:cNvPr id="8" name="Text 6"/>
          <p:cNvSpPr txBox="1"/>
          <p:nvPr/>
        </p:nvSpPr>
        <p:spPr>
          <a:xfrm>
            <a:off x="822960" y="2926080"/>
            <a:ext cx="2971800" cy="2011680"/>
          </a:xfrm>
          <a:prstGeom prst="rect">
            <a:avLst/>
          </a:prstGeom>
          <a:noFill/>
          <a:ln/>
        </p:spPr>
        <p:txBody>
          <a:bodyPr wrap="square" lIns="0" tIns="0" rIns="0" bIns="0" rtlCol="0" anchor="t"/>
          <a:lstStyle/>
          <a:p>
            <a:pPr indent="0" marL="0">
              <a:buNone/>
            </a:pPr>
            <a:r>
              <a:rPr lang="it-IT" altLang="en-US" sz="1500" dirty="0">
                <a:solidFill>
                  <a:schemeClr val="tx1"/>
                </a:solidFill>
              </a:rPr>
              <a:t>La dinamica prodotta da agenti LLM accoppiati a un meccanismo a soglia presenta regolarità confrontabili con i modelli epidemici e di soglia?</a:t>
            </a:r>
            <a:endParaRPr lang="it-IT" sz="1500" dirty="0"/>
          </a:p>
        </p:txBody>
      </p:sp>
      <p:sp>
        <p:nvSpPr>
          <p:cNvPr id="9" name="Text 7"/>
          <p:cNvSpPr txBox="1"/>
          <p:nvPr/>
        </p:nvSpPr>
        <p:spPr>
          <a:xfrm>
            <a:off x="822960" y="4572000"/>
            <a:ext cx="2971800" cy="822960"/>
          </a:xfrm>
          <a:prstGeom prst="rect">
            <a:avLst/>
          </a:prstGeom>
          <a:noFill/>
          <a:ln/>
        </p:spPr>
        <p:txBody>
          <a:bodyPr wrap="square" lIns="0" tIns="0" rIns="0" bIns="0" rtlCol="0" anchor="t"/>
          <a:lstStyle/>
          <a:p>
            <a:pPr indent="0" marL="0">
              <a:buNone/>
            </a:pPr>
            <a:r>
              <a:rPr lang="it-IT" altLang="en-US" sz="1400" b="1" i="1" dirty="0">
                <a:solidFill>
                  <a:schemeClr val="tx2"/>
                </a:solidFill>
              </a:rPr>
              <a:t>Metriche: </a:t>
            </a:r>
            <a:pPr indent="0" marL="0">
              <a:buNone/>
            </a:pPr>
            <a:r>
              <a:rPr lang="it-IT" altLang="en-US" sz="1400" i="1" dirty="0">
                <a:solidFill>
                  <a:srgbClr val="4A5568"/>
                </a:solidFill>
              </a:rPr>
              <a:t>Popolazioni S, I, R; transizioni per step</a:t>
            </a:r>
            <a:endParaRPr lang="it-IT" sz="1400" dirty="0"/>
          </a:p>
        </p:txBody>
      </p:sp>
      <p:sp>
        <p:nvSpPr>
          <p:cNvPr id="10" name="card_RQ2"/>
          <p:cNvSpPr/>
          <p:nvPr/>
        </p:nvSpPr>
        <p:spPr>
          <a:xfrm>
            <a:off x="4334256" y="1783080"/>
            <a:ext cx="3520440" cy="3749040"/>
          </a:xfrm>
          <a:prstGeom prst="roundRect">
            <a:avLst>
              <a:gd name="adj" fmla="val 2078"/>
            </a:avLst>
          </a:prstGeom>
          <a:solidFill>
            <a:schemeClr val="bg2"/>
          </a:solidFill>
          <a:ln/>
        </p:spPr>
      </p:sp>
      <p:sp>
        <p:nvSpPr>
          <p:cNvPr id="11" name="badge_RQ2"/>
          <p:cNvSpPr/>
          <p:nvPr/>
        </p:nvSpPr>
        <p:spPr>
          <a:xfrm>
            <a:off x="4608576" y="2011680"/>
            <a:ext cx="685800" cy="685800"/>
          </a:xfrm>
          <a:prstGeom prst="ellipse">
            <a:avLst/>
          </a:prstGeom>
          <a:solidFill>
            <a:srgbClr val="553C9A"/>
          </a:solidFill>
          <a:ln/>
        </p:spPr>
      </p:sp>
      <p:sp>
        <p:nvSpPr>
          <p:cNvPr id="12" name="Text 10"/>
          <p:cNvSpPr txBox="1"/>
          <p:nvPr/>
        </p:nvSpPr>
        <p:spPr>
          <a:xfrm>
            <a:off x="4608576" y="2011680"/>
            <a:ext cx="685800" cy="685800"/>
          </a:xfrm>
          <a:prstGeom prst="rect">
            <a:avLst/>
          </a:prstGeom>
          <a:noFill/>
          <a:ln/>
        </p:spPr>
        <p:txBody>
          <a:bodyPr wrap="square" lIns="0" tIns="0" rIns="0" bIns="0" rtlCol="0" anchor="ctr"/>
          <a:lstStyle/>
          <a:p>
            <a:pPr algn="ctr" indent="0" marL="0">
              <a:buNone/>
            </a:pPr>
            <a:r>
              <a:rPr lang="en-US" sz="1500" b="1" dirty="0">
                <a:solidFill>
                  <a:schemeClr val="bg1"/>
                </a:solidFill>
              </a:rPr>
              <a:t>RQ2</a:t>
            </a:r>
            <a:endParaRPr lang="en-US" sz="1500" dirty="0"/>
          </a:p>
        </p:txBody>
      </p:sp>
      <p:sp>
        <p:nvSpPr>
          <p:cNvPr id="13" name="Text 11"/>
          <p:cNvSpPr txBox="1"/>
          <p:nvPr/>
        </p:nvSpPr>
        <p:spPr>
          <a:xfrm>
            <a:off x="5431536" y="2121408"/>
            <a:ext cx="2240280" cy="457200"/>
          </a:xfrm>
          <a:prstGeom prst="rect">
            <a:avLst/>
          </a:prstGeom>
          <a:noFill/>
          <a:ln/>
        </p:spPr>
        <p:txBody>
          <a:bodyPr wrap="square" lIns="0" tIns="0" rIns="0" bIns="0" rtlCol="0" anchor="ctr"/>
          <a:lstStyle/>
          <a:p>
            <a:pPr indent="0" marL="0">
              <a:buNone/>
            </a:pPr>
            <a:r>
              <a:rPr lang="it-IT" altLang="en-US" sz="2000" b="1" dirty="0">
                <a:solidFill>
                  <a:schemeClr val="tx2"/>
                </a:solidFill>
                <a:latin typeface="Cambria" pitchFamily="34" charset="0"/>
                <a:ea typeface="Cambria" pitchFamily="34" charset="-122"/>
                <a:cs typeface="Cambria" pitchFamily="34" charset="-120"/>
              </a:rPr>
              <a:t>Segregazione</a:t>
            </a:r>
            <a:endParaRPr lang="it-IT" sz="2000" dirty="0"/>
          </a:p>
        </p:txBody>
      </p:sp>
      <p:sp>
        <p:nvSpPr>
          <p:cNvPr id="14" name="Text 12"/>
          <p:cNvSpPr txBox="1"/>
          <p:nvPr/>
        </p:nvSpPr>
        <p:spPr>
          <a:xfrm>
            <a:off x="4608576" y="2926080"/>
            <a:ext cx="2971800" cy="2011680"/>
          </a:xfrm>
          <a:prstGeom prst="rect">
            <a:avLst/>
          </a:prstGeom>
          <a:noFill/>
          <a:ln/>
        </p:spPr>
        <p:txBody>
          <a:bodyPr wrap="square" lIns="0" tIns="0" rIns="0" bIns="0" rtlCol="0" anchor="t"/>
          <a:lstStyle/>
          <a:p>
            <a:pPr indent="0" marL="0">
              <a:buNone/>
            </a:pPr>
            <a:r>
              <a:rPr lang="it-IT" altLang="en-US" sz="1500" dirty="0">
                <a:solidFill>
                  <a:schemeClr val="tx1"/>
                </a:solidFill>
              </a:rPr>
              <a:t>La co-evoluzione incrementa la segregazione? In quale misura riguarda la struttura comunitaria rispetto alle opinioni?</a:t>
            </a:r>
            <a:endParaRPr lang="it-IT" sz="1500" dirty="0"/>
          </a:p>
        </p:txBody>
      </p:sp>
      <p:sp>
        <p:nvSpPr>
          <p:cNvPr id="15" name="Text 13"/>
          <p:cNvSpPr txBox="1"/>
          <p:nvPr/>
        </p:nvSpPr>
        <p:spPr>
          <a:xfrm>
            <a:off x="4608576" y="4572000"/>
            <a:ext cx="2971800" cy="822960"/>
          </a:xfrm>
          <a:prstGeom prst="rect">
            <a:avLst/>
          </a:prstGeom>
          <a:noFill/>
          <a:ln/>
        </p:spPr>
        <p:txBody>
          <a:bodyPr wrap="square" lIns="0" tIns="0" rIns="0" bIns="0" rtlCol="0" anchor="t"/>
          <a:lstStyle/>
          <a:p>
            <a:pPr indent="0" marL="0">
              <a:buNone/>
            </a:pPr>
            <a:r>
              <a:rPr lang="it-IT" altLang="en-US" sz="1400" b="1" i="1" dirty="0">
                <a:solidFill>
                  <a:schemeClr val="tx2"/>
                </a:solidFill>
              </a:rPr>
              <a:t>Metriche: </a:t>
            </a:r>
            <a:pPr indent="0" marL="0">
              <a:buNone/>
            </a:pPr>
            <a:r>
              <a:rPr lang="it-IT" altLang="en-US" sz="1400" i="1" dirty="0">
                <a:solidFill>
                  <a:srgbClr val="4A5568"/>
                </a:solidFill>
              </a:rPr>
              <a:t>ECI e modularità vs omofilia e assortatività di opinione</a:t>
            </a:r>
            <a:endParaRPr lang="it-IT" sz="1400" dirty="0"/>
          </a:p>
        </p:txBody>
      </p:sp>
      <p:sp>
        <p:nvSpPr>
          <p:cNvPr id="16" name="card_RQ3"/>
          <p:cNvSpPr/>
          <p:nvPr/>
        </p:nvSpPr>
        <p:spPr>
          <a:xfrm>
            <a:off x="8119872" y="1783080"/>
            <a:ext cx="3520440" cy="3749040"/>
          </a:xfrm>
          <a:prstGeom prst="roundRect">
            <a:avLst>
              <a:gd name="adj" fmla="val 2078"/>
            </a:avLst>
          </a:prstGeom>
          <a:solidFill>
            <a:schemeClr val="bg2"/>
          </a:solidFill>
          <a:ln/>
        </p:spPr>
      </p:sp>
      <p:sp>
        <p:nvSpPr>
          <p:cNvPr id="17" name="badge_RQ3"/>
          <p:cNvSpPr/>
          <p:nvPr/>
        </p:nvSpPr>
        <p:spPr>
          <a:xfrm>
            <a:off x="8394192" y="2011680"/>
            <a:ext cx="685800" cy="685800"/>
          </a:xfrm>
          <a:prstGeom prst="ellipse">
            <a:avLst/>
          </a:prstGeom>
          <a:solidFill>
            <a:srgbClr val="B7791F"/>
          </a:solidFill>
          <a:ln/>
        </p:spPr>
      </p:sp>
      <p:sp>
        <p:nvSpPr>
          <p:cNvPr id="18" name="Text 16"/>
          <p:cNvSpPr txBox="1"/>
          <p:nvPr/>
        </p:nvSpPr>
        <p:spPr>
          <a:xfrm>
            <a:off x="8394192" y="2011680"/>
            <a:ext cx="685800" cy="685800"/>
          </a:xfrm>
          <a:prstGeom prst="rect">
            <a:avLst/>
          </a:prstGeom>
          <a:noFill/>
          <a:ln/>
        </p:spPr>
        <p:txBody>
          <a:bodyPr wrap="square" lIns="0" tIns="0" rIns="0" bIns="0" rtlCol="0" anchor="ctr"/>
          <a:lstStyle/>
          <a:p>
            <a:pPr algn="ctr" indent="0" marL="0">
              <a:buNone/>
            </a:pPr>
            <a:r>
              <a:rPr lang="en-US" sz="1500" b="1" dirty="0">
                <a:solidFill>
                  <a:schemeClr val="bg1"/>
                </a:solidFill>
              </a:rPr>
              <a:t>RQ3</a:t>
            </a:r>
            <a:endParaRPr lang="en-US" sz="1500" dirty="0"/>
          </a:p>
        </p:txBody>
      </p:sp>
      <p:sp>
        <p:nvSpPr>
          <p:cNvPr id="19" name="Text 17"/>
          <p:cNvSpPr txBox="1"/>
          <p:nvPr/>
        </p:nvSpPr>
        <p:spPr>
          <a:xfrm>
            <a:off x="9217152" y="2121408"/>
            <a:ext cx="2240280" cy="457200"/>
          </a:xfrm>
          <a:prstGeom prst="rect">
            <a:avLst/>
          </a:prstGeom>
          <a:noFill/>
          <a:ln/>
        </p:spPr>
        <p:txBody>
          <a:bodyPr wrap="square" lIns="0" tIns="0" rIns="0" bIns="0" rtlCol="0" anchor="ctr"/>
          <a:lstStyle/>
          <a:p>
            <a:pPr indent="0" marL="0">
              <a:buNone/>
            </a:pPr>
            <a:r>
              <a:rPr lang="it-IT" altLang="en-US" sz="2000" b="1" dirty="0">
                <a:solidFill>
                  <a:schemeClr val="tx2"/>
                </a:solidFill>
                <a:latin typeface="Cambria" pitchFamily="34" charset="0"/>
                <a:ea typeface="Cambria" pitchFamily="34" charset="-122"/>
                <a:cs typeface="Cambria" pitchFamily="34" charset="-120"/>
              </a:rPr>
              <a:t>Intervento</a:t>
            </a:r>
            <a:endParaRPr lang="it-IT" sz="2000" dirty="0"/>
          </a:p>
        </p:txBody>
      </p:sp>
      <p:sp>
        <p:nvSpPr>
          <p:cNvPr id="20" name="Text 18"/>
          <p:cNvSpPr txBox="1"/>
          <p:nvPr/>
        </p:nvSpPr>
        <p:spPr>
          <a:xfrm>
            <a:off x="8394192" y="2926080"/>
            <a:ext cx="2971800" cy="2011680"/>
          </a:xfrm>
          <a:prstGeom prst="rect">
            <a:avLst/>
          </a:prstGeom>
          <a:noFill/>
          <a:ln/>
        </p:spPr>
        <p:txBody>
          <a:bodyPr wrap="square" lIns="0" tIns="0" rIns="0" bIns="0" rtlCol="0" anchor="t"/>
          <a:lstStyle/>
          <a:p>
            <a:pPr indent="0" marL="0">
              <a:buNone/>
            </a:pPr>
            <a:r>
              <a:rPr lang="it-IT" altLang="en-US" sz="1500" dirty="0">
                <a:solidFill>
                  <a:schemeClr val="tx1"/>
                </a:solidFill>
              </a:rPr>
              <a:t>Un intervento con budget pari allo 0.4% dei nodi modifica la dinamica rispetto al controllo? Su quali popolazioni?</a:t>
            </a:r>
            <a:endParaRPr lang="it-IT" sz="1500" dirty="0"/>
          </a:p>
        </p:txBody>
      </p:sp>
      <p:sp>
        <p:nvSpPr>
          <p:cNvPr id="21" name="Text 19"/>
          <p:cNvSpPr txBox="1"/>
          <p:nvPr/>
        </p:nvSpPr>
        <p:spPr>
          <a:xfrm>
            <a:off x="8394192" y="4572000"/>
            <a:ext cx="2971800" cy="822960"/>
          </a:xfrm>
          <a:prstGeom prst="rect">
            <a:avLst/>
          </a:prstGeom>
          <a:noFill/>
          <a:ln/>
        </p:spPr>
        <p:txBody>
          <a:bodyPr wrap="square" lIns="0" tIns="0" rIns="0" bIns="0" rtlCol="0" anchor="t"/>
          <a:lstStyle/>
          <a:p>
            <a:pPr indent="0" marL="0">
              <a:buNone/>
            </a:pPr>
            <a:r>
              <a:rPr lang="it-IT" altLang="en-US" sz="1400" b="1" i="1" dirty="0">
                <a:solidFill>
                  <a:schemeClr val="tx2"/>
                </a:solidFill>
              </a:rPr>
              <a:t>Metriche: </a:t>
            </a:r>
            <a:pPr indent="0" marL="0">
              <a:buNone/>
            </a:pPr>
            <a:r>
              <a:rPr lang="it-IT" altLang="en-US" sz="1400" i="1" dirty="0">
                <a:solidFill>
                  <a:srgbClr val="4A5568"/>
                </a:solidFill>
              </a:rPr>
              <a:t>Differenze intervento − controllo dallo stesso checkpoint</a:t>
            </a:r>
            <a:endParaRPr lang="it-IT"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Tre livelli accoppiati in ciclo chiuso</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Una pipeline sequenziale non consentirebbe di osservare gli effetti di retroazione</a:t>
            </a:r>
            <a:endParaRPr lang="it-IT" sz="1800" dirty="0"/>
          </a:p>
        </p:txBody>
      </p:sp>
      <p:pic>
        <p:nvPicPr>
          <p:cNvPr id="4" name="schema_loop" descr="/Users/stefanobrusco/Downloads/progettoASM/relazione_accademica/figure/loop_coevoluzione.png">    </p:cNvPr>
          <p:cNvPicPr>
            <a:picLocks noChangeAspect="1"/>
          </p:cNvPicPr>
          <p:nvPr/>
        </p:nvPicPr>
        <p:blipFill>
          <a:blip r:embed="rId1"/>
          <a:stretch>
            <a:fillRect/>
          </a:stretch>
        </p:blipFill>
        <p:spPr>
          <a:xfrm>
            <a:off x="548640" y="1783080"/>
            <a:ext cx="6858000" cy="3749040"/>
          </a:xfrm>
          <a:prstGeom prst="rect">
            <a:avLst/>
          </a:prstGeom>
        </p:spPr>
      </p:pic>
      <p:sp>
        <p:nvSpPr>
          <p:cNvPr id="5" name="livello_0"/>
          <p:cNvSpPr/>
          <p:nvPr/>
        </p:nvSpPr>
        <p:spPr>
          <a:xfrm>
            <a:off x="7818120" y="1874520"/>
            <a:ext cx="457200" cy="457200"/>
          </a:xfrm>
          <a:prstGeom prst="ellipse">
            <a:avLst/>
          </a:prstGeom>
          <a:solidFill>
            <a:srgbClr val="2B6CB0"/>
          </a:solidFill>
          <a:ln/>
        </p:spPr>
      </p:sp>
      <p:sp>
        <p:nvSpPr>
          <p:cNvPr id="6" name="Text 3"/>
          <p:cNvSpPr txBox="1"/>
          <p:nvPr/>
        </p:nvSpPr>
        <p:spPr>
          <a:xfrm>
            <a:off x="7818120"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8458200" y="1828800"/>
            <a:ext cx="3200400" cy="365760"/>
          </a:xfrm>
          <a:prstGeom prst="rect">
            <a:avLst/>
          </a:prstGeom>
          <a:noFill/>
          <a:ln/>
        </p:spPr>
        <p:txBody>
          <a:bodyPr wrap="square" lIns="0" tIns="0" rIns="0" bIns="0" rtlCol="0" anchor="t"/>
          <a:lstStyle/>
          <a:p>
            <a:pPr indent="0" marL="0">
              <a:buNone/>
            </a:pPr>
            <a:r>
              <a:rPr lang="it-IT" altLang="en-US" sz="1800" b="1" dirty="0">
                <a:solidFill>
                  <a:schemeClr val="tx2"/>
                </a:solidFill>
                <a:latin typeface="Cambria" pitchFamily="34" charset="0"/>
                <a:ea typeface="Cambria" pitchFamily="34" charset="-122"/>
                <a:cs typeface="Cambria" pitchFamily="34" charset="-120"/>
              </a:rPr>
              <a:t>Cognitivo</a:t>
            </a:r>
            <a:endParaRPr lang="it-IT" sz="1800" dirty="0"/>
          </a:p>
        </p:txBody>
      </p:sp>
      <p:sp>
        <p:nvSpPr>
          <p:cNvPr id="8" name="Text 5"/>
          <p:cNvSpPr txBox="1"/>
          <p:nvPr/>
        </p:nvSpPr>
        <p:spPr>
          <a:xfrm>
            <a:off x="8458200" y="2212848"/>
            <a:ext cx="3200400" cy="777240"/>
          </a:xfrm>
          <a:prstGeom prst="rect">
            <a:avLst/>
          </a:prstGeom>
          <a:noFill/>
          <a:ln/>
        </p:spPr>
        <p:txBody>
          <a:bodyPr wrap="square" lIns="0" tIns="0" rIns="0" bIns="0" rtlCol="0" anchor="t"/>
          <a:lstStyle/>
          <a:p>
            <a:pPr indent="0" marL="0">
              <a:buNone/>
            </a:pPr>
            <a:r>
              <a:rPr lang="it-IT" altLang="en-US" sz="1400" dirty="0">
                <a:solidFill>
                  <a:schemeClr val="tx1"/>
                </a:solidFill>
              </a:rPr>
              <a:t>Agenti LLM e macchina a stati Linear Threshold estesa</a:t>
            </a:r>
            <a:endParaRPr lang="it-IT" sz="1400" dirty="0"/>
          </a:p>
        </p:txBody>
      </p:sp>
      <p:sp>
        <p:nvSpPr>
          <p:cNvPr id="9" name="livello_1"/>
          <p:cNvSpPr/>
          <p:nvPr/>
        </p:nvSpPr>
        <p:spPr>
          <a:xfrm>
            <a:off x="7818120" y="3154680"/>
            <a:ext cx="457200" cy="457200"/>
          </a:xfrm>
          <a:prstGeom prst="ellipse">
            <a:avLst/>
          </a:prstGeom>
          <a:solidFill>
            <a:srgbClr val="553C9A"/>
          </a:solidFill>
          <a:ln/>
        </p:spPr>
      </p:sp>
      <p:sp>
        <p:nvSpPr>
          <p:cNvPr id="10" name="Text 7"/>
          <p:cNvSpPr txBox="1"/>
          <p:nvPr/>
        </p:nvSpPr>
        <p:spPr>
          <a:xfrm>
            <a:off x="7818120" y="3154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8458200" y="3108960"/>
            <a:ext cx="3200400" cy="365760"/>
          </a:xfrm>
          <a:prstGeom prst="rect">
            <a:avLst/>
          </a:prstGeom>
          <a:noFill/>
          <a:ln/>
        </p:spPr>
        <p:txBody>
          <a:bodyPr wrap="square" lIns="0" tIns="0" rIns="0" bIns="0" rtlCol="0" anchor="t"/>
          <a:lstStyle/>
          <a:p>
            <a:pPr indent="0" marL="0">
              <a:buNone/>
            </a:pPr>
            <a:r>
              <a:rPr lang="it-IT" altLang="en-US" sz="1800" b="1" dirty="0">
                <a:solidFill>
                  <a:schemeClr val="tx2"/>
                </a:solidFill>
                <a:latin typeface="Cambria" pitchFamily="34" charset="0"/>
                <a:ea typeface="Cambria" pitchFamily="34" charset="-122"/>
                <a:cs typeface="Cambria" pitchFamily="34" charset="-120"/>
              </a:rPr>
              <a:t>Strutturale</a:t>
            </a:r>
            <a:endParaRPr lang="it-IT" sz="1800" dirty="0"/>
          </a:p>
        </p:txBody>
      </p:sp>
      <p:sp>
        <p:nvSpPr>
          <p:cNvPr id="12" name="Text 9"/>
          <p:cNvSpPr txBox="1"/>
          <p:nvPr/>
        </p:nvSpPr>
        <p:spPr>
          <a:xfrm>
            <a:off x="8458200" y="3493008"/>
            <a:ext cx="3200400" cy="777240"/>
          </a:xfrm>
          <a:prstGeom prst="rect">
            <a:avLst/>
          </a:prstGeom>
          <a:noFill/>
          <a:ln/>
        </p:spPr>
        <p:txBody>
          <a:bodyPr wrap="square" lIns="0" tIns="0" rIns="0" bIns="0" rtlCol="0" anchor="t"/>
          <a:lstStyle/>
          <a:p>
            <a:pPr indent="0" marL="0">
              <a:buNone/>
            </a:pPr>
            <a:r>
              <a:rPr lang="it-IT" altLang="en-US" sz="1400" dirty="0">
                <a:solidFill>
                  <a:schemeClr val="tx1"/>
                </a:solidFill>
              </a:rPr>
              <a:t>GraphSAGE come link predictor; rewiring a densità costante</a:t>
            </a:r>
            <a:endParaRPr lang="it-IT" sz="1400" dirty="0"/>
          </a:p>
        </p:txBody>
      </p:sp>
      <p:sp>
        <p:nvSpPr>
          <p:cNvPr id="13" name="livello_2"/>
          <p:cNvSpPr/>
          <p:nvPr/>
        </p:nvSpPr>
        <p:spPr>
          <a:xfrm>
            <a:off x="7818120" y="4434840"/>
            <a:ext cx="457200" cy="457200"/>
          </a:xfrm>
          <a:prstGeom prst="ellipse">
            <a:avLst/>
          </a:prstGeom>
          <a:solidFill>
            <a:srgbClr val="B7791F"/>
          </a:solidFill>
          <a:ln/>
        </p:spPr>
      </p:sp>
      <p:sp>
        <p:nvSpPr>
          <p:cNvPr id="14" name="Text 11"/>
          <p:cNvSpPr txBox="1"/>
          <p:nvPr/>
        </p:nvSpPr>
        <p:spPr>
          <a:xfrm>
            <a:off x="781812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8458200" y="4389120"/>
            <a:ext cx="3200400" cy="365760"/>
          </a:xfrm>
          <a:prstGeom prst="rect">
            <a:avLst/>
          </a:prstGeom>
          <a:noFill/>
          <a:ln/>
        </p:spPr>
        <p:txBody>
          <a:bodyPr wrap="square" lIns="0" tIns="0" rIns="0" bIns="0" rtlCol="0" anchor="t"/>
          <a:lstStyle/>
          <a:p>
            <a:pPr indent="0" marL="0">
              <a:buNone/>
            </a:pPr>
            <a:r>
              <a:rPr lang="it-IT" altLang="en-US" sz="1800" b="1" dirty="0">
                <a:solidFill>
                  <a:schemeClr val="tx2"/>
                </a:solidFill>
                <a:latin typeface="Cambria" pitchFamily="34" charset="0"/>
                <a:ea typeface="Cambria" pitchFamily="34" charset="-122"/>
                <a:cs typeface="Cambria" pitchFamily="34" charset="-120"/>
              </a:rPr>
              <a:t>Intervento</a:t>
            </a:r>
            <a:endParaRPr lang="it-IT" sz="1800" dirty="0"/>
          </a:p>
        </p:txBody>
      </p:sp>
      <p:sp>
        <p:nvSpPr>
          <p:cNvPr id="16" name="Text 13"/>
          <p:cNvSpPr txBox="1"/>
          <p:nvPr/>
        </p:nvSpPr>
        <p:spPr>
          <a:xfrm>
            <a:off x="8458200" y="4773168"/>
            <a:ext cx="3200400" cy="777240"/>
          </a:xfrm>
          <a:prstGeom prst="rect">
            <a:avLst/>
          </a:prstGeom>
          <a:noFill/>
          <a:ln/>
        </p:spPr>
        <p:txBody>
          <a:bodyPr wrap="square" lIns="0" tIns="0" rIns="0" bIns="0" rtlCol="0" anchor="t"/>
          <a:lstStyle/>
          <a:p>
            <a:pPr indent="0" marL="0">
              <a:buNone/>
            </a:pPr>
            <a:r>
              <a:rPr lang="it-IT" altLang="en-US" sz="1400" dirty="0">
                <a:solidFill>
                  <a:schemeClr val="tx1"/>
                </a:solidFill>
              </a:rPr>
              <a:t>Selezione greedy dei fact-checker e iniezione nella rete</a:t>
            </a:r>
            <a:endParaRPr lang="it-IT" sz="1400" dirty="0"/>
          </a:p>
        </p:txBody>
      </p:sp>
      <p:sp>
        <p:nvSpPr>
          <p:cNvPr id="17" name="Text 14"/>
          <p:cNvSpPr txBox="1"/>
          <p:nvPr/>
        </p:nvSpPr>
        <p:spPr>
          <a:xfrm>
            <a:off x="548640" y="5715000"/>
            <a:ext cx="11094415" cy="411480"/>
          </a:xfrm>
          <a:prstGeom prst="rect">
            <a:avLst/>
          </a:prstGeom>
          <a:noFill/>
          <a:ln/>
        </p:spPr>
        <p:txBody>
          <a:bodyPr wrap="square" lIns="0" tIns="0" rIns="0" bIns="0" rtlCol="0" anchor="t"/>
          <a:lstStyle/>
          <a:p>
            <a:pPr indent="0" marL="0">
              <a:buNone/>
            </a:pPr>
            <a:r>
              <a:rPr lang="it-IT" altLang="en-US" sz="1500" i="1" dirty="0">
                <a:solidFill>
                  <a:srgbClr val="4A5568"/>
                </a:solidFill>
              </a:rPr>
              <a:t>L'unità atomica dell'esecuzione è lo step co-evolutivo, non la singola fase.</a:t>
            </a:r>
            <a:endParaRPr lang="it-IT"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Ogni requisito determina una scelta</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Le scelte architetturali derivano da cinque requisiti esplicitati prima della progettazione</a:t>
            </a:r>
            <a:endParaRPr lang="it-IT" sz="1800" dirty="0"/>
          </a:p>
        </p:txBody>
      </p:sp>
      <p:sp>
        <p:nvSpPr>
          <p:cNvPr id="4" name="riga_R1"/>
          <p:cNvSpPr/>
          <p:nvPr/>
        </p:nvSpPr>
        <p:spPr>
          <a:xfrm>
            <a:off x="548640" y="1783080"/>
            <a:ext cx="11094415" cy="795528"/>
          </a:xfrm>
          <a:prstGeom prst="rect">
            <a:avLst/>
          </a:prstGeom>
          <a:solidFill>
            <a:schemeClr val="bg2"/>
          </a:solidFill>
          <a:ln/>
        </p:spPr>
      </p:sp>
      <p:sp>
        <p:nvSpPr>
          <p:cNvPr id="5" name="badge_R1"/>
          <p:cNvSpPr/>
          <p:nvPr/>
        </p:nvSpPr>
        <p:spPr>
          <a:xfrm>
            <a:off x="731520" y="1929384"/>
            <a:ext cx="502920" cy="502920"/>
          </a:xfrm>
          <a:prstGeom prst="ellipse">
            <a:avLst/>
          </a:prstGeom>
          <a:solidFill>
            <a:srgbClr val="16243A"/>
          </a:solidFill>
          <a:ln/>
        </p:spPr>
      </p:sp>
      <p:sp>
        <p:nvSpPr>
          <p:cNvPr id="6" name="Text 4"/>
          <p:cNvSpPr txBox="1"/>
          <p:nvPr/>
        </p:nvSpPr>
        <p:spPr>
          <a:xfrm>
            <a:off x="731520" y="1929384"/>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R1</a:t>
            </a:r>
            <a:endParaRPr lang="en-US" sz="1400" dirty="0"/>
          </a:p>
        </p:txBody>
      </p:sp>
      <p:sp>
        <p:nvSpPr>
          <p:cNvPr id="7" name="Text 5"/>
          <p:cNvSpPr txBox="1"/>
          <p:nvPr/>
        </p:nvSpPr>
        <p:spPr>
          <a:xfrm>
            <a:off x="1463040" y="1783080"/>
            <a:ext cx="3017520" cy="795528"/>
          </a:xfrm>
          <a:prstGeom prst="rect">
            <a:avLst/>
          </a:prstGeom>
          <a:noFill/>
          <a:ln/>
        </p:spPr>
        <p:txBody>
          <a:bodyPr wrap="square" lIns="0" tIns="0" rIns="0" bIns="0" rtlCol="0" anchor="ctr"/>
          <a:lstStyle/>
          <a:p>
            <a:pPr indent="0" marL="0">
              <a:buNone/>
            </a:pPr>
            <a:r>
              <a:rPr lang="it-IT" altLang="en-US" sz="1600" b="1" dirty="0">
                <a:solidFill>
                  <a:schemeClr val="tx2"/>
                </a:solidFill>
              </a:rPr>
              <a:t>Accoppiamento bidirezionale</a:t>
            </a:r>
            <a:endParaRPr lang="it-IT" sz="1600" dirty="0"/>
          </a:p>
        </p:txBody>
      </p:sp>
      <p:sp>
        <p:nvSpPr>
          <p:cNvPr id="8" name="Text 6"/>
          <p:cNvSpPr txBox="1"/>
          <p:nvPr/>
        </p:nvSpPr>
        <p:spPr>
          <a:xfrm>
            <a:off x="4572000" y="1783080"/>
            <a:ext cx="6888175" cy="795528"/>
          </a:xfrm>
          <a:prstGeom prst="rect">
            <a:avLst/>
          </a:prstGeom>
          <a:noFill/>
          <a:ln/>
        </p:spPr>
        <p:txBody>
          <a:bodyPr wrap="square" lIns="0" tIns="0" rIns="0" bIns="0" rtlCol="0" anchor="ctr"/>
          <a:lstStyle/>
          <a:p>
            <a:pPr indent="0" marL="0">
              <a:buNone/>
            </a:pPr>
            <a:r>
              <a:rPr lang="it-IT" altLang="en-US" sz="1500" dirty="0">
                <a:solidFill>
                  <a:schemeClr val="tx1"/>
                </a:solidFill>
              </a:rPr>
              <a:t>Ciclo chiuso; l'embedding del nodo come canale tra opinioni e topologia (direzione condivisa + 10% individuale)</a:t>
            </a:r>
            <a:endParaRPr lang="it-IT" sz="1500" dirty="0"/>
          </a:p>
        </p:txBody>
      </p:sp>
      <p:sp>
        <p:nvSpPr>
          <p:cNvPr id="9" name="badge_R2"/>
          <p:cNvSpPr/>
          <p:nvPr/>
        </p:nvSpPr>
        <p:spPr>
          <a:xfrm>
            <a:off x="731520" y="2779776"/>
            <a:ext cx="502920" cy="502920"/>
          </a:xfrm>
          <a:prstGeom prst="ellipse">
            <a:avLst/>
          </a:prstGeom>
          <a:solidFill>
            <a:srgbClr val="16243A"/>
          </a:solidFill>
          <a:ln/>
        </p:spPr>
      </p:sp>
      <p:sp>
        <p:nvSpPr>
          <p:cNvPr id="10" name="Text 8"/>
          <p:cNvSpPr txBox="1"/>
          <p:nvPr/>
        </p:nvSpPr>
        <p:spPr>
          <a:xfrm>
            <a:off x="731520" y="2779776"/>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R2</a:t>
            </a:r>
            <a:endParaRPr lang="en-US" sz="1400" dirty="0"/>
          </a:p>
        </p:txBody>
      </p:sp>
      <p:sp>
        <p:nvSpPr>
          <p:cNvPr id="11" name="Text 9"/>
          <p:cNvSpPr txBox="1"/>
          <p:nvPr/>
        </p:nvSpPr>
        <p:spPr>
          <a:xfrm>
            <a:off x="1463040" y="2633472"/>
            <a:ext cx="3017520" cy="795528"/>
          </a:xfrm>
          <a:prstGeom prst="rect">
            <a:avLst/>
          </a:prstGeom>
          <a:noFill/>
          <a:ln/>
        </p:spPr>
        <p:txBody>
          <a:bodyPr wrap="square" lIns="0" tIns="0" rIns="0" bIns="0" rtlCol="0" anchor="ctr"/>
          <a:lstStyle/>
          <a:p>
            <a:pPr indent="0" marL="0">
              <a:buNone/>
            </a:pPr>
            <a:r>
              <a:rPr lang="it-IT" altLang="en-US" sz="1600" b="1" dirty="0">
                <a:solidFill>
                  <a:schemeClr val="tx2"/>
                </a:solidFill>
              </a:rPr>
              <a:t>Trattabilità dell'inferenza</a:t>
            </a:r>
            <a:endParaRPr lang="it-IT" sz="1600" dirty="0"/>
          </a:p>
        </p:txBody>
      </p:sp>
      <p:sp>
        <p:nvSpPr>
          <p:cNvPr id="12" name="Text 10"/>
          <p:cNvSpPr txBox="1"/>
          <p:nvPr/>
        </p:nvSpPr>
        <p:spPr>
          <a:xfrm>
            <a:off x="4572000" y="2633472"/>
            <a:ext cx="6888175" cy="795528"/>
          </a:xfrm>
          <a:prstGeom prst="rect">
            <a:avLst/>
          </a:prstGeom>
          <a:noFill/>
          <a:ln/>
        </p:spPr>
        <p:txBody>
          <a:bodyPr wrap="square" lIns="0" tIns="0" rIns="0" bIns="0" rtlCol="0" anchor="ctr"/>
          <a:lstStyle/>
          <a:p>
            <a:pPr indent="0" marL="0">
              <a:buNone/>
            </a:pPr>
            <a:r>
              <a:rPr lang="it-IT" altLang="en-US" sz="1500" dirty="0">
                <a:solidFill>
                  <a:schemeClr val="tx1"/>
                </a:solidFill>
              </a:rPr>
              <a:t>vLLM con batching continuo; modello 8B quantizzato AWQ; attivazione del 15% dei nodi per step</a:t>
            </a:r>
            <a:endParaRPr lang="it-IT" sz="1500" dirty="0"/>
          </a:p>
        </p:txBody>
      </p:sp>
      <p:sp>
        <p:nvSpPr>
          <p:cNvPr id="13" name="riga_R3"/>
          <p:cNvSpPr/>
          <p:nvPr/>
        </p:nvSpPr>
        <p:spPr>
          <a:xfrm>
            <a:off x="548640" y="3483864"/>
            <a:ext cx="11094415" cy="795528"/>
          </a:xfrm>
          <a:prstGeom prst="rect">
            <a:avLst/>
          </a:prstGeom>
          <a:solidFill>
            <a:schemeClr val="bg2"/>
          </a:solidFill>
          <a:ln/>
        </p:spPr>
      </p:sp>
      <p:sp>
        <p:nvSpPr>
          <p:cNvPr id="14" name="badge_R3"/>
          <p:cNvSpPr/>
          <p:nvPr/>
        </p:nvSpPr>
        <p:spPr>
          <a:xfrm>
            <a:off x="731520" y="3630168"/>
            <a:ext cx="502920" cy="502920"/>
          </a:xfrm>
          <a:prstGeom prst="ellipse">
            <a:avLst/>
          </a:prstGeom>
          <a:solidFill>
            <a:srgbClr val="16243A"/>
          </a:solidFill>
          <a:ln/>
        </p:spPr>
      </p:sp>
      <p:sp>
        <p:nvSpPr>
          <p:cNvPr id="15" name="Text 13"/>
          <p:cNvSpPr txBox="1"/>
          <p:nvPr/>
        </p:nvSpPr>
        <p:spPr>
          <a:xfrm>
            <a:off x="731520" y="3630168"/>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R3</a:t>
            </a:r>
            <a:endParaRPr lang="en-US" sz="1400" dirty="0"/>
          </a:p>
        </p:txBody>
      </p:sp>
      <p:sp>
        <p:nvSpPr>
          <p:cNvPr id="16" name="Text 14"/>
          <p:cNvSpPr txBox="1"/>
          <p:nvPr/>
        </p:nvSpPr>
        <p:spPr>
          <a:xfrm>
            <a:off x="1463040" y="3483864"/>
            <a:ext cx="3017520" cy="795528"/>
          </a:xfrm>
          <a:prstGeom prst="rect">
            <a:avLst/>
          </a:prstGeom>
          <a:noFill/>
          <a:ln/>
        </p:spPr>
        <p:txBody>
          <a:bodyPr wrap="square" lIns="0" tIns="0" rIns="0" bIns="0" rtlCol="0" anchor="ctr"/>
          <a:lstStyle/>
          <a:p>
            <a:pPr indent="0" marL="0">
              <a:buNone/>
            </a:pPr>
            <a:r>
              <a:rPr lang="it-IT" altLang="en-US" sz="1600" b="1" dirty="0">
                <a:solidFill>
                  <a:schemeClr val="tx2"/>
                </a:solidFill>
              </a:rPr>
              <a:t>Confrontabilità</a:t>
            </a:r>
            <a:endParaRPr lang="it-IT" sz="1600" dirty="0"/>
          </a:p>
        </p:txBody>
      </p:sp>
      <p:sp>
        <p:nvSpPr>
          <p:cNvPr id="17" name="Text 15"/>
          <p:cNvSpPr txBox="1"/>
          <p:nvPr/>
        </p:nvSpPr>
        <p:spPr>
          <a:xfrm>
            <a:off x="4572000" y="3483864"/>
            <a:ext cx="6888175" cy="795528"/>
          </a:xfrm>
          <a:prstGeom prst="rect">
            <a:avLst/>
          </a:prstGeom>
          <a:noFill/>
          <a:ln/>
        </p:spPr>
        <p:txBody>
          <a:bodyPr wrap="square" lIns="0" tIns="0" rIns="0" bIns="0" rtlCol="0" anchor="ctr"/>
          <a:lstStyle/>
          <a:p>
            <a:pPr indent="0" marL="0">
              <a:buNone/>
            </a:pPr>
            <a:r>
              <a:rPr lang="it-IT" altLang="en-US" sz="1500" dirty="0">
                <a:solidFill>
                  <a:schemeClr val="tx1"/>
                </a:solidFill>
              </a:rPr>
              <a:t>Seed per richiesta derivato dal prompt; simulazioni intervento e controllo dallo stesso checkpoint</a:t>
            </a:r>
            <a:endParaRPr lang="it-IT" sz="1500" dirty="0"/>
          </a:p>
        </p:txBody>
      </p:sp>
      <p:sp>
        <p:nvSpPr>
          <p:cNvPr id="18" name="badge_R4"/>
          <p:cNvSpPr/>
          <p:nvPr/>
        </p:nvSpPr>
        <p:spPr>
          <a:xfrm>
            <a:off x="731520" y="4480560"/>
            <a:ext cx="502920" cy="502920"/>
          </a:xfrm>
          <a:prstGeom prst="ellipse">
            <a:avLst/>
          </a:prstGeom>
          <a:solidFill>
            <a:srgbClr val="16243A"/>
          </a:solidFill>
          <a:ln/>
        </p:spPr>
      </p:sp>
      <p:sp>
        <p:nvSpPr>
          <p:cNvPr id="19" name="Text 17"/>
          <p:cNvSpPr txBox="1"/>
          <p:nvPr/>
        </p:nvSpPr>
        <p:spPr>
          <a:xfrm>
            <a:off x="731520" y="44805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R4</a:t>
            </a:r>
            <a:endParaRPr lang="en-US" sz="1400" dirty="0"/>
          </a:p>
        </p:txBody>
      </p:sp>
      <p:sp>
        <p:nvSpPr>
          <p:cNvPr id="20" name="Text 18"/>
          <p:cNvSpPr txBox="1"/>
          <p:nvPr/>
        </p:nvSpPr>
        <p:spPr>
          <a:xfrm>
            <a:off x="1463040" y="4334256"/>
            <a:ext cx="3017520" cy="795528"/>
          </a:xfrm>
          <a:prstGeom prst="rect">
            <a:avLst/>
          </a:prstGeom>
          <a:noFill/>
          <a:ln/>
        </p:spPr>
        <p:txBody>
          <a:bodyPr wrap="square" lIns="0" tIns="0" rIns="0" bIns="0" rtlCol="0" anchor="ctr"/>
          <a:lstStyle/>
          <a:p>
            <a:pPr indent="0" marL="0">
              <a:buNone/>
            </a:pPr>
            <a:r>
              <a:rPr lang="it-IT" altLang="en-US" sz="1600" b="1" dirty="0">
                <a:solidFill>
                  <a:schemeClr val="tx2"/>
                </a:solidFill>
              </a:rPr>
              <a:t>Resilienza</a:t>
            </a:r>
            <a:endParaRPr lang="it-IT" sz="1600" dirty="0"/>
          </a:p>
        </p:txBody>
      </p:sp>
      <p:sp>
        <p:nvSpPr>
          <p:cNvPr id="21" name="Text 19"/>
          <p:cNvSpPr txBox="1"/>
          <p:nvPr/>
        </p:nvSpPr>
        <p:spPr>
          <a:xfrm>
            <a:off x="4572000" y="4334256"/>
            <a:ext cx="6888175" cy="795528"/>
          </a:xfrm>
          <a:prstGeom prst="rect">
            <a:avLst/>
          </a:prstGeom>
          <a:noFill/>
          <a:ln/>
        </p:spPr>
        <p:txBody>
          <a:bodyPr wrap="square" lIns="0" tIns="0" rIns="0" bIns="0" rtlCol="0" anchor="ctr"/>
          <a:lstStyle/>
          <a:p>
            <a:pPr indent="0" marL="0">
              <a:buNone/>
            </a:pPr>
            <a:r>
              <a:rPr lang="it-IT" altLang="en-US" sz="1500" dirty="0">
                <a:solidFill>
                  <a:schemeClr val="tx1"/>
                </a:solidFill>
              </a:rPr>
              <a:t>Checkpoint completo per step, incluso lo stato di Adam; soglie funzione di (seed, nodo)</a:t>
            </a:r>
            <a:endParaRPr lang="it-IT" sz="1500" dirty="0"/>
          </a:p>
        </p:txBody>
      </p:sp>
      <p:sp>
        <p:nvSpPr>
          <p:cNvPr id="22" name="riga_R5"/>
          <p:cNvSpPr/>
          <p:nvPr/>
        </p:nvSpPr>
        <p:spPr>
          <a:xfrm>
            <a:off x="548640" y="5184648"/>
            <a:ext cx="11094415" cy="795528"/>
          </a:xfrm>
          <a:prstGeom prst="rect">
            <a:avLst/>
          </a:prstGeom>
          <a:solidFill>
            <a:schemeClr val="bg2"/>
          </a:solidFill>
          <a:ln/>
        </p:spPr>
      </p:sp>
      <p:sp>
        <p:nvSpPr>
          <p:cNvPr id="23" name="badge_R5"/>
          <p:cNvSpPr/>
          <p:nvPr/>
        </p:nvSpPr>
        <p:spPr>
          <a:xfrm>
            <a:off x="731520" y="5330952"/>
            <a:ext cx="502920" cy="502920"/>
          </a:xfrm>
          <a:prstGeom prst="ellipse">
            <a:avLst/>
          </a:prstGeom>
          <a:solidFill>
            <a:srgbClr val="16243A"/>
          </a:solidFill>
          <a:ln/>
        </p:spPr>
      </p:sp>
      <p:sp>
        <p:nvSpPr>
          <p:cNvPr id="24" name="Text 22"/>
          <p:cNvSpPr txBox="1"/>
          <p:nvPr/>
        </p:nvSpPr>
        <p:spPr>
          <a:xfrm>
            <a:off x="731520" y="5330952"/>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R5</a:t>
            </a:r>
            <a:endParaRPr lang="en-US" sz="1400" dirty="0"/>
          </a:p>
        </p:txBody>
      </p:sp>
      <p:sp>
        <p:nvSpPr>
          <p:cNvPr id="25" name="Text 23"/>
          <p:cNvSpPr txBox="1"/>
          <p:nvPr/>
        </p:nvSpPr>
        <p:spPr>
          <a:xfrm>
            <a:off x="1463040" y="5184648"/>
            <a:ext cx="3017520" cy="795528"/>
          </a:xfrm>
          <a:prstGeom prst="rect">
            <a:avLst/>
          </a:prstGeom>
          <a:noFill/>
          <a:ln/>
        </p:spPr>
        <p:txBody>
          <a:bodyPr wrap="square" lIns="0" tIns="0" rIns="0" bIns="0" rtlCol="0" anchor="ctr"/>
          <a:lstStyle/>
          <a:p>
            <a:pPr indent="0" marL="0">
              <a:buNone/>
            </a:pPr>
            <a:r>
              <a:rPr lang="it-IT" altLang="en-US" sz="1600" b="1" dirty="0">
                <a:solidFill>
                  <a:schemeClr val="tx2"/>
                </a:solidFill>
              </a:rPr>
              <a:t>Misurabilità</a:t>
            </a:r>
            <a:endParaRPr lang="it-IT" sz="1600" dirty="0"/>
          </a:p>
        </p:txBody>
      </p:sp>
      <p:sp>
        <p:nvSpPr>
          <p:cNvPr id="26" name="Text 24"/>
          <p:cNvSpPr txBox="1"/>
          <p:nvPr/>
        </p:nvSpPr>
        <p:spPr>
          <a:xfrm>
            <a:off x="4572000" y="5184648"/>
            <a:ext cx="6888175" cy="795528"/>
          </a:xfrm>
          <a:prstGeom prst="rect">
            <a:avLst/>
          </a:prstGeom>
          <a:noFill/>
          <a:ln/>
        </p:spPr>
        <p:txBody>
          <a:bodyPr wrap="square" lIns="0" tIns="0" rIns="0" bIns="0" rtlCol="0" anchor="ctr"/>
          <a:lstStyle/>
          <a:p>
            <a:pPr indent="0" marL="0">
              <a:buNone/>
            </a:pPr>
            <a:r>
              <a:rPr lang="it-IT" altLang="en-US" sz="1500" dirty="0">
                <a:solidFill>
                  <a:schemeClr val="tx1"/>
                </a:solidFill>
              </a:rPr>
              <a:t>Partizione comunitaria fissata allo step 0; metriche strutturali e di opinione affiancate</a:t>
            </a:r>
            <a:endParaRPr lang="it-IT"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Lo step co-evolutivo</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Aggiornamento sincrono: tutti gli agenti attivi leggono la stessa istantanea dello stato</a:t>
            </a:r>
            <a:endParaRPr lang="it-IT" sz="1800" dirty="0"/>
          </a:p>
        </p:txBody>
      </p:sp>
      <p:sp>
        <p:nvSpPr>
          <p:cNvPr id="4" name="fase_0"/>
          <p:cNvSpPr/>
          <p:nvPr/>
        </p:nvSpPr>
        <p:spPr>
          <a:xfrm>
            <a:off x="548640" y="1920240"/>
            <a:ext cx="1645920" cy="2560320"/>
          </a:xfrm>
          <a:prstGeom prst="roundRect">
            <a:avLst>
              <a:gd name="adj" fmla="val 4444"/>
            </a:avLst>
          </a:prstGeom>
          <a:solidFill>
            <a:schemeClr val="bg2"/>
          </a:solidFill>
          <a:ln/>
        </p:spPr>
      </p:sp>
      <p:sp>
        <p:nvSpPr>
          <p:cNvPr id="5" name="num_0"/>
          <p:cNvSpPr/>
          <p:nvPr/>
        </p:nvSpPr>
        <p:spPr>
          <a:xfrm>
            <a:off x="731520" y="2103120"/>
            <a:ext cx="457200" cy="457200"/>
          </a:xfrm>
          <a:prstGeom prst="ellipse">
            <a:avLst/>
          </a:prstGeom>
          <a:solidFill>
            <a:srgbClr val="16243A"/>
          </a:solidFill>
          <a:ln/>
        </p:spPr>
      </p:sp>
      <p:sp>
        <p:nvSpPr>
          <p:cNvPr id="6" name="Text 4"/>
          <p:cNvSpPr txBox="1"/>
          <p:nvPr/>
        </p:nvSpPr>
        <p:spPr>
          <a:xfrm>
            <a:off x="731520" y="21031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731520" y="2697480"/>
            <a:ext cx="1325880" cy="411480"/>
          </a:xfrm>
          <a:prstGeom prst="rect">
            <a:avLst/>
          </a:prstGeom>
          <a:noFill/>
          <a:ln/>
        </p:spPr>
        <p:txBody>
          <a:bodyPr wrap="square" lIns="0" tIns="0" rIns="0" bIns="0" rtlCol="0" anchor="t"/>
          <a:lstStyle/>
          <a:p>
            <a:pPr indent="0" marL="0">
              <a:buNone/>
            </a:pPr>
            <a:r>
              <a:rPr lang="it-IT" altLang="en-US" sz="1600" b="1" dirty="0">
                <a:solidFill>
                  <a:schemeClr val="tx2"/>
                </a:solidFill>
              </a:rPr>
              <a:t>Attivazione</a:t>
            </a:r>
            <a:endParaRPr lang="it-IT" sz="1600" dirty="0"/>
          </a:p>
        </p:txBody>
      </p:sp>
      <p:sp>
        <p:nvSpPr>
          <p:cNvPr id="8" name="Text 6"/>
          <p:cNvSpPr txBox="1"/>
          <p:nvPr/>
        </p:nvSpPr>
        <p:spPr>
          <a:xfrm>
            <a:off x="731520" y="3154680"/>
            <a:ext cx="1325880" cy="1280160"/>
          </a:xfrm>
          <a:prstGeom prst="rect">
            <a:avLst/>
          </a:prstGeom>
          <a:noFill/>
          <a:ln/>
        </p:spPr>
        <p:txBody>
          <a:bodyPr wrap="square" lIns="0" tIns="0" rIns="0" bIns="0" rtlCol="0" anchor="t"/>
          <a:lstStyle/>
          <a:p>
            <a:pPr indent="0" marL="0">
              <a:buNone/>
            </a:pPr>
            <a:r>
              <a:rPr lang="it-IT" altLang="en-US" sz="1400" dirty="0">
                <a:solidFill>
                  <a:schemeClr val="tx1"/>
                </a:solidFill>
              </a:rPr>
              <a:t>15% dei nodi estratti a caso (750)</a:t>
            </a:r>
            <a:endParaRPr lang="it-IT" sz="1400" dirty="0"/>
          </a:p>
        </p:txBody>
      </p:sp>
      <p:sp>
        <p:nvSpPr>
          <p:cNvPr id="9" name="Shape 7"/>
          <p:cNvSpPr/>
          <p:nvPr/>
        </p:nvSpPr>
        <p:spPr>
          <a:xfrm>
            <a:off x="2212848" y="3063240"/>
            <a:ext cx="207203" cy="274320"/>
          </a:xfrm>
          <a:prstGeom prst="rightArrow">
            <a:avLst/>
          </a:prstGeom>
          <a:solidFill>
            <a:srgbClr val="A0AEC0"/>
          </a:solidFill>
          <a:ln/>
        </p:spPr>
      </p:sp>
      <p:sp>
        <p:nvSpPr>
          <p:cNvPr id="10" name="fase_1"/>
          <p:cNvSpPr/>
          <p:nvPr/>
        </p:nvSpPr>
        <p:spPr>
          <a:xfrm>
            <a:off x="2438339" y="1920240"/>
            <a:ext cx="1645920" cy="2560320"/>
          </a:xfrm>
          <a:prstGeom prst="roundRect">
            <a:avLst>
              <a:gd name="adj" fmla="val 4444"/>
            </a:avLst>
          </a:prstGeom>
          <a:solidFill>
            <a:schemeClr val="bg2"/>
          </a:solidFill>
          <a:ln/>
        </p:spPr>
      </p:sp>
      <p:sp>
        <p:nvSpPr>
          <p:cNvPr id="11" name="num_1"/>
          <p:cNvSpPr/>
          <p:nvPr/>
        </p:nvSpPr>
        <p:spPr>
          <a:xfrm>
            <a:off x="2621219" y="2103120"/>
            <a:ext cx="457200" cy="457200"/>
          </a:xfrm>
          <a:prstGeom prst="ellipse">
            <a:avLst/>
          </a:prstGeom>
          <a:solidFill>
            <a:srgbClr val="2B6CB0"/>
          </a:solidFill>
          <a:ln/>
        </p:spPr>
      </p:sp>
      <p:sp>
        <p:nvSpPr>
          <p:cNvPr id="12" name="Text 10"/>
          <p:cNvSpPr txBox="1"/>
          <p:nvPr/>
        </p:nvSpPr>
        <p:spPr>
          <a:xfrm>
            <a:off x="2621219" y="21031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1"/>
          <p:cNvSpPr txBox="1"/>
          <p:nvPr/>
        </p:nvSpPr>
        <p:spPr>
          <a:xfrm>
            <a:off x="2621219" y="2697480"/>
            <a:ext cx="1325880" cy="411480"/>
          </a:xfrm>
          <a:prstGeom prst="rect">
            <a:avLst/>
          </a:prstGeom>
          <a:noFill/>
          <a:ln/>
        </p:spPr>
        <p:txBody>
          <a:bodyPr wrap="square" lIns="0" tIns="0" rIns="0" bIns="0" rtlCol="0" anchor="t"/>
          <a:lstStyle/>
          <a:p>
            <a:pPr indent="0" marL="0">
              <a:buNone/>
            </a:pPr>
            <a:r>
              <a:rPr lang="it-IT" altLang="en-US" sz="1600" b="1" dirty="0">
                <a:solidFill>
                  <a:schemeClr val="tx2"/>
                </a:solidFill>
              </a:rPr>
              <a:t>Cognizione</a:t>
            </a:r>
            <a:endParaRPr lang="it-IT" sz="1600" dirty="0"/>
          </a:p>
        </p:txBody>
      </p:sp>
      <p:sp>
        <p:nvSpPr>
          <p:cNvPr id="14" name="Text 12"/>
          <p:cNvSpPr txBox="1"/>
          <p:nvPr/>
        </p:nvSpPr>
        <p:spPr>
          <a:xfrm>
            <a:off x="2621219" y="3154680"/>
            <a:ext cx="1325880" cy="1280160"/>
          </a:xfrm>
          <a:prstGeom prst="rect">
            <a:avLst/>
          </a:prstGeom>
          <a:noFill/>
          <a:ln/>
        </p:spPr>
        <p:txBody>
          <a:bodyPr wrap="square" lIns="0" tIns="0" rIns="0" bIns="0" rtlCol="0" anchor="t"/>
          <a:lstStyle/>
          <a:p>
            <a:pPr indent="0" marL="0">
              <a:buNone/>
            </a:pPr>
            <a:r>
              <a:rPr lang="it-IT" altLang="en-US" sz="1400" dirty="0">
                <a:solidFill>
                  <a:schemeClr val="tx1"/>
                </a:solidFill>
              </a:rPr>
              <a:t>Prompt dal feed dei vicini; richieste LLM in parallelo</a:t>
            </a:r>
            <a:endParaRPr lang="it-IT" sz="1400" dirty="0"/>
          </a:p>
        </p:txBody>
      </p:sp>
      <p:sp>
        <p:nvSpPr>
          <p:cNvPr id="15" name="Shape 13"/>
          <p:cNvSpPr/>
          <p:nvPr/>
        </p:nvSpPr>
        <p:spPr>
          <a:xfrm>
            <a:off x="4102547" y="3063240"/>
            <a:ext cx="207203" cy="274320"/>
          </a:xfrm>
          <a:prstGeom prst="rightArrow">
            <a:avLst/>
          </a:prstGeom>
          <a:solidFill>
            <a:srgbClr val="A0AEC0"/>
          </a:solidFill>
          <a:ln/>
        </p:spPr>
      </p:sp>
      <p:sp>
        <p:nvSpPr>
          <p:cNvPr id="16" name="fase_2"/>
          <p:cNvSpPr/>
          <p:nvPr/>
        </p:nvSpPr>
        <p:spPr>
          <a:xfrm>
            <a:off x="4328038" y="1920240"/>
            <a:ext cx="1645920" cy="2560320"/>
          </a:xfrm>
          <a:prstGeom prst="roundRect">
            <a:avLst>
              <a:gd name="adj" fmla="val 4444"/>
            </a:avLst>
          </a:prstGeom>
          <a:solidFill>
            <a:schemeClr val="bg2"/>
          </a:solidFill>
          <a:ln/>
        </p:spPr>
      </p:sp>
      <p:sp>
        <p:nvSpPr>
          <p:cNvPr id="17" name="num_2"/>
          <p:cNvSpPr/>
          <p:nvPr/>
        </p:nvSpPr>
        <p:spPr>
          <a:xfrm>
            <a:off x="4510918" y="2103120"/>
            <a:ext cx="457200" cy="457200"/>
          </a:xfrm>
          <a:prstGeom prst="ellipse">
            <a:avLst/>
          </a:prstGeom>
          <a:solidFill>
            <a:srgbClr val="C53030"/>
          </a:solidFill>
          <a:ln/>
        </p:spPr>
      </p:sp>
      <p:sp>
        <p:nvSpPr>
          <p:cNvPr id="18" name="Text 16"/>
          <p:cNvSpPr txBox="1"/>
          <p:nvPr/>
        </p:nvSpPr>
        <p:spPr>
          <a:xfrm>
            <a:off x="4510918" y="21031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9" name="Text 17"/>
          <p:cNvSpPr txBox="1"/>
          <p:nvPr/>
        </p:nvSpPr>
        <p:spPr>
          <a:xfrm>
            <a:off x="4510918" y="2697480"/>
            <a:ext cx="1325880" cy="411480"/>
          </a:xfrm>
          <a:prstGeom prst="rect">
            <a:avLst/>
          </a:prstGeom>
          <a:noFill/>
          <a:ln/>
        </p:spPr>
        <p:txBody>
          <a:bodyPr wrap="square" lIns="0" tIns="0" rIns="0" bIns="0" rtlCol="0" anchor="t"/>
          <a:lstStyle/>
          <a:p>
            <a:pPr indent="0" marL="0">
              <a:buNone/>
            </a:pPr>
            <a:r>
              <a:rPr lang="it-IT" altLang="en-US" sz="1600" b="1" dirty="0">
                <a:solidFill>
                  <a:schemeClr val="tx2"/>
                </a:solidFill>
              </a:rPr>
              <a:t>Transizione</a:t>
            </a:r>
            <a:endParaRPr lang="it-IT" sz="1600" dirty="0"/>
          </a:p>
        </p:txBody>
      </p:sp>
      <p:sp>
        <p:nvSpPr>
          <p:cNvPr id="20" name="Text 18"/>
          <p:cNvSpPr txBox="1"/>
          <p:nvPr/>
        </p:nvSpPr>
        <p:spPr>
          <a:xfrm>
            <a:off x="4510918" y="3154680"/>
            <a:ext cx="1325880" cy="1280160"/>
          </a:xfrm>
          <a:prstGeom prst="rect">
            <a:avLst/>
          </a:prstGeom>
          <a:noFill/>
          <a:ln/>
        </p:spPr>
        <p:txBody>
          <a:bodyPr wrap="square" lIns="0" tIns="0" rIns="0" bIns="0" rtlCol="0" anchor="t"/>
          <a:lstStyle/>
          <a:p>
            <a:pPr indent="0" marL="0">
              <a:buNone/>
            </a:pPr>
            <a:r>
              <a:rPr lang="it-IT" altLang="en-US" sz="1400" dirty="0">
                <a:solidFill>
                  <a:schemeClr val="tx1"/>
                </a:solidFill>
              </a:rPr>
              <a:t>LT esteso: soglia modulata dalla suscettibilità</a:t>
            </a:r>
            <a:endParaRPr lang="it-IT" sz="1400" dirty="0"/>
          </a:p>
        </p:txBody>
      </p:sp>
      <p:sp>
        <p:nvSpPr>
          <p:cNvPr id="21" name="Shape 19"/>
          <p:cNvSpPr/>
          <p:nvPr/>
        </p:nvSpPr>
        <p:spPr>
          <a:xfrm>
            <a:off x="5992246" y="3063240"/>
            <a:ext cx="207203" cy="274320"/>
          </a:xfrm>
          <a:prstGeom prst="rightArrow">
            <a:avLst/>
          </a:prstGeom>
          <a:solidFill>
            <a:srgbClr val="A0AEC0"/>
          </a:solidFill>
          <a:ln/>
        </p:spPr>
      </p:sp>
      <p:sp>
        <p:nvSpPr>
          <p:cNvPr id="22" name="fase_3"/>
          <p:cNvSpPr/>
          <p:nvPr/>
        </p:nvSpPr>
        <p:spPr>
          <a:xfrm>
            <a:off x="6217737" y="1920240"/>
            <a:ext cx="1645920" cy="2560320"/>
          </a:xfrm>
          <a:prstGeom prst="roundRect">
            <a:avLst>
              <a:gd name="adj" fmla="val 4444"/>
            </a:avLst>
          </a:prstGeom>
          <a:solidFill>
            <a:schemeClr val="bg2"/>
          </a:solidFill>
          <a:ln/>
        </p:spPr>
      </p:sp>
      <p:sp>
        <p:nvSpPr>
          <p:cNvPr id="23" name="num_3"/>
          <p:cNvSpPr/>
          <p:nvPr/>
        </p:nvSpPr>
        <p:spPr>
          <a:xfrm>
            <a:off x="6400617" y="2103120"/>
            <a:ext cx="457200" cy="457200"/>
          </a:xfrm>
          <a:prstGeom prst="ellipse">
            <a:avLst/>
          </a:prstGeom>
          <a:solidFill>
            <a:srgbClr val="DD6B20"/>
          </a:solidFill>
          <a:ln/>
        </p:spPr>
      </p:sp>
      <p:sp>
        <p:nvSpPr>
          <p:cNvPr id="24" name="Text 22"/>
          <p:cNvSpPr txBox="1"/>
          <p:nvPr/>
        </p:nvSpPr>
        <p:spPr>
          <a:xfrm>
            <a:off x="6400617" y="21031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5" name="Text 23"/>
          <p:cNvSpPr txBox="1"/>
          <p:nvPr/>
        </p:nvSpPr>
        <p:spPr>
          <a:xfrm>
            <a:off x="6400617" y="2697480"/>
            <a:ext cx="1325880" cy="411480"/>
          </a:xfrm>
          <a:prstGeom prst="rect">
            <a:avLst/>
          </a:prstGeom>
          <a:noFill/>
          <a:ln/>
        </p:spPr>
        <p:txBody>
          <a:bodyPr wrap="square" lIns="0" tIns="0" rIns="0" bIns="0" rtlCol="0" anchor="t"/>
          <a:lstStyle/>
          <a:p>
            <a:pPr indent="0" marL="0">
              <a:buNone/>
            </a:pPr>
            <a:r>
              <a:rPr lang="it-IT" altLang="en-US" sz="1600" b="1" dirty="0">
                <a:solidFill>
                  <a:schemeClr val="tx2"/>
                </a:solidFill>
              </a:rPr>
              <a:t>Perturbazione</a:t>
            </a:r>
            <a:endParaRPr lang="it-IT" sz="1600" dirty="0"/>
          </a:p>
        </p:txBody>
      </p:sp>
      <p:sp>
        <p:nvSpPr>
          <p:cNvPr id="26" name="Text 24"/>
          <p:cNvSpPr txBox="1"/>
          <p:nvPr/>
        </p:nvSpPr>
        <p:spPr>
          <a:xfrm>
            <a:off x="6400617" y="3154680"/>
            <a:ext cx="1325880" cy="1280160"/>
          </a:xfrm>
          <a:prstGeom prst="rect">
            <a:avLst/>
          </a:prstGeom>
          <a:noFill/>
          <a:ln/>
        </p:spPr>
        <p:txBody>
          <a:bodyPr wrap="square" lIns="0" tIns="0" rIns="0" bIns="0" rtlCol="0" anchor="t"/>
          <a:lstStyle/>
          <a:p>
            <a:pPr indent="0" marL="0">
              <a:buNone/>
            </a:pPr>
            <a:r>
              <a:rPr lang="it-IT" altLang="en-US" sz="1400" dirty="0">
                <a:solidFill>
                  <a:schemeClr val="tx1"/>
                </a:solidFill>
              </a:rPr>
              <a:t>Embedding spostati lungo la direzione dello stato</a:t>
            </a:r>
            <a:endParaRPr lang="it-IT" sz="1400" dirty="0"/>
          </a:p>
        </p:txBody>
      </p:sp>
      <p:sp>
        <p:nvSpPr>
          <p:cNvPr id="27" name="Shape 25"/>
          <p:cNvSpPr/>
          <p:nvPr/>
        </p:nvSpPr>
        <p:spPr>
          <a:xfrm>
            <a:off x="7881945" y="3063240"/>
            <a:ext cx="207203" cy="274320"/>
          </a:xfrm>
          <a:prstGeom prst="rightArrow">
            <a:avLst/>
          </a:prstGeom>
          <a:solidFill>
            <a:srgbClr val="A0AEC0"/>
          </a:solidFill>
          <a:ln/>
        </p:spPr>
      </p:sp>
      <p:sp>
        <p:nvSpPr>
          <p:cNvPr id="28" name="fase_4"/>
          <p:cNvSpPr/>
          <p:nvPr/>
        </p:nvSpPr>
        <p:spPr>
          <a:xfrm>
            <a:off x="8107436" y="1920240"/>
            <a:ext cx="1645920" cy="2560320"/>
          </a:xfrm>
          <a:prstGeom prst="roundRect">
            <a:avLst>
              <a:gd name="adj" fmla="val 4444"/>
            </a:avLst>
          </a:prstGeom>
          <a:solidFill>
            <a:schemeClr val="bg2"/>
          </a:solidFill>
          <a:ln/>
        </p:spPr>
      </p:sp>
      <p:sp>
        <p:nvSpPr>
          <p:cNvPr id="29" name="num_4"/>
          <p:cNvSpPr/>
          <p:nvPr/>
        </p:nvSpPr>
        <p:spPr>
          <a:xfrm>
            <a:off x="8290316" y="2103120"/>
            <a:ext cx="457200" cy="457200"/>
          </a:xfrm>
          <a:prstGeom prst="ellipse">
            <a:avLst/>
          </a:prstGeom>
          <a:solidFill>
            <a:srgbClr val="553C9A"/>
          </a:solidFill>
          <a:ln/>
        </p:spPr>
      </p:sp>
      <p:sp>
        <p:nvSpPr>
          <p:cNvPr id="30" name="Text 28"/>
          <p:cNvSpPr txBox="1"/>
          <p:nvPr/>
        </p:nvSpPr>
        <p:spPr>
          <a:xfrm>
            <a:off x="8290316" y="21031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31" name="Text 29"/>
          <p:cNvSpPr txBox="1"/>
          <p:nvPr/>
        </p:nvSpPr>
        <p:spPr>
          <a:xfrm>
            <a:off x="8290316" y="2697480"/>
            <a:ext cx="1325880" cy="411480"/>
          </a:xfrm>
          <a:prstGeom prst="rect">
            <a:avLst/>
          </a:prstGeom>
          <a:noFill/>
          <a:ln/>
        </p:spPr>
        <p:txBody>
          <a:bodyPr wrap="square" lIns="0" tIns="0" rIns="0" bIns="0" rtlCol="0" anchor="t"/>
          <a:lstStyle/>
          <a:p>
            <a:pPr indent="0" marL="0">
              <a:buNone/>
            </a:pPr>
            <a:r>
              <a:rPr lang="it-IT" altLang="en-US" sz="1600" b="1" dirty="0">
                <a:solidFill>
                  <a:schemeClr val="tx2"/>
                </a:solidFill>
              </a:rPr>
              <a:t>GraphSAGE</a:t>
            </a:r>
            <a:endParaRPr lang="it-IT" sz="1600" dirty="0"/>
          </a:p>
        </p:txBody>
      </p:sp>
      <p:sp>
        <p:nvSpPr>
          <p:cNvPr id="32" name="Text 30"/>
          <p:cNvSpPr txBox="1"/>
          <p:nvPr/>
        </p:nvSpPr>
        <p:spPr>
          <a:xfrm>
            <a:off x="8290316" y="3154680"/>
            <a:ext cx="1325880" cy="1280160"/>
          </a:xfrm>
          <a:prstGeom prst="rect">
            <a:avLst/>
          </a:prstGeom>
          <a:noFill/>
          <a:ln/>
        </p:spPr>
        <p:txBody>
          <a:bodyPr wrap="square" lIns="0" tIns="0" rIns="0" bIns="0" rtlCol="0" anchor="t"/>
          <a:lstStyle/>
          <a:p>
            <a:pPr indent="0" marL="0">
              <a:buNone/>
            </a:pPr>
            <a:r>
              <a:rPr lang="it-IT" altLang="en-US" sz="1400" dirty="0">
                <a:solidFill>
                  <a:schemeClr val="tx1"/>
                </a:solidFill>
              </a:rPr>
              <a:t>Link prediction: 15 epoche di Adam dallo step precedente</a:t>
            </a:r>
            <a:endParaRPr lang="it-IT" sz="1400" dirty="0"/>
          </a:p>
        </p:txBody>
      </p:sp>
      <p:sp>
        <p:nvSpPr>
          <p:cNvPr id="33" name="Shape 31"/>
          <p:cNvSpPr/>
          <p:nvPr/>
        </p:nvSpPr>
        <p:spPr>
          <a:xfrm>
            <a:off x="9771644" y="3063240"/>
            <a:ext cx="207203" cy="274320"/>
          </a:xfrm>
          <a:prstGeom prst="rightArrow">
            <a:avLst/>
          </a:prstGeom>
          <a:solidFill>
            <a:srgbClr val="A0AEC0"/>
          </a:solidFill>
          <a:ln/>
        </p:spPr>
      </p:sp>
      <p:sp>
        <p:nvSpPr>
          <p:cNvPr id="34" name="fase_5"/>
          <p:cNvSpPr/>
          <p:nvPr/>
        </p:nvSpPr>
        <p:spPr>
          <a:xfrm>
            <a:off x="9997135" y="1920240"/>
            <a:ext cx="1645920" cy="2560320"/>
          </a:xfrm>
          <a:prstGeom prst="roundRect">
            <a:avLst>
              <a:gd name="adj" fmla="val 4444"/>
            </a:avLst>
          </a:prstGeom>
          <a:solidFill>
            <a:schemeClr val="bg2"/>
          </a:solidFill>
          <a:ln/>
        </p:spPr>
      </p:sp>
      <p:sp>
        <p:nvSpPr>
          <p:cNvPr id="35" name="num_5"/>
          <p:cNvSpPr/>
          <p:nvPr/>
        </p:nvSpPr>
        <p:spPr>
          <a:xfrm>
            <a:off x="10180015" y="2103120"/>
            <a:ext cx="457200" cy="457200"/>
          </a:xfrm>
          <a:prstGeom prst="ellipse">
            <a:avLst/>
          </a:prstGeom>
          <a:solidFill>
            <a:srgbClr val="2F855A"/>
          </a:solidFill>
          <a:ln/>
        </p:spPr>
      </p:sp>
      <p:sp>
        <p:nvSpPr>
          <p:cNvPr id="36" name="Text 34"/>
          <p:cNvSpPr txBox="1"/>
          <p:nvPr/>
        </p:nvSpPr>
        <p:spPr>
          <a:xfrm>
            <a:off x="10180015" y="21031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7" name="Text 35"/>
          <p:cNvSpPr txBox="1"/>
          <p:nvPr/>
        </p:nvSpPr>
        <p:spPr>
          <a:xfrm>
            <a:off x="10180015" y="2697480"/>
            <a:ext cx="1325880" cy="411480"/>
          </a:xfrm>
          <a:prstGeom prst="rect">
            <a:avLst/>
          </a:prstGeom>
          <a:noFill/>
          <a:ln/>
        </p:spPr>
        <p:txBody>
          <a:bodyPr wrap="square" lIns="0" tIns="0" rIns="0" bIns="0" rtlCol="0" anchor="t"/>
          <a:lstStyle/>
          <a:p>
            <a:pPr indent="0" marL="0">
              <a:buNone/>
            </a:pPr>
            <a:r>
              <a:rPr lang="it-IT" altLang="en-US" sz="1600" b="1" dirty="0">
                <a:solidFill>
                  <a:schemeClr val="tx2"/>
                </a:solidFill>
              </a:rPr>
              <a:t>Rewiring</a:t>
            </a:r>
            <a:endParaRPr lang="it-IT" sz="1600" dirty="0"/>
          </a:p>
        </p:txBody>
      </p:sp>
      <p:sp>
        <p:nvSpPr>
          <p:cNvPr id="38" name="Text 36"/>
          <p:cNvSpPr txBox="1"/>
          <p:nvPr/>
        </p:nvSpPr>
        <p:spPr>
          <a:xfrm>
            <a:off x="10180015" y="3154680"/>
            <a:ext cx="1325880" cy="1280160"/>
          </a:xfrm>
          <a:prstGeom prst="rect">
            <a:avLst/>
          </a:prstGeom>
          <a:noFill/>
          <a:ln/>
        </p:spPr>
        <p:txBody>
          <a:bodyPr wrap="square" lIns="0" tIns="0" rIns="0" bIns="0" rtlCol="0" anchor="t"/>
          <a:lstStyle/>
          <a:p>
            <a:pPr indent="0" marL="0">
              <a:buNone/>
            </a:pPr>
            <a:r>
              <a:rPr lang="it-IT" altLang="en-US" sz="1400" dirty="0">
                <a:solidFill>
                  <a:schemeClr val="tx1"/>
                </a:solidFill>
              </a:rPr>
              <a:t>Ogni 2 step: fino a 50 scambi a densità costante</a:t>
            </a:r>
            <a:endParaRPr lang="it-IT" sz="1400" dirty="0"/>
          </a:p>
        </p:txBody>
      </p:sp>
      <p:sp>
        <p:nvSpPr>
          <p:cNvPr id="39" name="nota_guardia"/>
          <p:cNvSpPr/>
          <p:nvPr/>
        </p:nvSpPr>
        <p:spPr>
          <a:xfrm>
            <a:off x="548640" y="4846320"/>
            <a:ext cx="11094415" cy="1188720"/>
          </a:xfrm>
          <a:prstGeom prst="roundRect">
            <a:avLst>
              <a:gd name="adj" fmla="val 6154"/>
            </a:avLst>
          </a:prstGeom>
          <a:solidFill>
            <a:schemeClr val="bg2"/>
          </a:solidFill>
          <a:ln/>
        </p:spPr>
      </p:sp>
      <p:sp>
        <p:nvSpPr>
          <p:cNvPr id="40" name="Text 38"/>
          <p:cNvSpPr txBox="1"/>
          <p:nvPr/>
        </p:nvSpPr>
        <p:spPr>
          <a:xfrm>
            <a:off x="822960" y="4937760"/>
            <a:ext cx="10545775" cy="1005840"/>
          </a:xfrm>
          <a:prstGeom prst="rect">
            <a:avLst/>
          </a:prstGeom>
          <a:noFill/>
          <a:ln/>
        </p:spPr>
        <p:txBody>
          <a:bodyPr wrap="square" lIns="0" tIns="0" rIns="0" bIns="0" rtlCol="0" anchor="ctr"/>
          <a:lstStyle/>
          <a:p>
            <a:pPr indent="0" marL="0">
              <a:buNone/>
            </a:pPr>
            <a:r>
              <a:rPr lang="it-IT" altLang="en-US" sz="1500" b="1" dirty="0">
                <a:solidFill>
                  <a:schemeClr val="tx2"/>
                </a:solidFill>
              </a:rPr>
              <a:t>Controlli: </a:t>
            </a:r>
            <a:pPr indent="0" marL="0">
              <a:buNone/>
            </a:pPr>
            <a:r>
              <a:rPr lang="it-IT" altLang="en-US" sz="1500" dirty="0">
                <a:solidFill>
                  <a:schemeClr val="tx1"/>
                </a:solidFill>
              </a:rPr>
              <a:t>se oltre il 50% delle risposte LLM fallisce, lo step si interrompe prima di qualsiasi scrittura; metriche e checkpoint sono salvati a ogni step. Ordine causale: le opinioni dello step t determinano la topologia dello step t+1.</a:t>
            </a:r>
            <a:endParaRPr lang="it-IT"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Campionamento e comunità</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Si preservano le proprietà che la dinamica utilizza: coda dei gradi, clustering, comunità</a:t>
            </a:r>
            <a:endParaRPr lang="it-IT"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675120" cy="914400"/>
        </p:xfrm>
        <a:graphic>
          <a:graphicData uri="http://schemas.openxmlformats.org/drawingml/2006/table">
            <a:tbl>
              <a:tblPr/>
              <a:tblGrid>
                <a:gridCol w="2240280"/>
                <a:gridCol w="443484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Metodo</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Esito rispetto ai requisiti</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r>
              <a:tr h="475488">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Random Node</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Grado medio ridotto di ~50 volte; sottografo frammentato</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475488">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BFS da hub</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Sovrarappresenta il nucleo denso; periferia assente</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475488">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Random Walk</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Visita proporzionale al grado; dipende dal seme</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475488">
                <a:tc>
                  <a:txBody>
                    <a:bodyPr/>
                    <a:lstStyle/>
                    <a:p>
                      <a:pPr indent="0" marL="0">
                        <a:buNone/>
                      </a:pPr>
                      <a:r>
                        <a:rPr lang="en-US" sz="1300" b="1" dirty="0">
                          <a:solidFill>
                            <a:srgbClr val="1A202C"/>
                          </a:solidFill>
                          <a:latin typeface="Calibri" pitchFamily="34" charset="0"/>
                          <a:ea typeface="Calibri" pitchFamily="34" charset="-122"/>
                          <a:cs typeface="Calibri" pitchFamily="34" charset="-120"/>
                        </a:rPr>
                        <a:t>Forest Fire (adottato)</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Tra i migliori nel preservare le proprietà statiche (Leskovec e Faloutsos, 2006)</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r>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Comunità</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Motivazione</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r>
              <a:tr h="475488">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Girvan–Newman</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Costo O(m²n): non praticabile su 2.3·10⁵ nodi</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475488">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Louvain</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Limite di risoluzione; massimi locali degeneri</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475488">
                <a:tc>
                  <a:txBody>
                    <a:bodyPr/>
                    <a:lstStyle/>
                    <a:p>
                      <a:pPr indent="0" marL="0">
                        <a:buNone/>
                      </a:pPr>
                      <a:r>
                        <a:rPr lang="en-US" sz="1300" b="1" dirty="0">
                          <a:solidFill>
                            <a:srgbClr val="1A202C"/>
                          </a:solidFill>
                          <a:latin typeface="Calibri" pitchFamily="34" charset="0"/>
                          <a:ea typeface="Calibri" pitchFamily="34" charset="-122"/>
                          <a:cs typeface="Calibri" pitchFamily="34" charset="-120"/>
                        </a:rPr>
                        <a:t>Label Propagation (adottato)</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Quasi lineare, senza parametri; non determinismo neutralizzato dalla cache</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r>
            </a:tbl>
          </a:graphicData>
        </a:graphic>
      </p:graphicFrame>
      <p:sp>
        <p:nvSpPr>
          <p:cNvPr id="5" name="Text 2"/>
          <p:cNvSpPr txBox="1"/>
          <p:nvPr/>
        </p:nvSpPr>
        <p:spPr>
          <a:xfrm>
            <a:off x="7680960" y="1691640"/>
            <a:ext cx="3962095" cy="777240"/>
          </a:xfrm>
          <a:prstGeom prst="rect">
            <a:avLst/>
          </a:prstGeom>
          <a:noFill/>
          <a:ln/>
        </p:spPr>
        <p:txBody>
          <a:bodyPr wrap="square" lIns="0" tIns="0" rIns="0" bIns="0" rtlCol="0" anchor="b"/>
          <a:lstStyle/>
          <a:p>
            <a:pPr indent="0" marL="0">
              <a:buNone/>
            </a:pPr>
            <a:r>
              <a:rPr lang="it-IT" altLang="en-US" sz="4400" b="1" dirty="0">
                <a:solidFill>
                  <a:srgbClr val="2F855A"/>
                </a:solidFill>
                <a:latin typeface="Cambria" pitchFamily="34" charset="0"/>
                <a:ea typeface="Cambria" pitchFamily="34" charset="-122"/>
                <a:cs typeface="Cambria" pitchFamily="34" charset="-120"/>
              </a:rPr>
              <a:t>−3.0%</a:t>
            </a:r>
            <a:endParaRPr lang="it-IT" sz="4400" dirty="0"/>
          </a:p>
        </p:txBody>
      </p:sp>
      <p:sp>
        <p:nvSpPr>
          <p:cNvPr id="6" name="Text 3"/>
          <p:cNvSpPr txBox="1"/>
          <p:nvPr/>
        </p:nvSpPr>
        <p:spPr>
          <a:xfrm>
            <a:off x="7680960" y="2514600"/>
            <a:ext cx="3962095" cy="685800"/>
          </a:xfrm>
          <a:prstGeom prst="rect">
            <a:avLst/>
          </a:prstGeom>
          <a:noFill/>
          <a:ln/>
        </p:spPr>
        <p:txBody>
          <a:bodyPr wrap="square" lIns="0" tIns="0" rIns="0" bIns="0" rtlCol="0" anchor="t"/>
          <a:lstStyle/>
          <a:p>
            <a:pPr indent="0" marL="0">
              <a:buNone/>
            </a:pPr>
            <a:r>
              <a:rPr lang="it-IT" altLang="en-US" sz="1300" dirty="0">
                <a:solidFill>
                  <a:srgbClr val="4A5568"/>
                </a:solidFill>
              </a:rPr>
              <a:t>scostamento del clustering medio (0.720 → 0.699)</a:t>
            </a:r>
            <a:endParaRPr lang="it-IT" sz="1300" dirty="0"/>
          </a:p>
        </p:txBody>
      </p:sp>
      <p:sp>
        <p:nvSpPr>
          <p:cNvPr id="7" name="Text 4"/>
          <p:cNvSpPr txBox="1"/>
          <p:nvPr/>
        </p:nvSpPr>
        <p:spPr>
          <a:xfrm>
            <a:off x="7680960" y="3200400"/>
            <a:ext cx="3962095" cy="777240"/>
          </a:xfrm>
          <a:prstGeom prst="rect">
            <a:avLst/>
          </a:prstGeom>
          <a:noFill/>
          <a:ln/>
        </p:spPr>
        <p:txBody>
          <a:bodyPr wrap="square" lIns="0" tIns="0" rIns="0" bIns="0" rtlCol="0" anchor="b"/>
          <a:lstStyle/>
          <a:p>
            <a:pPr indent="0" marL="0">
              <a:buNone/>
            </a:pPr>
            <a:r>
              <a:rPr lang="it-IT" altLang="en-US" sz="4400" b="1" dirty="0">
                <a:solidFill>
                  <a:srgbClr val="553C9A"/>
                </a:solidFill>
                <a:latin typeface="Cambria" pitchFamily="34" charset="0"/>
                <a:ea typeface="Cambria" pitchFamily="34" charset="-122"/>
                <a:cs typeface="Cambria" pitchFamily="34" charset="-120"/>
              </a:rPr>
              <a:t>0.8265</a:t>
            </a:r>
            <a:endParaRPr lang="it-IT" sz="4400" dirty="0"/>
          </a:p>
        </p:txBody>
      </p:sp>
      <p:sp>
        <p:nvSpPr>
          <p:cNvPr id="8" name="Text 5"/>
          <p:cNvSpPr txBox="1"/>
          <p:nvPr/>
        </p:nvSpPr>
        <p:spPr>
          <a:xfrm>
            <a:off x="7680960" y="4023360"/>
            <a:ext cx="3962095" cy="685800"/>
          </a:xfrm>
          <a:prstGeom prst="rect">
            <a:avLst/>
          </a:prstGeom>
          <a:noFill/>
          <a:ln/>
        </p:spPr>
        <p:txBody>
          <a:bodyPr wrap="square" lIns="0" tIns="0" rIns="0" bIns="0" rtlCol="0" anchor="t"/>
          <a:lstStyle/>
          <a:p>
            <a:pPr indent="0" marL="0">
              <a:buNone/>
            </a:pPr>
            <a:r>
              <a:rPr lang="it-IT" altLang="en-US" sz="1300" dirty="0">
                <a:solidFill>
                  <a:srgbClr val="4A5568"/>
                </a:solidFill>
              </a:rPr>
              <a:t>modularità della partizione di riferimento (415 comunità)</a:t>
            </a:r>
            <a:endParaRPr lang="it-IT" sz="1300" dirty="0"/>
          </a:p>
        </p:txBody>
      </p:sp>
      <p:sp>
        <p:nvSpPr>
          <p:cNvPr id="9" name="Text 6"/>
          <p:cNvSpPr txBox="1"/>
          <p:nvPr/>
        </p:nvSpPr>
        <p:spPr>
          <a:xfrm>
            <a:off x="7680960" y="4709160"/>
            <a:ext cx="3962095" cy="777240"/>
          </a:xfrm>
          <a:prstGeom prst="rect">
            <a:avLst/>
          </a:prstGeom>
          <a:noFill/>
          <a:ln/>
        </p:spPr>
        <p:txBody>
          <a:bodyPr wrap="square" lIns="0" tIns="0" rIns="0" bIns="0" rtlCol="0" anchor="b"/>
          <a:lstStyle/>
          <a:p>
            <a:pPr indent="0" marL="0">
              <a:buNone/>
            </a:pPr>
            <a:r>
              <a:rPr lang="it-IT" altLang="en-US" sz="3600" b="1" dirty="0">
                <a:solidFill>
                  <a:srgbClr val="C53030"/>
                </a:solidFill>
                <a:latin typeface="Cambria" pitchFamily="34" charset="0"/>
                <a:ea typeface="Cambria" pitchFamily="34" charset="-122"/>
                <a:cs typeface="Cambria" pitchFamily="34" charset="-120"/>
              </a:rPr>
              <a:t>382 → 119</a:t>
            </a:r>
            <a:endParaRPr lang="it-IT" sz="3600" dirty="0"/>
          </a:p>
        </p:txBody>
      </p:sp>
      <p:sp>
        <p:nvSpPr>
          <p:cNvPr id="10" name="Text 7"/>
          <p:cNvSpPr txBox="1"/>
          <p:nvPr/>
        </p:nvSpPr>
        <p:spPr>
          <a:xfrm>
            <a:off x="7680960" y="5532120"/>
            <a:ext cx="3962095" cy="685800"/>
          </a:xfrm>
          <a:prstGeom prst="rect">
            <a:avLst/>
          </a:prstGeom>
          <a:noFill/>
          <a:ln/>
        </p:spPr>
        <p:txBody>
          <a:bodyPr wrap="square" lIns="0" tIns="0" rIns="0" bIns="0" rtlCol="0" anchor="t"/>
          <a:lstStyle/>
          <a:p>
            <a:pPr indent="0" marL="0">
              <a:buNone/>
            </a:pPr>
            <a:r>
              <a:rPr lang="it-IT" altLang="en-US" sz="1300" dirty="0">
                <a:solidFill>
                  <a:srgbClr val="4A5568"/>
                </a:solidFill>
              </a:rPr>
              <a:t>grado massimo: la coda dei gradi è troncata</a:t>
            </a:r>
            <a:endParaRPr lang="it-IT"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Diffusione: un modello a soglia esteso</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L'adozione di un'opinione è un contagio complesso: richiede il rinforzo di più vicini</a:t>
            </a:r>
            <a:endParaRPr lang="it-IT" sz="1800" dirty="0"/>
          </a:p>
        </p:txBody>
      </p:sp>
      <p:sp>
        <p:nvSpPr>
          <p:cNvPr id="4" name="alt_0"/>
          <p:cNvSpPr/>
          <p:nvPr/>
        </p:nvSpPr>
        <p:spPr>
          <a:xfrm>
            <a:off x="548640" y="1783080"/>
            <a:ext cx="5394960" cy="960120"/>
          </a:xfrm>
          <a:prstGeom prst="roundRect">
            <a:avLst>
              <a:gd name="adj" fmla="val 7619"/>
            </a:avLst>
          </a:prstGeom>
          <a:solidFill>
            <a:schemeClr val="bg2"/>
          </a:solidFill>
          <a:ln/>
        </p:spPr>
      </p:sp>
      <p:sp>
        <p:nvSpPr>
          <p:cNvPr id="5" name="esito_0"/>
          <p:cNvSpPr/>
          <p:nvPr/>
        </p:nvSpPr>
        <p:spPr>
          <a:xfrm>
            <a:off x="749808" y="2057400"/>
            <a:ext cx="411480" cy="411480"/>
          </a:xfrm>
          <a:prstGeom prst="ellipse">
            <a:avLst/>
          </a:prstGeom>
          <a:solidFill>
            <a:srgbClr val="A0AEC0"/>
          </a:solidFill>
          <a:ln/>
        </p:spPr>
      </p:sp>
      <p:sp>
        <p:nvSpPr>
          <p:cNvPr id="6" name="Text 4"/>
          <p:cNvSpPr txBox="1"/>
          <p:nvPr/>
        </p:nvSpPr>
        <p:spPr>
          <a:xfrm>
            <a:off x="749808" y="20574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 name="Text 5"/>
          <p:cNvSpPr txBox="1"/>
          <p:nvPr/>
        </p:nvSpPr>
        <p:spPr>
          <a:xfrm>
            <a:off x="1371600" y="1874520"/>
            <a:ext cx="4389120" cy="365760"/>
          </a:xfrm>
          <a:prstGeom prst="rect">
            <a:avLst/>
          </a:prstGeom>
          <a:noFill/>
          <a:ln/>
        </p:spPr>
        <p:txBody>
          <a:bodyPr wrap="square" lIns="0" tIns="0" rIns="0" bIns="0" rtlCol="0" anchor="t"/>
          <a:lstStyle/>
          <a:p>
            <a:pPr indent="0" marL="0">
              <a:buNone/>
            </a:pPr>
            <a:r>
              <a:rPr lang="it-IT" altLang="en-US" sz="1600" b="1" dirty="0">
                <a:solidFill>
                  <a:schemeClr val="tx2"/>
                </a:solidFill>
              </a:rPr>
              <a:t>Independent Cascade</a:t>
            </a:r>
            <a:endParaRPr lang="it-IT" sz="1600" dirty="0"/>
          </a:p>
        </p:txBody>
      </p:sp>
      <p:sp>
        <p:nvSpPr>
          <p:cNvPr id="8" name="Text 6"/>
          <p:cNvSpPr txBox="1"/>
          <p:nvPr/>
        </p:nvSpPr>
        <p:spPr>
          <a:xfrm>
            <a:off x="1371600" y="2258568"/>
            <a:ext cx="4389120" cy="411480"/>
          </a:xfrm>
          <a:prstGeom prst="rect">
            <a:avLst/>
          </a:prstGeom>
          <a:noFill/>
          <a:ln/>
        </p:spPr>
        <p:txBody>
          <a:bodyPr wrap="square" lIns="0" tIns="0" rIns="0" bIns="0" rtlCol="0" anchor="t"/>
          <a:lstStyle/>
          <a:p>
            <a:pPr indent="0" marL="0">
              <a:buNone/>
            </a:pPr>
            <a:r>
              <a:rPr lang="it-IT" altLang="en-US" sz="1400" dirty="0">
                <a:solidFill>
                  <a:schemeClr val="tx1"/>
                </a:solidFill>
              </a:rPr>
              <a:t>Contagio semplice: una sola esposizione è sufficiente</a:t>
            </a:r>
            <a:endParaRPr lang="it-IT" sz="1400" dirty="0"/>
          </a:p>
        </p:txBody>
      </p:sp>
      <p:sp>
        <p:nvSpPr>
          <p:cNvPr id="9" name="alt_1"/>
          <p:cNvSpPr/>
          <p:nvPr/>
        </p:nvSpPr>
        <p:spPr>
          <a:xfrm>
            <a:off x="548640" y="2862072"/>
            <a:ext cx="5394960" cy="960120"/>
          </a:xfrm>
          <a:prstGeom prst="roundRect">
            <a:avLst>
              <a:gd name="adj" fmla="val 7619"/>
            </a:avLst>
          </a:prstGeom>
          <a:solidFill>
            <a:schemeClr val="bg2"/>
          </a:solidFill>
          <a:ln/>
        </p:spPr>
      </p:sp>
      <p:sp>
        <p:nvSpPr>
          <p:cNvPr id="10" name="esito_1"/>
          <p:cNvSpPr/>
          <p:nvPr/>
        </p:nvSpPr>
        <p:spPr>
          <a:xfrm>
            <a:off x="749808" y="3136392"/>
            <a:ext cx="411480" cy="411480"/>
          </a:xfrm>
          <a:prstGeom prst="ellipse">
            <a:avLst/>
          </a:prstGeom>
          <a:solidFill>
            <a:srgbClr val="A0AEC0"/>
          </a:solidFill>
          <a:ln/>
        </p:spPr>
      </p:sp>
      <p:sp>
        <p:nvSpPr>
          <p:cNvPr id="11" name="Text 9"/>
          <p:cNvSpPr txBox="1"/>
          <p:nvPr/>
        </p:nvSpPr>
        <p:spPr>
          <a:xfrm>
            <a:off x="749808" y="313639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Text 10"/>
          <p:cNvSpPr txBox="1"/>
          <p:nvPr/>
        </p:nvSpPr>
        <p:spPr>
          <a:xfrm>
            <a:off x="1371600" y="2953512"/>
            <a:ext cx="4389120" cy="365760"/>
          </a:xfrm>
          <a:prstGeom prst="rect">
            <a:avLst/>
          </a:prstGeom>
          <a:noFill/>
          <a:ln/>
        </p:spPr>
        <p:txBody>
          <a:bodyPr wrap="square" lIns="0" tIns="0" rIns="0" bIns="0" rtlCol="0" anchor="t"/>
          <a:lstStyle/>
          <a:p>
            <a:pPr indent="0" marL="0">
              <a:buNone/>
            </a:pPr>
            <a:r>
              <a:rPr lang="it-IT" altLang="en-US" sz="1600" b="1" dirty="0">
                <a:solidFill>
                  <a:schemeClr val="tx2"/>
                </a:solidFill>
              </a:rPr>
              <a:t>SIR / SIRS</a:t>
            </a:r>
            <a:endParaRPr lang="it-IT" sz="1600" dirty="0"/>
          </a:p>
        </p:txBody>
      </p:sp>
      <p:sp>
        <p:nvSpPr>
          <p:cNvPr id="13" name="Text 11"/>
          <p:cNvSpPr txBox="1"/>
          <p:nvPr/>
        </p:nvSpPr>
        <p:spPr>
          <a:xfrm>
            <a:off x="1371600" y="3337560"/>
            <a:ext cx="4389120" cy="411480"/>
          </a:xfrm>
          <a:prstGeom prst="rect">
            <a:avLst/>
          </a:prstGeom>
          <a:noFill/>
          <a:ln/>
        </p:spPr>
        <p:txBody>
          <a:bodyPr wrap="square" lIns="0" tIns="0" rIns="0" bIns="0" rtlCol="0" anchor="t"/>
          <a:lstStyle/>
          <a:p>
            <a:pPr indent="0" marL="0">
              <a:buNone/>
            </a:pPr>
            <a:r>
              <a:rPr lang="it-IT" altLang="en-US" sz="1400" dirty="0">
                <a:solidFill>
                  <a:schemeClr val="tx1"/>
                </a:solidFill>
              </a:rPr>
              <a:t>Mescolamento omogeneo: la topologia non è utilizzata</a:t>
            </a:r>
            <a:endParaRPr lang="it-IT" sz="1400" dirty="0"/>
          </a:p>
        </p:txBody>
      </p:sp>
      <p:sp>
        <p:nvSpPr>
          <p:cNvPr id="14" name="alt_2"/>
          <p:cNvSpPr/>
          <p:nvPr/>
        </p:nvSpPr>
        <p:spPr>
          <a:xfrm>
            <a:off x="548640" y="3941064"/>
            <a:ext cx="5394960" cy="960120"/>
          </a:xfrm>
          <a:prstGeom prst="roundRect">
            <a:avLst>
              <a:gd name="adj" fmla="val 7619"/>
            </a:avLst>
          </a:prstGeom>
          <a:solidFill>
            <a:schemeClr val="bg2"/>
          </a:solidFill>
          <a:ln/>
        </p:spPr>
      </p:sp>
      <p:sp>
        <p:nvSpPr>
          <p:cNvPr id="15" name="esito_2"/>
          <p:cNvSpPr/>
          <p:nvPr/>
        </p:nvSpPr>
        <p:spPr>
          <a:xfrm>
            <a:off x="749808" y="4215384"/>
            <a:ext cx="411480" cy="411480"/>
          </a:xfrm>
          <a:prstGeom prst="ellipse">
            <a:avLst/>
          </a:prstGeom>
          <a:solidFill>
            <a:srgbClr val="A0AEC0"/>
          </a:solidFill>
          <a:ln/>
        </p:spPr>
      </p:sp>
      <p:sp>
        <p:nvSpPr>
          <p:cNvPr id="16" name="Text 14"/>
          <p:cNvSpPr txBox="1"/>
          <p:nvPr/>
        </p:nvSpPr>
        <p:spPr>
          <a:xfrm>
            <a:off x="749808" y="4215384"/>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7" name="Text 15"/>
          <p:cNvSpPr txBox="1"/>
          <p:nvPr/>
        </p:nvSpPr>
        <p:spPr>
          <a:xfrm>
            <a:off x="1371600" y="4032504"/>
            <a:ext cx="4389120" cy="365760"/>
          </a:xfrm>
          <a:prstGeom prst="rect">
            <a:avLst/>
          </a:prstGeom>
          <a:noFill/>
          <a:ln/>
        </p:spPr>
        <p:txBody>
          <a:bodyPr wrap="square" lIns="0" tIns="0" rIns="0" bIns="0" rtlCol="0" anchor="t"/>
          <a:lstStyle/>
          <a:p>
            <a:pPr indent="0" marL="0">
              <a:buNone/>
            </a:pPr>
            <a:r>
              <a:rPr lang="it-IT" altLang="en-US" sz="1600" b="1" dirty="0">
                <a:solidFill>
                  <a:schemeClr val="tx2"/>
                </a:solidFill>
              </a:rPr>
              <a:t>LT con soglia fissa</a:t>
            </a:r>
            <a:endParaRPr lang="it-IT" sz="1600" dirty="0"/>
          </a:p>
        </p:txBody>
      </p:sp>
      <p:sp>
        <p:nvSpPr>
          <p:cNvPr id="18" name="Text 16"/>
          <p:cNvSpPr txBox="1"/>
          <p:nvPr/>
        </p:nvSpPr>
        <p:spPr>
          <a:xfrm>
            <a:off x="1371600" y="4416552"/>
            <a:ext cx="4389120" cy="411480"/>
          </a:xfrm>
          <a:prstGeom prst="rect">
            <a:avLst/>
          </a:prstGeom>
          <a:noFill/>
          <a:ln/>
        </p:spPr>
        <p:txBody>
          <a:bodyPr wrap="square" lIns="0" tIns="0" rIns="0" bIns="0" rtlCol="0" anchor="t"/>
          <a:lstStyle/>
          <a:p>
            <a:pPr indent="0" marL="0">
              <a:buNone/>
            </a:pPr>
            <a:r>
              <a:rPr lang="it-IT" altLang="en-US" sz="1400" dirty="0">
                <a:solidFill>
                  <a:schemeClr val="tx1"/>
                </a:solidFill>
              </a:rPr>
              <a:t>Eterogeneità individuale ridotta a una costante</a:t>
            </a:r>
            <a:endParaRPr lang="it-IT" sz="1400" dirty="0"/>
          </a:p>
        </p:txBody>
      </p:sp>
      <p:sp>
        <p:nvSpPr>
          <p:cNvPr id="19" name="alt_3"/>
          <p:cNvSpPr/>
          <p:nvPr/>
        </p:nvSpPr>
        <p:spPr>
          <a:xfrm>
            <a:off x="548640" y="5020056"/>
            <a:ext cx="5394960" cy="960120"/>
          </a:xfrm>
          <a:prstGeom prst="roundRect">
            <a:avLst>
              <a:gd name="adj" fmla="val 7619"/>
            </a:avLst>
          </a:prstGeom>
          <a:solidFill>
            <a:schemeClr val="bg2"/>
          </a:solidFill>
          <a:ln/>
        </p:spPr>
      </p:sp>
      <p:sp>
        <p:nvSpPr>
          <p:cNvPr id="20" name="esito_3"/>
          <p:cNvSpPr/>
          <p:nvPr/>
        </p:nvSpPr>
        <p:spPr>
          <a:xfrm>
            <a:off x="749808" y="5294376"/>
            <a:ext cx="411480" cy="411480"/>
          </a:xfrm>
          <a:prstGeom prst="ellipse">
            <a:avLst/>
          </a:prstGeom>
          <a:solidFill>
            <a:srgbClr val="2F855A"/>
          </a:solidFill>
          <a:ln/>
        </p:spPr>
      </p:sp>
      <p:sp>
        <p:nvSpPr>
          <p:cNvPr id="21" name="Text 19"/>
          <p:cNvSpPr txBox="1"/>
          <p:nvPr/>
        </p:nvSpPr>
        <p:spPr>
          <a:xfrm>
            <a:off x="749808" y="5294376"/>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2" name="Text 20"/>
          <p:cNvSpPr txBox="1"/>
          <p:nvPr/>
        </p:nvSpPr>
        <p:spPr>
          <a:xfrm>
            <a:off x="1371600" y="5111496"/>
            <a:ext cx="4389120" cy="365760"/>
          </a:xfrm>
          <a:prstGeom prst="rect">
            <a:avLst/>
          </a:prstGeom>
          <a:noFill/>
          <a:ln/>
        </p:spPr>
        <p:txBody>
          <a:bodyPr wrap="square" lIns="0" tIns="0" rIns="0" bIns="0" rtlCol="0" anchor="t"/>
          <a:lstStyle/>
          <a:p>
            <a:pPr indent="0" marL="0">
              <a:buNone/>
            </a:pPr>
            <a:r>
              <a:rPr lang="it-IT" altLang="en-US" sz="1600" b="1" dirty="0">
                <a:solidFill>
                  <a:schemeClr val="tx2"/>
                </a:solidFill>
              </a:rPr>
              <a:t>LT esteso con LLM (adottato)</a:t>
            </a:r>
            <a:endParaRPr lang="it-IT" sz="1600" dirty="0"/>
          </a:p>
        </p:txBody>
      </p:sp>
      <p:sp>
        <p:nvSpPr>
          <p:cNvPr id="23" name="Text 21"/>
          <p:cNvSpPr txBox="1"/>
          <p:nvPr/>
        </p:nvSpPr>
        <p:spPr>
          <a:xfrm>
            <a:off x="1371600" y="5495544"/>
            <a:ext cx="4389120" cy="411480"/>
          </a:xfrm>
          <a:prstGeom prst="rect">
            <a:avLst/>
          </a:prstGeom>
          <a:noFill/>
          <a:ln/>
        </p:spPr>
        <p:txBody>
          <a:bodyPr wrap="square" lIns="0" tIns="0" rIns="0" bIns="0" rtlCol="0" anchor="t"/>
          <a:lstStyle/>
          <a:p>
            <a:pPr indent="0" marL="0">
              <a:buNone/>
            </a:pPr>
            <a:r>
              <a:rPr lang="it-IT" altLang="en-US" sz="1400" dirty="0">
                <a:solidFill>
                  <a:schemeClr val="tx1"/>
                </a:solidFill>
              </a:rPr>
              <a:t>Soglia modulata dal contenuto letto e dal profilo dell'agente</a:t>
            </a:r>
            <a:endParaRPr lang="it-IT" sz="1400" dirty="0"/>
          </a:p>
        </p:txBody>
      </p:sp>
      <p:sp>
        <p:nvSpPr>
          <p:cNvPr id="24" name="Text 22"/>
          <p:cNvSpPr txBox="1"/>
          <p:nvPr/>
        </p:nvSpPr>
        <p:spPr>
          <a:xfrm>
            <a:off x="6400800" y="1783080"/>
            <a:ext cx="5242255" cy="365760"/>
          </a:xfrm>
          <a:prstGeom prst="rect">
            <a:avLst/>
          </a:prstGeom>
          <a:noFill/>
          <a:ln/>
        </p:spPr>
        <p:txBody>
          <a:bodyPr wrap="square" lIns="0" tIns="0" rIns="0" bIns="0" rtlCol="0" anchor="t"/>
          <a:lstStyle/>
          <a:p>
            <a:pPr indent="0" marL="0">
              <a:buNone/>
            </a:pPr>
            <a:r>
              <a:rPr lang="it-IT" altLang="en-US" sz="1800" b="1" dirty="0">
                <a:solidFill>
                  <a:schemeClr val="tx2"/>
                </a:solidFill>
                <a:latin typeface="Cambria" pitchFamily="34" charset="0"/>
                <a:ea typeface="Cambria" pitchFamily="34" charset="-122"/>
                <a:cs typeface="Cambria" pitchFamily="34" charset="-120"/>
              </a:rPr>
              <a:t>Soglia efficace</a:t>
            </a:r>
            <a:endParaRPr lang="it-IT" sz="1800" dirty="0"/>
          </a:p>
        </p:txBody>
      </p:sp>
      <p:sp>
        <p:nvSpPr>
          <p:cNvPr id="25" name="formula"/>
          <p:cNvSpPr/>
          <p:nvPr/>
        </p:nvSpPr>
        <p:spPr>
          <a:xfrm>
            <a:off x="6400800" y="2194560"/>
            <a:ext cx="5242255" cy="777240"/>
          </a:xfrm>
          <a:prstGeom prst="roundRect">
            <a:avLst>
              <a:gd name="adj" fmla="val 9412"/>
            </a:avLst>
          </a:prstGeom>
          <a:solidFill>
            <a:schemeClr val="bg2"/>
          </a:solidFill>
          <a:ln/>
        </p:spPr>
      </p:sp>
      <p:sp>
        <p:nvSpPr>
          <p:cNvPr id="26" name="Text 24"/>
          <p:cNvSpPr txBox="1"/>
          <p:nvPr/>
        </p:nvSpPr>
        <p:spPr>
          <a:xfrm>
            <a:off x="6629400" y="2194560"/>
            <a:ext cx="4785055" cy="777240"/>
          </a:xfrm>
          <a:prstGeom prst="rect">
            <a:avLst/>
          </a:prstGeom>
          <a:noFill/>
          <a:ln/>
        </p:spPr>
        <p:txBody>
          <a:bodyPr wrap="square" lIns="0" tIns="0" rIns="0" bIns="0" rtlCol="0" anchor="ctr"/>
          <a:lstStyle/>
          <a:p>
            <a:pPr indent="0" marL="0">
              <a:buNone/>
            </a:pPr>
            <a:r>
              <a:rPr lang="it-IT" altLang="en-US" sz="2000" dirty="0">
                <a:solidFill>
                  <a:schemeClr val="tx2"/>
                </a:solidFill>
                <a:latin typeface="Cambria" pitchFamily="34" charset="0"/>
                <a:ea typeface="Cambria" pitchFamily="34" charset="-122"/>
                <a:cs typeface="Cambria" pitchFamily="34" charset="-120"/>
              </a:rPr>
              <a:t>θ</a:t>
            </a:r>
            <a:pPr indent="0" marL="0">
              <a:buNone/>
            </a:pPr>
            <a:r>
              <a:rPr lang="it-IT" altLang="en-US" sz="2000" baseline="-40000" dirty="0">
                <a:solidFill>
                  <a:schemeClr val="tx2"/>
                </a:solidFill>
                <a:latin typeface="Cambria" pitchFamily="34" charset="0"/>
                <a:ea typeface="Cambria" pitchFamily="34" charset="-122"/>
                <a:cs typeface="Cambria" pitchFamily="34" charset="-120"/>
              </a:rPr>
              <a:t>eff</a:t>
            </a:r>
            <a:pPr indent="0" marL="0">
              <a:buNone/>
            </a:pPr>
            <a:r>
              <a:rPr lang="it-IT" altLang="en-US" sz="2000" dirty="0">
                <a:solidFill>
                  <a:schemeClr val="tx2"/>
                </a:solidFill>
                <a:latin typeface="Cambria" pitchFamily="34" charset="0"/>
                <a:ea typeface="Cambria" pitchFamily="34" charset="-122"/>
                <a:cs typeface="Cambria" pitchFamily="34" charset="-120"/>
              </a:rPr>
              <a:t> = θ</a:t>
            </a:r>
            <a:pPr indent="0" marL="0">
              <a:buNone/>
            </a:pPr>
            <a:r>
              <a:rPr lang="it-IT" altLang="en-US" sz="2000" baseline="-40000" dirty="0">
                <a:solidFill>
                  <a:schemeClr val="tx2"/>
                </a:solidFill>
                <a:latin typeface="Cambria" pitchFamily="34" charset="0"/>
                <a:ea typeface="Cambria" pitchFamily="34" charset="-122"/>
                <a:cs typeface="Cambria" pitchFamily="34" charset="-120"/>
              </a:rPr>
              <a:t>v</a:t>
            </a:r>
            <a:pPr indent="0" marL="0">
              <a:buNone/>
            </a:pPr>
            <a:r>
              <a:rPr lang="it-IT" altLang="en-US" sz="2000" dirty="0">
                <a:solidFill>
                  <a:schemeClr val="tx2"/>
                </a:solidFill>
                <a:latin typeface="Cambria" pitchFamily="34" charset="0"/>
                <a:ea typeface="Cambria" pitchFamily="34" charset="-122"/>
                <a:cs typeface="Cambria" pitchFamily="34" charset="-120"/>
              </a:rPr>
              <a:t> · (1.5 − s),   θ</a:t>
            </a:r>
            <a:pPr indent="0" marL="0">
              <a:buNone/>
            </a:pPr>
            <a:r>
              <a:rPr lang="it-IT" altLang="en-US" sz="2000" baseline="-40000" dirty="0">
                <a:solidFill>
                  <a:schemeClr val="tx2"/>
                </a:solidFill>
                <a:latin typeface="Cambria" pitchFamily="34" charset="0"/>
                <a:ea typeface="Cambria" pitchFamily="34" charset="-122"/>
                <a:cs typeface="Cambria" pitchFamily="34" charset="-120"/>
              </a:rPr>
              <a:t>v</a:t>
            </a:r>
            <a:pPr indent="0" marL="0">
              <a:buNone/>
            </a:pPr>
            <a:r>
              <a:rPr lang="it-IT" altLang="en-US" sz="2000" dirty="0">
                <a:solidFill>
                  <a:schemeClr val="tx2"/>
                </a:solidFill>
                <a:latin typeface="Cambria" pitchFamily="34" charset="0"/>
                <a:ea typeface="Cambria" pitchFamily="34" charset="-122"/>
                <a:cs typeface="Cambria" pitchFamily="34" charset="-120"/>
              </a:rPr>
              <a:t> ~ N(0.3, 0.1²)</a:t>
            </a:r>
            <a:endParaRPr lang="it-IT" sz="2000" dirty="0"/>
          </a:p>
        </p:txBody>
      </p:sp>
      <p:sp>
        <p:nvSpPr>
          <p:cNvPr id="27" name="Text 25"/>
          <p:cNvSpPr txBox="1"/>
          <p:nvPr/>
        </p:nvSpPr>
        <p:spPr>
          <a:xfrm>
            <a:off x="6400800" y="3154680"/>
            <a:ext cx="5242255" cy="365760"/>
          </a:xfrm>
          <a:prstGeom prst="rect">
            <a:avLst/>
          </a:prstGeom>
          <a:noFill/>
          <a:ln/>
        </p:spPr>
        <p:txBody>
          <a:bodyPr wrap="square" lIns="0" tIns="0" rIns="0" bIns="0" rtlCol="0" anchor="t"/>
          <a:lstStyle/>
          <a:p>
            <a:pPr indent="0" marL="0">
              <a:buNone/>
            </a:pPr>
            <a:r>
              <a:rPr lang="it-IT" altLang="en-US" sz="1800" b="1" dirty="0">
                <a:solidFill>
                  <a:schemeClr val="tx2"/>
                </a:solidFill>
                <a:latin typeface="Cambria" pitchFamily="34" charset="0"/>
                <a:ea typeface="Cambria" pitchFamily="34" charset="-122"/>
                <a:cs typeface="Cambria" pitchFamily="34" charset="-120"/>
              </a:rPr>
              <a:t>Regole principali</a:t>
            </a:r>
            <a:endParaRPr lang="it-IT" sz="1800" dirty="0"/>
          </a:p>
        </p:txBody>
      </p:sp>
      <p:sp>
        <p:nvSpPr>
          <p:cNvPr id="28" name="Text 26"/>
          <p:cNvSpPr txBox="1"/>
          <p:nvPr/>
        </p:nvSpPr>
        <p:spPr>
          <a:xfrm>
            <a:off x="6400800" y="3566160"/>
            <a:ext cx="5242255" cy="2651760"/>
          </a:xfrm>
          <a:prstGeom prst="rect">
            <a:avLst/>
          </a:prstGeom>
          <a:noFill/>
          <a:ln/>
        </p:spPr>
        <p:txBody>
          <a:bodyPr wrap="square" lIns="0" tIns="0" rIns="0" bIns="0" rtlCol="0" anchor="t"/>
          <a:lstStyle/>
          <a:p>
            <a:pPr marL="203200" indent="-203200">
              <a:spcAft>
                <a:spcPts val="600"/>
              </a:spcAft>
              <a:buSzPct val="100000"/>
              <a:buChar char="•"/>
            </a:pPr>
            <a:r>
              <a:rPr lang="it-IT" altLang="en-US" sz="1400" dirty="0">
                <a:solidFill>
                  <a:schemeClr val="tx1"/>
                </a:solidFill>
              </a:rPr>
              <a:t>S → I solo se f</a:t>
            </a:r>
            <a:pPr indent="0" marL="0">
              <a:buNone/>
            </a:pPr>
            <a:r>
              <a:rPr lang="it-IT" altLang="en-US" sz="1400" baseline="-40000" dirty="0">
                <a:solidFill>
                  <a:schemeClr val="tx1"/>
                </a:solidFill>
              </a:rPr>
              <a:t>I</a:t>
            </a:r>
            <a:pPr indent="0" marL="0">
              <a:buNone/>
            </a:pPr>
            <a:r>
              <a:rPr lang="it-IT" altLang="en-US" sz="1400" dirty="0">
                <a:solidFill>
                  <a:schemeClr val="tx1"/>
                </a:solidFill>
              </a:rPr>
              <a:t> ≥ θ</a:t>
            </a:r>
            <a:pPr indent="0" marL="0">
              <a:buNone/>
            </a:pPr>
            <a:r>
              <a:rPr lang="it-IT" altLang="en-US" sz="1400" baseline="-40000" dirty="0">
                <a:solidFill>
                  <a:schemeClr val="tx1"/>
                </a:solidFill>
              </a:rPr>
              <a:t>eff</a:t>
            </a:r>
            <a:pPr indent="0" marL="0">
              <a:buNone/>
            </a:pPr>
            <a:r>
              <a:rPr lang="it-IT" altLang="en-US" sz="1400" dirty="0">
                <a:solidFill>
                  <a:schemeClr val="tx1"/>
                </a:solidFill>
              </a:rPr>
              <a:t> e l'LLM propone I: la struttura è condizione necessaria, l'LLM esprime l'assenso</a:t>
            </a:r>
            <a:endParaRPr lang="it-IT" sz="1500" dirty="0"/>
          </a:p>
          <a:p>
            <a:pPr marL="203200" indent="-203200">
              <a:spcAft>
                <a:spcPts val="600"/>
              </a:spcAft>
              <a:buSzPct val="100000"/>
              <a:buChar char="•"/>
            </a:pPr>
            <a:r>
              <a:rPr lang="it-IT" altLang="en-US" sz="1400" dirty="0">
                <a:solidFill>
                  <a:schemeClr val="tx1"/>
                </a:solidFill>
              </a:rPr>
              <a:t>S → R per inoculazione se f</a:t>
            </a:r>
            <a:pPr indent="0" marL="0">
              <a:buNone/>
            </a:pPr>
            <a:r>
              <a:rPr lang="it-IT" altLang="en-US" sz="1400" baseline="-40000" dirty="0">
                <a:solidFill>
                  <a:schemeClr val="tx1"/>
                </a:solidFill>
              </a:rPr>
              <a:t>F</a:t>
            </a:r>
            <a:pPr indent="0" marL="0">
              <a:buNone/>
            </a:pPr>
            <a:r>
              <a:rPr lang="it-IT" altLang="en-US" sz="1400" dirty="0">
                <a:solidFill>
                  <a:schemeClr val="tx1"/>
                </a:solidFill>
              </a:rPr>
              <a:t> ≥ 0.10 e f</a:t>
            </a:r>
            <a:pPr indent="0" marL="0">
              <a:buNone/>
            </a:pPr>
            <a:r>
              <a:rPr lang="it-IT" altLang="en-US" sz="1400" baseline="-40000" dirty="0">
                <a:solidFill>
                  <a:schemeClr val="tx1"/>
                </a:solidFill>
              </a:rPr>
              <a:t>F</a:t>
            </a:r>
            <a:pPr indent="0" marL="0">
              <a:buNone/>
            </a:pPr>
            <a:r>
              <a:rPr lang="it-IT" altLang="en-US" sz="1400" dirty="0">
                <a:solidFill>
                  <a:schemeClr val="tx1"/>
                </a:solidFill>
              </a:rPr>
              <a:t> ≥ f</a:t>
            </a:r>
            <a:pPr indent="0" marL="0">
              <a:buNone/>
            </a:pPr>
            <a:r>
              <a:rPr lang="it-IT" altLang="en-US" sz="1400" baseline="-40000" dirty="0">
                <a:solidFill>
                  <a:schemeClr val="tx1"/>
                </a:solidFill>
              </a:rPr>
              <a:t>I</a:t>
            </a:r>
            <a:endParaRPr lang="it-IT" sz="1500" dirty="0"/>
          </a:p>
          <a:p>
            <a:pPr marL="203200" indent="-203200">
              <a:spcAft>
                <a:spcPts val="600"/>
              </a:spcAft>
              <a:buSzPct val="100000"/>
              <a:buChar char="•"/>
            </a:pPr>
            <a:r>
              <a:rPr lang="it-IT" altLang="en-US" sz="1400" dirty="0">
                <a:solidFill>
                  <a:schemeClr val="tx1"/>
                </a:solidFill>
              </a:rPr>
              <a:t>I → R se f</a:t>
            </a:r>
            <a:pPr indent="0" marL="0">
              <a:buNone/>
            </a:pPr>
            <a:r>
              <a:rPr lang="it-IT" altLang="en-US" sz="1400" baseline="-40000" dirty="0">
                <a:solidFill>
                  <a:schemeClr val="tx1"/>
                </a:solidFill>
              </a:rPr>
              <a:t>F</a:t>
            </a:r>
            <a:pPr indent="0" marL="0">
              <a:buNone/>
            </a:pPr>
            <a:r>
              <a:rPr lang="it-IT" altLang="en-US" sz="1400" dirty="0">
                <a:solidFill>
                  <a:schemeClr val="tx1"/>
                </a:solidFill>
              </a:rPr>
              <a:t> ≥ 0.25 o per autocorrezione</a:t>
            </a:r>
            <a:endParaRPr lang="it-IT" sz="1500" dirty="0"/>
          </a:p>
          <a:p>
            <a:pPr marL="203200" indent="-203200">
              <a:spcAft>
                <a:spcPts val="600"/>
              </a:spcAft>
              <a:buSzPct val="100000"/>
              <a:buChar char="•"/>
            </a:pPr>
            <a:r>
              <a:rPr lang="it-IT" altLang="en-US" sz="1400" dirty="0">
                <a:solidFill>
                  <a:schemeClr val="tx1"/>
                </a:solidFill>
              </a:rPr>
              <a:t>Ricaduta R → I rara (f</a:t>
            </a:r>
            <a:pPr indent="0" marL="0">
              <a:buNone/>
            </a:pPr>
            <a:r>
              <a:rPr lang="it-IT" altLang="en-US" sz="1400" baseline="-40000" dirty="0">
                <a:solidFill>
                  <a:schemeClr val="tx1"/>
                </a:solidFill>
              </a:rPr>
              <a:t>I</a:t>
            </a:r>
            <a:pPr indent="0" marL="0">
              <a:buNone/>
            </a:pPr>
            <a:r>
              <a:rPr lang="it-IT" altLang="en-US" sz="1400" dirty="0">
                <a:solidFill>
                  <a:schemeClr val="tx1"/>
                </a:solidFill>
              </a:rPr>
              <a:t> ≥ 0.6 e s &gt; 0.8)</a:t>
            </a:r>
            <a:endParaRPr lang="it-IT"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Link prediction con GraphSAGE</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Le opinioni raggiungono la topologia solo attraverso le feature dei nodi</a:t>
            </a:r>
            <a:endParaRPr lang="it-IT"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743200"/>
                <a:gridCol w="1280160"/>
                <a:gridCol w="1600200"/>
                <a:gridCol w="5470855"/>
              </a:tblGrid>
              <a:tr h="53035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Metodo</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Induttivo</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Usa le feature</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Limite rispetto al problema</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r>
              <a:tr h="530352">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Euristiche (vicini comuni)</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Puramente strutturali: il rewiring ignorerebbe le opinioni</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530352">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node2vec (shallow)</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Un vettore libero per nodo; riaddestramento a ogni modifica</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530352">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GCN</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parziale</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sì</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Stessa trasformazione per nodo e vicini</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530352">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GAT</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sì</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sì</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Attenzione per arco: costo superiore, non richiesta dagli obiettivi</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530352">
                <a:tc>
                  <a:txBody>
                    <a:bodyPr/>
                    <a:lstStyle/>
                    <a:p>
                      <a:pPr indent="0" marL="0">
                        <a:buNone/>
                      </a:pPr>
                      <a:r>
                        <a:rPr lang="en-US" sz="1400" b="1" dirty="0">
                          <a:solidFill>
                            <a:srgbClr val="1A202C"/>
                          </a:solidFill>
                          <a:latin typeface="Calibri" pitchFamily="34" charset="0"/>
                          <a:ea typeface="Calibri" pitchFamily="34" charset="-122"/>
                          <a:cs typeface="Calibri" pitchFamily="34" charset="-120"/>
                        </a:rPr>
                        <a:t>GraphSAGE (adottato)</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sì</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sì</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c>
                  <a:txBody>
                    <a:bodyPr/>
                    <a:lstStyle/>
                    <a:p>
                      <a:pPr indent="0" marL="0">
                        <a:buNone/>
                      </a:pPr>
                      <a:r>
                        <a:rPr lang="en-US" sz="1400" dirty="0">
                          <a:solidFill>
                            <a:srgbClr val="1A202C"/>
                          </a:solidFill>
                          <a:latin typeface="Calibri" pitchFamily="34" charset="0"/>
                          <a:ea typeface="Calibri" pitchFamily="34" charset="-122"/>
                          <a:cs typeface="Calibri" pitchFamily="34" charset="-120"/>
                        </a:rPr>
                        <a:t>Matrici distinte per nodo e vicinato; aggiornamento incrementale</a:t>
                      </a:r>
                      <a:endParaRPr lang="en-US" sz="1400" dirty="0">
                        <a:latin typeface="Calibri" charset="0"/>
                        <a:ea typeface="Calibri" charset="0"/>
                        <a:cs typeface="Calibri" charset="0"/>
                      </a:endParaRPr>
                    </a:p>
                  </a:txBody>
                  <a:tcPr marL="73152" marR="73152" marT="73152" marB="73152"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r>
            </a:tbl>
          </a:graphicData>
        </a:graphic>
      </p:graphicFrame>
      <p:sp>
        <p:nvSpPr>
          <p:cNvPr id="5" name="dettaglio_0"/>
          <p:cNvSpPr/>
          <p:nvPr/>
        </p:nvSpPr>
        <p:spPr>
          <a:xfrm>
            <a:off x="548640" y="5074920"/>
            <a:ext cx="3515258" cy="1143000"/>
          </a:xfrm>
          <a:prstGeom prst="roundRect">
            <a:avLst>
              <a:gd name="adj" fmla="val 6400"/>
            </a:avLst>
          </a:prstGeom>
          <a:solidFill>
            <a:schemeClr val="bg2"/>
          </a:solidFill>
          <a:ln/>
        </p:spPr>
      </p:sp>
      <p:sp>
        <p:nvSpPr>
          <p:cNvPr id="6" name="Text 3"/>
          <p:cNvSpPr txBox="1"/>
          <p:nvPr/>
        </p:nvSpPr>
        <p:spPr>
          <a:xfrm>
            <a:off x="777240" y="5184648"/>
            <a:ext cx="3058058" cy="365760"/>
          </a:xfrm>
          <a:prstGeom prst="rect">
            <a:avLst/>
          </a:prstGeom>
          <a:noFill/>
          <a:ln/>
        </p:spPr>
        <p:txBody>
          <a:bodyPr wrap="square" lIns="0" tIns="0" rIns="0" bIns="0" rtlCol="0" anchor="t"/>
          <a:lstStyle/>
          <a:p>
            <a:pPr indent="0" marL="0">
              <a:buNone/>
            </a:pPr>
            <a:r>
              <a:rPr lang="it-IT" altLang="en-US" sz="1500" b="1" dirty="0">
                <a:solidFill>
                  <a:schemeClr val="tx2"/>
                </a:solidFill>
              </a:rPr>
              <a:t>2 layer, aggregatore di media</a:t>
            </a:r>
            <a:endParaRPr lang="it-IT" sz="1500" dirty="0"/>
          </a:p>
        </p:txBody>
      </p:sp>
      <p:sp>
        <p:nvSpPr>
          <p:cNvPr id="7" name="Text 4"/>
          <p:cNvSpPr txBox="1"/>
          <p:nvPr/>
        </p:nvSpPr>
        <p:spPr>
          <a:xfrm>
            <a:off x="777240" y="5577840"/>
            <a:ext cx="3058058" cy="685800"/>
          </a:xfrm>
          <a:prstGeom prst="rect">
            <a:avLst/>
          </a:prstGeom>
          <a:noFill/>
          <a:ln/>
        </p:spPr>
        <p:txBody>
          <a:bodyPr wrap="square" lIns="0" tIns="0" rIns="0" bIns="0" rtlCol="0" anchor="t"/>
          <a:lstStyle/>
          <a:p>
            <a:pPr indent="0" marL="0">
              <a:buNone/>
            </a:pPr>
            <a:r>
              <a:rPr lang="it-IT" altLang="en-US" sz="1300" dirty="0">
                <a:solidFill>
                  <a:schemeClr val="tx1"/>
                </a:solidFill>
              </a:rPr>
              <a:t>hᵥ = W[zᵥ ‖ media dei vicini]; output normalizzato con scala appresa</a:t>
            </a:r>
            <a:endParaRPr lang="it-IT" sz="1300" dirty="0"/>
          </a:p>
        </p:txBody>
      </p:sp>
      <p:sp>
        <p:nvSpPr>
          <p:cNvPr id="8" name="dettaglio_1"/>
          <p:cNvSpPr/>
          <p:nvPr/>
        </p:nvSpPr>
        <p:spPr>
          <a:xfrm>
            <a:off x="4338218" y="5074920"/>
            <a:ext cx="3515258" cy="1143000"/>
          </a:xfrm>
          <a:prstGeom prst="roundRect">
            <a:avLst>
              <a:gd name="adj" fmla="val 6400"/>
            </a:avLst>
          </a:prstGeom>
          <a:solidFill>
            <a:schemeClr val="bg2"/>
          </a:solidFill>
          <a:ln/>
        </p:spPr>
      </p:sp>
      <p:sp>
        <p:nvSpPr>
          <p:cNvPr id="9" name="Text 6"/>
          <p:cNvSpPr txBox="1"/>
          <p:nvPr/>
        </p:nvSpPr>
        <p:spPr>
          <a:xfrm>
            <a:off x="4566818" y="5184648"/>
            <a:ext cx="3058058" cy="365760"/>
          </a:xfrm>
          <a:prstGeom prst="rect">
            <a:avLst/>
          </a:prstGeom>
          <a:noFill/>
          <a:ln/>
        </p:spPr>
        <p:txBody>
          <a:bodyPr wrap="square" lIns="0" tIns="0" rIns="0" bIns="0" rtlCol="0" anchor="t"/>
          <a:lstStyle/>
          <a:p>
            <a:pPr indent="0" marL="0">
              <a:buNone/>
            </a:pPr>
            <a:r>
              <a:rPr lang="it-IT" altLang="en-US" sz="1500" b="1" dirty="0">
                <a:solidFill>
                  <a:schemeClr val="tx2"/>
                </a:solidFill>
              </a:rPr>
              <a:t>Addestramento per step</a:t>
            </a:r>
            <a:endParaRPr lang="it-IT" sz="1500" dirty="0"/>
          </a:p>
        </p:txBody>
      </p:sp>
      <p:sp>
        <p:nvSpPr>
          <p:cNvPr id="10" name="Text 7"/>
          <p:cNvSpPr txBox="1"/>
          <p:nvPr/>
        </p:nvSpPr>
        <p:spPr>
          <a:xfrm>
            <a:off x="4566818" y="5577840"/>
            <a:ext cx="3058058" cy="685800"/>
          </a:xfrm>
          <a:prstGeom prst="rect">
            <a:avLst/>
          </a:prstGeom>
          <a:noFill/>
          <a:ln/>
        </p:spPr>
        <p:txBody>
          <a:bodyPr wrap="square" lIns="0" tIns="0" rIns="0" bIns="0" rtlCol="0" anchor="t"/>
          <a:lstStyle/>
          <a:p>
            <a:pPr indent="0" marL="0">
              <a:buNone/>
            </a:pPr>
            <a:r>
              <a:rPr lang="it-IT" altLang="en-US" sz="1300" dirty="0">
                <a:solidFill>
                  <a:schemeClr val="tx1"/>
                </a:solidFill>
              </a:rPr>
              <a:t>BCE su ≤ 8192 archi e altrettanti negativi; Adam, 15 epoche</a:t>
            </a:r>
            <a:endParaRPr lang="it-IT" sz="1300" dirty="0"/>
          </a:p>
        </p:txBody>
      </p:sp>
      <p:sp>
        <p:nvSpPr>
          <p:cNvPr id="11" name="dettaglio_2"/>
          <p:cNvSpPr/>
          <p:nvPr/>
        </p:nvSpPr>
        <p:spPr>
          <a:xfrm>
            <a:off x="8127797" y="5074920"/>
            <a:ext cx="3515258" cy="1143000"/>
          </a:xfrm>
          <a:prstGeom prst="roundRect">
            <a:avLst>
              <a:gd name="adj" fmla="val 6400"/>
            </a:avLst>
          </a:prstGeom>
          <a:solidFill>
            <a:schemeClr val="bg2"/>
          </a:solidFill>
          <a:ln/>
        </p:spPr>
      </p:sp>
      <p:sp>
        <p:nvSpPr>
          <p:cNvPr id="12" name="Text 9"/>
          <p:cNvSpPr txBox="1"/>
          <p:nvPr/>
        </p:nvSpPr>
        <p:spPr>
          <a:xfrm>
            <a:off x="8356397" y="5184648"/>
            <a:ext cx="3058058" cy="365760"/>
          </a:xfrm>
          <a:prstGeom prst="rect">
            <a:avLst/>
          </a:prstGeom>
          <a:noFill/>
          <a:ln/>
        </p:spPr>
        <p:txBody>
          <a:bodyPr wrap="square" lIns="0" tIns="0" rIns="0" bIns="0" rtlCol="0" anchor="t"/>
          <a:lstStyle/>
          <a:p>
            <a:pPr indent="0" marL="0">
              <a:buNone/>
            </a:pPr>
            <a:r>
              <a:rPr lang="it-IT" altLang="en-US" sz="1500" b="1" dirty="0">
                <a:solidFill>
                  <a:schemeClr val="tx2"/>
                </a:solidFill>
              </a:rPr>
              <a:t>Loss da 0.816 a 0.360</a:t>
            </a:r>
            <a:endParaRPr lang="it-IT" sz="1500" dirty="0"/>
          </a:p>
        </p:txBody>
      </p:sp>
      <p:sp>
        <p:nvSpPr>
          <p:cNvPr id="13" name="Text 10"/>
          <p:cNvSpPr txBox="1"/>
          <p:nvPr/>
        </p:nvSpPr>
        <p:spPr>
          <a:xfrm>
            <a:off x="8356397" y="5577840"/>
            <a:ext cx="3058058" cy="685800"/>
          </a:xfrm>
          <a:prstGeom prst="rect">
            <a:avLst/>
          </a:prstGeom>
          <a:noFill/>
          <a:ln/>
        </p:spPr>
        <p:txBody>
          <a:bodyPr wrap="square" lIns="0" tIns="0" rIns="0" bIns="0" rtlCol="0" anchor="t"/>
          <a:lstStyle/>
          <a:p>
            <a:pPr indent="0" marL="0">
              <a:buNone/>
            </a:pPr>
            <a:r>
              <a:rPr lang="it-IT" altLang="en-US" sz="1300" dirty="0">
                <a:solidFill>
                  <a:schemeClr val="tx1"/>
                </a:solidFill>
              </a:rPr>
              <a:t>Inferiore a ln 2 ≈ 0.693: il modello separa archi e coppie casuali</a:t>
            </a:r>
            <a:endParaRPr lang="it-IT"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Rewiring a densità costante</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Ogni variazione delle metriche è attribuibile a una redistribuzione dei legami, non a una densificazione</a:t>
            </a:r>
            <a:endParaRPr lang="it-IT" sz="1800" dirty="0"/>
          </a:p>
        </p:txBody>
      </p:sp>
      <p:sp>
        <p:nvSpPr>
          <p:cNvPr id="4" name="regola_0"/>
          <p:cNvSpPr/>
          <p:nvPr/>
        </p:nvSpPr>
        <p:spPr>
          <a:xfrm>
            <a:off x="548640" y="1783080"/>
            <a:ext cx="3794760" cy="2011680"/>
          </a:xfrm>
          <a:prstGeom prst="roundRect">
            <a:avLst>
              <a:gd name="adj" fmla="val 3636"/>
            </a:avLst>
          </a:prstGeom>
          <a:solidFill>
            <a:schemeClr val="bg2"/>
          </a:solidFill>
          <a:ln/>
        </p:spPr>
      </p:sp>
      <p:sp>
        <p:nvSpPr>
          <p:cNvPr id="5" name="marcatore_0"/>
          <p:cNvSpPr/>
          <p:nvPr/>
        </p:nvSpPr>
        <p:spPr>
          <a:xfrm>
            <a:off x="777240" y="2011680"/>
            <a:ext cx="384048" cy="384048"/>
          </a:xfrm>
          <a:prstGeom prst="ellipse">
            <a:avLst/>
          </a:prstGeom>
          <a:solidFill>
            <a:srgbClr val="553C9A"/>
          </a:solidFill>
          <a:ln/>
        </p:spPr>
      </p:sp>
      <p:sp>
        <p:nvSpPr>
          <p:cNvPr id="6" name="Text 4"/>
          <p:cNvSpPr txBox="1"/>
          <p:nvPr/>
        </p:nvSpPr>
        <p:spPr>
          <a:xfrm>
            <a:off x="1325880" y="1984248"/>
            <a:ext cx="2834640" cy="457200"/>
          </a:xfrm>
          <a:prstGeom prst="rect">
            <a:avLst/>
          </a:prstGeom>
          <a:noFill/>
          <a:ln/>
        </p:spPr>
        <p:txBody>
          <a:bodyPr wrap="square" lIns="0" tIns="0" rIns="0" bIns="0" rtlCol="0" anchor="ctr"/>
          <a:lstStyle/>
          <a:p>
            <a:pPr indent="0" marL="0">
              <a:buNone/>
            </a:pPr>
            <a:r>
              <a:rPr lang="it-IT" altLang="en-US" sz="1700" b="1" dirty="0">
                <a:solidFill>
                  <a:schemeClr val="tx2"/>
                </a:solidFill>
              </a:rPr>
              <a:t>Scambio (swap)</a:t>
            </a:r>
            <a:endParaRPr lang="it-IT" sz="1700" dirty="0"/>
          </a:p>
        </p:txBody>
      </p:sp>
      <p:sp>
        <p:nvSpPr>
          <p:cNvPr id="7" name="Text 5"/>
          <p:cNvSpPr txBox="1"/>
          <p:nvPr/>
        </p:nvSpPr>
        <p:spPr>
          <a:xfrm>
            <a:off x="777240" y="2560320"/>
            <a:ext cx="3337560" cy="1143000"/>
          </a:xfrm>
          <a:prstGeom prst="rect">
            <a:avLst/>
          </a:prstGeom>
          <a:noFill/>
          <a:ln/>
        </p:spPr>
        <p:txBody>
          <a:bodyPr wrap="square" lIns="0" tIns="0" rIns="0" bIns="0" rtlCol="0" anchor="t"/>
          <a:lstStyle/>
          <a:p>
            <a:pPr indent="0" marL="0">
              <a:buNone/>
            </a:pPr>
            <a:r>
              <a:rPr lang="it-IT" altLang="en-US" sz="1400" dirty="0">
                <a:solidFill>
                  <a:schemeClr val="tx1"/>
                </a:solidFill>
              </a:rPr>
              <a:t>Ogni arco aggiunto sostituisce l'arco esistente con score minimo: |E| resta pari a 26 246, come nel modello di Holme e Newman</a:t>
            </a:r>
            <a:endParaRPr lang="it-IT" sz="1400" dirty="0"/>
          </a:p>
        </p:txBody>
      </p:sp>
      <p:sp>
        <p:nvSpPr>
          <p:cNvPr id="8" name="regola_1"/>
          <p:cNvSpPr/>
          <p:nvPr/>
        </p:nvSpPr>
        <p:spPr>
          <a:xfrm>
            <a:off x="4617720" y="1783080"/>
            <a:ext cx="3794760" cy="2011680"/>
          </a:xfrm>
          <a:prstGeom prst="roundRect">
            <a:avLst>
              <a:gd name="adj" fmla="val 3636"/>
            </a:avLst>
          </a:prstGeom>
          <a:solidFill>
            <a:schemeClr val="bg2"/>
          </a:solidFill>
          <a:ln/>
        </p:spPr>
      </p:sp>
      <p:sp>
        <p:nvSpPr>
          <p:cNvPr id="9" name="marcatore_1"/>
          <p:cNvSpPr/>
          <p:nvPr/>
        </p:nvSpPr>
        <p:spPr>
          <a:xfrm>
            <a:off x="4846320" y="2011680"/>
            <a:ext cx="384048" cy="384048"/>
          </a:xfrm>
          <a:prstGeom prst="ellipse">
            <a:avLst/>
          </a:prstGeom>
          <a:solidFill>
            <a:srgbClr val="2B6CB0"/>
          </a:solidFill>
          <a:ln/>
        </p:spPr>
      </p:sp>
      <p:sp>
        <p:nvSpPr>
          <p:cNvPr id="10" name="Text 8"/>
          <p:cNvSpPr txBox="1"/>
          <p:nvPr/>
        </p:nvSpPr>
        <p:spPr>
          <a:xfrm>
            <a:off x="5394960" y="1984248"/>
            <a:ext cx="2834640" cy="457200"/>
          </a:xfrm>
          <a:prstGeom prst="rect">
            <a:avLst/>
          </a:prstGeom>
          <a:noFill/>
          <a:ln/>
        </p:spPr>
        <p:txBody>
          <a:bodyPr wrap="square" lIns="0" tIns="0" rIns="0" bIns="0" rtlCol="0" anchor="ctr"/>
          <a:lstStyle/>
          <a:p>
            <a:pPr indent="0" marL="0">
              <a:buNone/>
            </a:pPr>
            <a:r>
              <a:rPr lang="it-IT" altLang="en-US" sz="1700" b="1" dirty="0">
                <a:solidFill>
                  <a:schemeClr val="tx2"/>
                </a:solidFill>
              </a:rPr>
              <a:t>Candidati a distanza 2</a:t>
            </a:r>
            <a:endParaRPr lang="it-IT" sz="1700" dirty="0"/>
          </a:p>
        </p:txBody>
      </p:sp>
      <p:sp>
        <p:nvSpPr>
          <p:cNvPr id="11" name="Text 9"/>
          <p:cNvSpPr txBox="1"/>
          <p:nvPr/>
        </p:nvSpPr>
        <p:spPr>
          <a:xfrm>
            <a:off x="4846320" y="2560320"/>
            <a:ext cx="3337560" cy="1143000"/>
          </a:xfrm>
          <a:prstGeom prst="rect">
            <a:avLst/>
          </a:prstGeom>
          <a:noFill/>
          <a:ln/>
        </p:spPr>
        <p:txBody>
          <a:bodyPr wrap="square" lIns="0" tIns="0" rIns="0" bIns="0" rtlCol="0" anchor="t"/>
          <a:lstStyle/>
          <a:p>
            <a:pPr indent="0" marL="0">
              <a:buNone/>
            </a:pPr>
            <a:r>
              <a:rPr lang="it-IT" altLang="en-US" sz="1400" dirty="0">
                <a:solidFill>
                  <a:schemeClr val="tx1"/>
                </a:solidFill>
              </a:rPr>
              <a:t>Coppie che condividono un vicino: chiusura triadica; spazio di ricerca locale anziché O(n²)</a:t>
            </a:r>
            <a:endParaRPr lang="it-IT" sz="1400" dirty="0"/>
          </a:p>
        </p:txBody>
      </p:sp>
      <p:sp>
        <p:nvSpPr>
          <p:cNvPr id="12" name="regola_2"/>
          <p:cNvSpPr/>
          <p:nvPr/>
        </p:nvSpPr>
        <p:spPr>
          <a:xfrm>
            <a:off x="548640" y="3977640"/>
            <a:ext cx="3794760" cy="2011680"/>
          </a:xfrm>
          <a:prstGeom prst="roundRect">
            <a:avLst>
              <a:gd name="adj" fmla="val 3636"/>
            </a:avLst>
          </a:prstGeom>
          <a:solidFill>
            <a:schemeClr val="bg2"/>
          </a:solidFill>
          <a:ln/>
        </p:spPr>
      </p:sp>
      <p:sp>
        <p:nvSpPr>
          <p:cNvPr id="13" name="marcatore_2"/>
          <p:cNvSpPr/>
          <p:nvPr/>
        </p:nvSpPr>
        <p:spPr>
          <a:xfrm>
            <a:off x="777240" y="4206240"/>
            <a:ext cx="384048" cy="384048"/>
          </a:xfrm>
          <a:prstGeom prst="ellipse">
            <a:avLst/>
          </a:prstGeom>
          <a:solidFill>
            <a:srgbClr val="C53030"/>
          </a:solidFill>
          <a:ln/>
        </p:spPr>
      </p:sp>
      <p:sp>
        <p:nvSpPr>
          <p:cNvPr id="14" name="Text 12"/>
          <p:cNvSpPr txBox="1"/>
          <p:nvPr/>
        </p:nvSpPr>
        <p:spPr>
          <a:xfrm>
            <a:off x="1325880" y="4178808"/>
            <a:ext cx="2834640" cy="457200"/>
          </a:xfrm>
          <a:prstGeom prst="rect">
            <a:avLst/>
          </a:prstGeom>
          <a:noFill/>
          <a:ln/>
        </p:spPr>
        <p:txBody>
          <a:bodyPr wrap="square" lIns="0" tIns="0" rIns="0" bIns="0" rtlCol="0" anchor="ctr"/>
          <a:lstStyle/>
          <a:p>
            <a:pPr indent="0" marL="0">
              <a:buNone/>
            </a:pPr>
            <a:r>
              <a:rPr lang="it-IT" altLang="en-US" sz="1700" b="1" dirty="0">
                <a:solidFill>
                  <a:schemeClr val="tx2"/>
                </a:solidFill>
              </a:rPr>
              <a:t>Rimozione a score minimo</a:t>
            </a:r>
            <a:endParaRPr lang="it-IT" sz="1700" dirty="0"/>
          </a:p>
        </p:txBody>
      </p:sp>
      <p:sp>
        <p:nvSpPr>
          <p:cNvPr id="15" name="Text 13"/>
          <p:cNvSpPr txBox="1"/>
          <p:nvPr/>
        </p:nvSpPr>
        <p:spPr>
          <a:xfrm>
            <a:off x="777240" y="4754880"/>
            <a:ext cx="3337560" cy="1143000"/>
          </a:xfrm>
          <a:prstGeom prst="rect">
            <a:avLst/>
          </a:prstGeom>
          <a:noFill/>
          <a:ln/>
        </p:spPr>
        <p:txBody>
          <a:bodyPr wrap="square" lIns="0" tIns="0" rIns="0" bIns="0" rtlCol="0" anchor="t"/>
          <a:lstStyle/>
          <a:p>
            <a:pPr indent="0" marL="0">
              <a:buNone/>
            </a:pPr>
            <a:r>
              <a:rPr lang="it-IT" altLang="en-US" sz="1400" dirty="0">
                <a:solidFill>
                  <a:schemeClr val="tx1"/>
                </a:solidFill>
              </a:rPr>
              <a:t>I legami tra individui dissimili si dissolvono più rapidamente</a:t>
            </a:r>
            <a:endParaRPr lang="it-IT" sz="1400" dirty="0"/>
          </a:p>
        </p:txBody>
      </p:sp>
      <p:sp>
        <p:nvSpPr>
          <p:cNvPr id="16" name="regola_3"/>
          <p:cNvSpPr/>
          <p:nvPr/>
        </p:nvSpPr>
        <p:spPr>
          <a:xfrm>
            <a:off x="4617720" y="3977640"/>
            <a:ext cx="3794760" cy="2011680"/>
          </a:xfrm>
          <a:prstGeom prst="roundRect">
            <a:avLst>
              <a:gd name="adj" fmla="val 3636"/>
            </a:avLst>
          </a:prstGeom>
          <a:solidFill>
            <a:schemeClr val="bg2"/>
          </a:solidFill>
          <a:ln/>
        </p:spPr>
      </p:sp>
      <p:sp>
        <p:nvSpPr>
          <p:cNvPr id="17" name="marcatore_3"/>
          <p:cNvSpPr/>
          <p:nvPr/>
        </p:nvSpPr>
        <p:spPr>
          <a:xfrm>
            <a:off x="4846320" y="4206240"/>
            <a:ext cx="384048" cy="384048"/>
          </a:xfrm>
          <a:prstGeom prst="ellipse">
            <a:avLst/>
          </a:prstGeom>
          <a:solidFill>
            <a:srgbClr val="2F855A"/>
          </a:solidFill>
          <a:ln/>
        </p:spPr>
      </p:sp>
      <p:sp>
        <p:nvSpPr>
          <p:cNvPr id="18" name="Text 16"/>
          <p:cNvSpPr txBox="1"/>
          <p:nvPr/>
        </p:nvSpPr>
        <p:spPr>
          <a:xfrm>
            <a:off x="5394960" y="4178808"/>
            <a:ext cx="2834640" cy="457200"/>
          </a:xfrm>
          <a:prstGeom prst="rect">
            <a:avLst/>
          </a:prstGeom>
          <a:noFill/>
          <a:ln/>
        </p:spPr>
        <p:txBody>
          <a:bodyPr wrap="square" lIns="0" tIns="0" rIns="0" bIns="0" rtlCol="0" anchor="ctr"/>
          <a:lstStyle/>
          <a:p>
            <a:pPr indent="0" marL="0">
              <a:buNone/>
            </a:pPr>
            <a:r>
              <a:rPr lang="it-IT" altLang="en-US" sz="1700" b="1" dirty="0">
                <a:solidFill>
                  <a:schemeClr val="tx2"/>
                </a:solidFill>
              </a:rPr>
              <a:t>Velocità limitata</a:t>
            </a:r>
            <a:endParaRPr lang="it-IT" sz="1700" dirty="0"/>
          </a:p>
        </p:txBody>
      </p:sp>
      <p:sp>
        <p:nvSpPr>
          <p:cNvPr id="19" name="Text 17"/>
          <p:cNvSpPr txBox="1"/>
          <p:nvPr/>
        </p:nvSpPr>
        <p:spPr>
          <a:xfrm>
            <a:off x="4846320" y="4754880"/>
            <a:ext cx="3337560" cy="1143000"/>
          </a:xfrm>
          <a:prstGeom prst="rect">
            <a:avLst/>
          </a:prstGeom>
          <a:noFill/>
          <a:ln/>
        </p:spPr>
        <p:txBody>
          <a:bodyPr wrap="square" lIns="0" tIns="0" rIns="0" bIns="0" rtlCol="0" anchor="t"/>
          <a:lstStyle/>
          <a:p>
            <a:pPr indent="0" marL="0">
              <a:buNone/>
            </a:pPr>
            <a:r>
              <a:rPr lang="it-IT" altLang="en-US" sz="1400" dirty="0">
                <a:solidFill>
                  <a:schemeClr val="tx1"/>
                </a:solidFill>
              </a:rPr>
              <a:t>50 scambi ogni 2 step (~0.1% degli archi per step): la topologia cambia più lentamente delle opinioni</a:t>
            </a:r>
            <a:endParaRPr lang="it-IT" sz="1400" dirty="0"/>
          </a:p>
        </p:txBody>
      </p:sp>
      <p:sp>
        <p:nvSpPr>
          <p:cNvPr id="20" name="Text 18"/>
          <p:cNvSpPr txBox="1"/>
          <p:nvPr/>
        </p:nvSpPr>
        <p:spPr>
          <a:xfrm>
            <a:off x="8686800" y="1737360"/>
            <a:ext cx="2956255" cy="777240"/>
          </a:xfrm>
          <a:prstGeom prst="rect">
            <a:avLst/>
          </a:prstGeom>
          <a:noFill/>
          <a:ln/>
        </p:spPr>
        <p:txBody>
          <a:bodyPr wrap="square" lIns="0" tIns="0" rIns="0" bIns="0" rtlCol="0" anchor="b"/>
          <a:lstStyle/>
          <a:p>
            <a:pPr indent="0" marL="0">
              <a:buNone/>
            </a:pPr>
            <a:r>
              <a:rPr lang="it-IT" altLang="en-US" sz="4400" b="1" dirty="0">
                <a:solidFill>
                  <a:srgbClr val="553C9A"/>
                </a:solidFill>
                <a:latin typeface="Cambria" pitchFamily="34" charset="0"/>
                <a:ea typeface="Cambria" pitchFamily="34" charset="-122"/>
                <a:cs typeface="Cambria" pitchFamily="34" charset="-120"/>
              </a:rPr>
              <a:t>2 500</a:t>
            </a:r>
            <a:endParaRPr lang="it-IT" sz="4400" dirty="0"/>
          </a:p>
        </p:txBody>
      </p:sp>
      <p:sp>
        <p:nvSpPr>
          <p:cNvPr id="21" name="Text 19"/>
          <p:cNvSpPr txBox="1"/>
          <p:nvPr/>
        </p:nvSpPr>
        <p:spPr>
          <a:xfrm>
            <a:off x="8686800" y="2560320"/>
            <a:ext cx="2956255" cy="685800"/>
          </a:xfrm>
          <a:prstGeom prst="rect">
            <a:avLst/>
          </a:prstGeom>
          <a:noFill/>
          <a:ln/>
        </p:spPr>
        <p:txBody>
          <a:bodyPr wrap="square" lIns="0" tIns="0" rIns="0" bIns="0" rtlCol="0" anchor="t"/>
          <a:lstStyle/>
          <a:p>
            <a:pPr indent="0" marL="0">
              <a:buNone/>
            </a:pPr>
            <a:r>
              <a:rPr lang="it-IT" altLang="en-US" sz="1300" dirty="0">
                <a:solidFill>
                  <a:srgbClr val="4A5568"/>
                </a:solidFill>
              </a:rPr>
              <a:t>archi sostituiti in 100 step (9.5% del totale)</a:t>
            </a:r>
            <a:endParaRPr lang="it-IT" sz="1300" dirty="0"/>
          </a:p>
        </p:txBody>
      </p:sp>
      <p:sp>
        <p:nvSpPr>
          <p:cNvPr id="22" name="Text 20"/>
          <p:cNvSpPr txBox="1"/>
          <p:nvPr/>
        </p:nvSpPr>
        <p:spPr>
          <a:xfrm>
            <a:off x="8686800" y="3337560"/>
            <a:ext cx="2956255" cy="777240"/>
          </a:xfrm>
          <a:prstGeom prst="rect">
            <a:avLst/>
          </a:prstGeom>
          <a:noFill/>
          <a:ln/>
        </p:spPr>
        <p:txBody>
          <a:bodyPr wrap="square" lIns="0" tIns="0" rIns="0" bIns="0" rtlCol="0" anchor="b"/>
          <a:lstStyle/>
          <a:p>
            <a:pPr indent="0" marL="0">
              <a:buNone/>
            </a:pPr>
            <a:r>
              <a:rPr lang="it-IT" altLang="en-US" sz="3800" b="1" dirty="0">
                <a:solidFill>
                  <a:srgbClr val="C53030"/>
                </a:solidFill>
                <a:latin typeface="Cambria" pitchFamily="34" charset="0"/>
                <a:ea typeface="Cambria" pitchFamily="34" charset="-122"/>
                <a:cs typeface="Cambria" pitchFamily="34" charset="-120"/>
              </a:rPr>
              <a:t>1 → 154</a:t>
            </a:r>
            <a:endParaRPr lang="it-IT" sz="3800" dirty="0"/>
          </a:p>
        </p:txBody>
      </p:sp>
      <p:sp>
        <p:nvSpPr>
          <p:cNvPr id="23" name="Text 21"/>
          <p:cNvSpPr txBox="1"/>
          <p:nvPr/>
        </p:nvSpPr>
        <p:spPr>
          <a:xfrm>
            <a:off x="8686800" y="4160520"/>
            <a:ext cx="2956255" cy="685800"/>
          </a:xfrm>
          <a:prstGeom prst="rect">
            <a:avLst/>
          </a:prstGeom>
          <a:noFill/>
          <a:ln/>
        </p:spPr>
        <p:txBody>
          <a:bodyPr wrap="square" lIns="0" tIns="0" rIns="0" bIns="0" rtlCol="0" anchor="t"/>
          <a:lstStyle/>
          <a:p>
            <a:pPr indent="0" marL="0">
              <a:buNone/>
            </a:pPr>
            <a:r>
              <a:rPr lang="it-IT" altLang="en-US" sz="1300" dirty="0">
                <a:solidFill>
                  <a:srgbClr val="4A5568"/>
                </a:solidFill>
              </a:rPr>
              <a:t>componenti connesse allo step 129: frammentazione non vincolata</a:t>
            </a:r>
            <a:endParaRPr lang="it-IT" sz="1300" dirty="0"/>
          </a:p>
        </p:txBody>
      </p:sp>
      <p:sp>
        <p:nvSpPr>
          <p:cNvPr id="24" name="Text 22"/>
          <p:cNvSpPr txBox="1"/>
          <p:nvPr/>
        </p:nvSpPr>
        <p:spPr>
          <a:xfrm>
            <a:off x="8686800" y="4983480"/>
            <a:ext cx="2956255" cy="1188720"/>
          </a:xfrm>
          <a:prstGeom prst="rect">
            <a:avLst/>
          </a:prstGeom>
          <a:noFill/>
          <a:ln/>
        </p:spPr>
        <p:txBody>
          <a:bodyPr wrap="square" lIns="0" tIns="0" rIns="0" bIns="0" rtlCol="0" anchor="t"/>
          <a:lstStyle/>
          <a:p>
            <a:pPr indent="0" marL="0">
              <a:buNone/>
            </a:pPr>
            <a:r>
              <a:rPr lang="it-IT" altLang="en-US" sz="1300" i="1" dirty="0">
                <a:solidFill>
                  <a:srgbClr val="4A5568"/>
                </a:solidFill>
              </a:rPr>
              <a:t>La prima versione rimuoveva solo archi sotto soglia: il link predictor assegna score alti agli archi esistenti, quindi le rimozioni erano di fatto assenti.</a:t>
            </a:r>
            <a:endParaRPr lang="it-IT"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Selezione dei fact-checker: perché non CELF</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La garanzia 1 − 1/e vale per una funzione diversa da quella che governa la simulazione</a:t>
            </a:r>
            <a:endParaRPr lang="it-IT" sz="1800" dirty="0"/>
          </a:p>
        </p:txBody>
      </p:sp>
      <p:sp>
        <p:nvSpPr>
          <p:cNvPr id="4" name="controesempio"/>
          <p:cNvSpPr/>
          <p:nvPr/>
        </p:nvSpPr>
        <p:spPr>
          <a:xfrm>
            <a:off x="548640" y="1783080"/>
            <a:ext cx="5120640" cy="4434840"/>
          </a:xfrm>
          <a:prstGeom prst="roundRect">
            <a:avLst>
              <a:gd name="adj" fmla="val 1649"/>
            </a:avLst>
          </a:prstGeom>
          <a:solidFill>
            <a:schemeClr val="bg2"/>
          </a:solidFill>
          <a:ln/>
        </p:spPr>
      </p:sp>
      <p:sp>
        <p:nvSpPr>
          <p:cNvPr id="5" name="Shape 3"/>
          <p:cNvSpPr/>
          <p:nvPr/>
        </p:nvSpPr>
        <p:spPr>
          <a:xfrm>
            <a:off x="3054096" y="2551176"/>
            <a:ext cx="54864" cy="1152144"/>
          </a:xfrm>
          <a:prstGeom prst="line">
            <a:avLst/>
          </a:prstGeom>
          <a:noFill/>
          <a:ln w="15875">
            <a:solidFill>
              <a:srgbClr val="A0AEC0"/>
            </a:solidFill>
            <a:prstDash val="solid"/>
          </a:ln>
        </p:spPr>
      </p:sp>
      <p:sp>
        <p:nvSpPr>
          <p:cNvPr id="6" name="Shape 4"/>
          <p:cNvSpPr/>
          <p:nvPr/>
        </p:nvSpPr>
        <p:spPr>
          <a:xfrm flipV="1">
            <a:off x="3108960" y="2872562"/>
            <a:ext cx="721030" cy="830758"/>
          </a:xfrm>
          <a:prstGeom prst="line">
            <a:avLst/>
          </a:prstGeom>
          <a:noFill/>
          <a:ln w="15875">
            <a:solidFill>
              <a:srgbClr val="A0AEC0"/>
            </a:solidFill>
            <a:prstDash val="solid"/>
          </a:ln>
        </p:spPr>
      </p:sp>
      <p:sp>
        <p:nvSpPr>
          <p:cNvPr id="7" name="Shape 5"/>
          <p:cNvSpPr/>
          <p:nvPr/>
        </p:nvSpPr>
        <p:spPr>
          <a:xfrm flipV="1">
            <a:off x="3108960" y="3648456"/>
            <a:ext cx="1042416" cy="54864"/>
          </a:xfrm>
          <a:prstGeom prst="line">
            <a:avLst/>
          </a:prstGeom>
          <a:noFill/>
          <a:ln w="15875">
            <a:solidFill>
              <a:srgbClr val="A0AEC0"/>
            </a:solidFill>
            <a:prstDash val="solid"/>
          </a:ln>
        </p:spPr>
      </p:sp>
      <p:sp>
        <p:nvSpPr>
          <p:cNvPr id="8" name="Shape 6"/>
          <p:cNvSpPr/>
          <p:nvPr/>
        </p:nvSpPr>
        <p:spPr>
          <a:xfrm>
            <a:off x="3108960" y="3703320"/>
            <a:ext cx="721030" cy="721030"/>
          </a:xfrm>
          <a:prstGeom prst="line">
            <a:avLst/>
          </a:prstGeom>
          <a:noFill/>
          <a:ln w="15875">
            <a:solidFill>
              <a:srgbClr val="A0AEC0"/>
            </a:solidFill>
            <a:prstDash val="solid"/>
          </a:ln>
        </p:spPr>
      </p:sp>
      <p:sp>
        <p:nvSpPr>
          <p:cNvPr id="9" name="Shape 7"/>
          <p:cNvSpPr/>
          <p:nvPr/>
        </p:nvSpPr>
        <p:spPr>
          <a:xfrm flipV="1">
            <a:off x="3054096" y="3703320"/>
            <a:ext cx="54864" cy="1042416"/>
          </a:xfrm>
          <a:prstGeom prst="line">
            <a:avLst/>
          </a:prstGeom>
          <a:noFill/>
          <a:ln w="15875">
            <a:solidFill>
              <a:srgbClr val="A0AEC0"/>
            </a:solidFill>
            <a:prstDash val="solid"/>
          </a:ln>
        </p:spPr>
      </p:sp>
      <p:sp>
        <p:nvSpPr>
          <p:cNvPr id="10" name="Shape 8"/>
          <p:cNvSpPr/>
          <p:nvPr/>
        </p:nvSpPr>
        <p:spPr>
          <a:xfrm flipV="1">
            <a:off x="2278202" y="3703320"/>
            <a:ext cx="830758" cy="721030"/>
          </a:xfrm>
          <a:prstGeom prst="line">
            <a:avLst/>
          </a:prstGeom>
          <a:noFill/>
          <a:ln w="15875">
            <a:solidFill>
              <a:srgbClr val="A0AEC0"/>
            </a:solidFill>
            <a:prstDash val="solid"/>
          </a:ln>
        </p:spPr>
      </p:sp>
      <p:sp>
        <p:nvSpPr>
          <p:cNvPr id="11" name="Shape 9"/>
          <p:cNvSpPr/>
          <p:nvPr/>
        </p:nvSpPr>
        <p:spPr>
          <a:xfrm>
            <a:off x="1956816" y="3648456"/>
            <a:ext cx="1152144" cy="54864"/>
          </a:xfrm>
          <a:prstGeom prst="line">
            <a:avLst/>
          </a:prstGeom>
          <a:noFill/>
          <a:ln w="15875">
            <a:solidFill>
              <a:srgbClr val="A0AEC0"/>
            </a:solidFill>
            <a:prstDash val="solid"/>
          </a:ln>
        </p:spPr>
      </p:sp>
      <p:sp>
        <p:nvSpPr>
          <p:cNvPr id="12" name="Shape 10"/>
          <p:cNvSpPr/>
          <p:nvPr/>
        </p:nvSpPr>
        <p:spPr>
          <a:xfrm>
            <a:off x="2278202" y="2872562"/>
            <a:ext cx="830758" cy="830758"/>
          </a:xfrm>
          <a:prstGeom prst="line">
            <a:avLst/>
          </a:prstGeom>
          <a:noFill/>
          <a:ln w="15875">
            <a:solidFill>
              <a:srgbClr val="A0AEC0"/>
            </a:solidFill>
            <a:prstDash val="solid"/>
          </a:ln>
        </p:spPr>
      </p:sp>
      <p:sp>
        <p:nvSpPr>
          <p:cNvPr id="13" name="nodo_v"/>
          <p:cNvSpPr/>
          <p:nvPr/>
        </p:nvSpPr>
        <p:spPr>
          <a:xfrm>
            <a:off x="2834640" y="3429000"/>
            <a:ext cx="548640" cy="548640"/>
          </a:xfrm>
          <a:prstGeom prst="ellipse">
            <a:avLst/>
          </a:prstGeom>
          <a:solidFill>
            <a:srgbClr val="C53030"/>
          </a:solidFill>
          <a:ln/>
        </p:spPr>
      </p:sp>
      <p:sp>
        <p:nvSpPr>
          <p:cNvPr id="14" name="Text 12"/>
          <p:cNvSpPr txBox="1"/>
          <p:nvPr/>
        </p:nvSpPr>
        <p:spPr>
          <a:xfrm>
            <a:off x="2834640" y="34290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v</a:t>
            </a:r>
            <a:endParaRPr lang="en-US" sz="1600" dirty="0"/>
          </a:p>
        </p:txBody>
      </p:sp>
      <p:sp>
        <p:nvSpPr>
          <p:cNvPr id="15" name="vicino_0"/>
          <p:cNvSpPr/>
          <p:nvPr/>
        </p:nvSpPr>
        <p:spPr>
          <a:xfrm>
            <a:off x="2834640" y="2331720"/>
            <a:ext cx="438912" cy="438912"/>
          </a:xfrm>
          <a:prstGeom prst="ellipse">
            <a:avLst/>
          </a:prstGeom>
          <a:solidFill>
            <a:srgbClr val="2F855A"/>
          </a:solidFill>
          <a:ln/>
        </p:spPr>
      </p:sp>
      <p:sp>
        <p:nvSpPr>
          <p:cNvPr id="16" name="vicino_1"/>
          <p:cNvSpPr/>
          <p:nvPr/>
        </p:nvSpPr>
        <p:spPr>
          <a:xfrm>
            <a:off x="3610534" y="2653106"/>
            <a:ext cx="438912" cy="438912"/>
          </a:xfrm>
          <a:prstGeom prst="ellipse">
            <a:avLst/>
          </a:prstGeom>
          <a:solidFill>
            <a:srgbClr val="B7791F"/>
          </a:solidFill>
          <a:ln/>
        </p:spPr>
      </p:sp>
      <p:sp>
        <p:nvSpPr>
          <p:cNvPr id="17" name="Text 15"/>
          <p:cNvSpPr txBox="1"/>
          <p:nvPr/>
        </p:nvSpPr>
        <p:spPr>
          <a:xfrm>
            <a:off x="3610534" y="265310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18" name="vicino_2"/>
          <p:cNvSpPr/>
          <p:nvPr/>
        </p:nvSpPr>
        <p:spPr>
          <a:xfrm>
            <a:off x="3931920" y="3429000"/>
            <a:ext cx="438912" cy="438912"/>
          </a:xfrm>
          <a:prstGeom prst="ellipse">
            <a:avLst/>
          </a:prstGeom>
          <a:solidFill>
            <a:srgbClr val="B7791F"/>
          </a:solidFill>
          <a:ln/>
        </p:spPr>
      </p:sp>
      <p:sp>
        <p:nvSpPr>
          <p:cNvPr id="19" name="Text 17"/>
          <p:cNvSpPr txBox="1"/>
          <p:nvPr/>
        </p:nvSpPr>
        <p:spPr>
          <a:xfrm>
            <a:off x="3931920" y="342900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0" name="vicino_3"/>
          <p:cNvSpPr/>
          <p:nvPr/>
        </p:nvSpPr>
        <p:spPr>
          <a:xfrm>
            <a:off x="3610534" y="4204894"/>
            <a:ext cx="438912" cy="438912"/>
          </a:xfrm>
          <a:prstGeom prst="ellipse">
            <a:avLst/>
          </a:prstGeom>
          <a:solidFill>
            <a:srgbClr val="2F855A"/>
          </a:solidFill>
          <a:ln/>
        </p:spPr>
      </p:sp>
      <p:sp>
        <p:nvSpPr>
          <p:cNvPr id="21" name="vicino_4"/>
          <p:cNvSpPr/>
          <p:nvPr/>
        </p:nvSpPr>
        <p:spPr>
          <a:xfrm>
            <a:off x="2834640" y="4526280"/>
            <a:ext cx="438912" cy="438912"/>
          </a:xfrm>
          <a:prstGeom prst="ellipse">
            <a:avLst/>
          </a:prstGeom>
          <a:solidFill>
            <a:srgbClr val="2F855A"/>
          </a:solidFill>
          <a:ln/>
        </p:spPr>
      </p:sp>
      <p:sp>
        <p:nvSpPr>
          <p:cNvPr id="22" name="vicino_5"/>
          <p:cNvSpPr/>
          <p:nvPr/>
        </p:nvSpPr>
        <p:spPr>
          <a:xfrm>
            <a:off x="2058746" y="4204894"/>
            <a:ext cx="438912" cy="438912"/>
          </a:xfrm>
          <a:prstGeom prst="ellipse">
            <a:avLst/>
          </a:prstGeom>
          <a:solidFill>
            <a:srgbClr val="2F855A"/>
          </a:solidFill>
          <a:ln/>
        </p:spPr>
      </p:sp>
      <p:sp>
        <p:nvSpPr>
          <p:cNvPr id="23" name="vicino_6"/>
          <p:cNvSpPr/>
          <p:nvPr/>
        </p:nvSpPr>
        <p:spPr>
          <a:xfrm>
            <a:off x="1737360" y="3429000"/>
            <a:ext cx="438912" cy="438912"/>
          </a:xfrm>
          <a:prstGeom prst="ellipse">
            <a:avLst/>
          </a:prstGeom>
          <a:solidFill>
            <a:srgbClr val="2F855A"/>
          </a:solidFill>
          <a:ln/>
        </p:spPr>
      </p:sp>
      <p:sp>
        <p:nvSpPr>
          <p:cNvPr id="24" name="vicino_7"/>
          <p:cNvSpPr/>
          <p:nvPr/>
        </p:nvSpPr>
        <p:spPr>
          <a:xfrm>
            <a:off x="2058746" y="2653106"/>
            <a:ext cx="438912" cy="438912"/>
          </a:xfrm>
          <a:prstGeom prst="ellipse">
            <a:avLst/>
          </a:prstGeom>
          <a:solidFill>
            <a:srgbClr val="2F855A"/>
          </a:solidFill>
          <a:ln/>
        </p:spPr>
      </p:sp>
      <p:sp>
        <p:nvSpPr>
          <p:cNvPr id="25" name="Text 23"/>
          <p:cNvSpPr txBox="1"/>
          <p:nvPr/>
        </p:nvSpPr>
        <p:spPr>
          <a:xfrm>
            <a:off x="777240" y="1874520"/>
            <a:ext cx="4663440" cy="411480"/>
          </a:xfrm>
          <a:prstGeom prst="rect">
            <a:avLst/>
          </a:prstGeom>
          <a:noFill/>
          <a:ln/>
        </p:spPr>
        <p:txBody>
          <a:bodyPr wrap="square" lIns="0" tIns="0" rIns="0" bIns="0" rtlCol="0" anchor="t"/>
          <a:lstStyle/>
          <a:p>
            <a:pPr indent="0" marL="0">
              <a:buNone/>
            </a:pPr>
            <a:r>
              <a:rPr lang="it-IT" altLang="en-US" sz="1400" b="1" dirty="0">
                <a:solidFill>
                  <a:schemeClr val="tx2"/>
                </a:solidFill>
              </a:rPr>
              <a:t>v infetto, grado 8: servono ⌈0.25 · 8⌉ = 2 fact-checker</a:t>
            </a:r>
            <a:endParaRPr lang="it-IT" sz="1400" dirty="0"/>
          </a:p>
        </p:txBody>
      </p:sp>
      <p:sp>
        <p:nvSpPr>
          <p:cNvPr id="26" name="Text 24"/>
          <p:cNvSpPr txBox="1"/>
          <p:nvPr/>
        </p:nvSpPr>
        <p:spPr>
          <a:xfrm>
            <a:off x="777240" y="5074920"/>
            <a:ext cx="4663440" cy="685800"/>
          </a:xfrm>
          <a:prstGeom prst="rect">
            <a:avLst/>
          </a:prstGeom>
          <a:noFill/>
          <a:ln/>
        </p:spPr>
        <p:txBody>
          <a:bodyPr wrap="square" lIns="0" tIns="0" rIns="0" bIns="0" rtlCol="0" anchor="t"/>
          <a:lstStyle/>
          <a:p>
            <a:pPr indent="0" marL="0">
              <a:buNone/>
            </a:pPr>
            <a:r>
              <a:rPr lang="it-IT" altLang="en-US" sz="1600" dirty="0">
                <a:solidFill>
                  <a:schemeClr val="tx2"/>
                </a:solidFill>
                <a:latin typeface="Cambria" pitchFamily="34" charset="0"/>
                <a:ea typeface="Cambria" pitchFamily="34" charset="-122"/>
                <a:cs typeface="Cambria" pitchFamily="34" charset="-120"/>
              </a:rPr>
              <a:t>g({a}) − g(∅) = 0</a:t>
            </a:r>
            <a:endParaRPr lang="it-IT" sz="1600" dirty="0"/>
          </a:p>
          <a:p>
            <a:pPr indent="0" marL="0">
              <a:buNone/>
            </a:pPr>
            <a:r>
              <a:rPr lang="it-IT" altLang="en-US" sz="1600" dirty="0">
                <a:solidFill>
                  <a:schemeClr val="tx2"/>
                </a:solidFill>
                <a:latin typeface="Cambria" pitchFamily="34" charset="0"/>
                <a:ea typeface="Cambria" pitchFamily="34" charset="-122"/>
                <a:cs typeface="Cambria" pitchFamily="34" charset="-120"/>
              </a:rPr>
              <a:t>g({a, b}) − g({b}) = 1</a:t>
            </a:r>
            <a:endParaRPr lang="it-IT" sz="1600" dirty="0"/>
          </a:p>
        </p:txBody>
      </p:sp>
      <p:sp>
        <p:nvSpPr>
          <p:cNvPr id="27" name="Text 25"/>
          <p:cNvSpPr txBox="1"/>
          <p:nvPr/>
        </p:nvSpPr>
        <p:spPr>
          <a:xfrm>
            <a:off x="777240" y="5715000"/>
            <a:ext cx="4663440" cy="457200"/>
          </a:xfrm>
          <a:prstGeom prst="rect">
            <a:avLst/>
          </a:prstGeom>
          <a:noFill/>
          <a:ln/>
        </p:spPr>
        <p:txBody>
          <a:bodyPr wrap="square" lIns="0" tIns="0" rIns="0" bIns="0" rtlCol="0" anchor="t"/>
          <a:lstStyle/>
          <a:p>
            <a:pPr indent="0" marL="0">
              <a:buNone/>
            </a:pPr>
            <a:r>
              <a:rPr lang="it-IT" altLang="en-US" sz="1300" i="1" dirty="0">
                <a:solidFill>
                  <a:srgbClr val="4A5568"/>
                </a:solidFill>
              </a:rPr>
              <a:t>Rendimenti crescenti: la submodularità non vale e la valutazione lazy di CELF non è corretta.</a:t>
            </a:r>
            <a:endParaRPr lang="it-IT"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0" y="1783080"/>
          <a:ext cx="5699455" cy="914400"/>
        </p:xfrm>
        <a:graphic>
          <a:graphicData uri="http://schemas.openxmlformats.org/drawingml/2006/table">
            <a:tbl>
              <a:tblPr/>
              <a:tblGrid>
                <a:gridCol w="1737360"/>
                <a:gridCol w="1417320"/>
                <a:gridCol w="1325880"/>
                <a:gridCol w="1218895"/>
              </a:tblGrid>
              <a:tr h="6400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Metodo</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Allineamento</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Garanzia</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Costo</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6243A"/>
                    </a:solidFill>
                  </a:tcPr>
                </a:tc>
              </a:tr>
              <a:tr h="640080">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Top-k per centralità</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nessuno</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nessuna</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O(n log n)</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640080">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CELF su IC</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basso: cascata, non soglia</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1 − 1/e − ε sotto IC</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30 run Monte Carlo per valutazione</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640080">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RIS / TIM / IMM</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non applicabile</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1 − 1/e − ε</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quasi lineare</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640080">
                <a:tc>
                  <a:txBody>
                    <a:bodyPr/>
                    <a:lstStyle/>
                    <a:p>
                      <a:pPr indent="0" marL="0">
                        <a:buNone/>
                      </a:pPr>
                      <a:r>
                        <a:rPr lang="en-US" sz="1300" b="1" dirty="0">
                          <a:solidFill>
                            <a:srgbClr val="1A202C"/>
                          </a:solidFill>
                          <a:latin typeface="Calibri" pitchFamily="34" charset="0"/>
                          <a:ea typeface="Calibri" pitchFamily="34" charset="-122"/>
                          <a:cs typeface="Calibri" pitchFamily="34" charset="-120"/>
                        </a:rPr>
                        <a:t>Greedy esatto a soglia (adottato)</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completo: stesse soglie</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nessuna</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O(km) ≈ 10⁶, deterministico</a:t>
                      </a:r>
                      <a:endParaRPr lang="en-US" sz="1300" dirty="0">
                        <a:latin typeface="Calibri" charset="0"/>
                        <a:ea typeface="Calibri" charset="0"/>
                        <a:cs typeface="Calibri" charset="0"/>
                      </a:endParaRPr>
                    </a:p>
                  </a:txBody>
                  <a:tcPr marL="54864" marR="54864" marT="54864" marB="54864"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DF2F7"/>
                    </a:solidFill>
                  </a:tcPr>
                </a:tc>
              </a:tr>
            </a:tbl>
          </a:graphicData>
        </a:graphic>
      </p:graphicFrame>
      <p:sp>
        <p:nvSpPr>
          <p:cNvPr id="29" name="verifica"/>
          <p:cNvSpPr/>
          <p:nvPr/>
        </p:nvSpPr>
        <p:spPr>
          <a:xfrm>
            <a:off x="5943600" y="5166360"/>
            <a:ext cx="5699455" cy="1051560"/>
          </a:xfrm>
          <a:prstGeom prst="roundRect">
            <a:avLst>
              <a:gd name="adj" fmla="val 6957"/>
            </a:avLst>
          </a:prstGeom>
          <a:solidFill>
            <a:schemeClr val="bg2"/>
          </a:solidFill>
          <a:ln/>
        </p:spPr>
      </p:sp>
      <p:sp>
        <p:nvSpPr>
          <p:cNvPr id="30" name="Text 27"/>
          <p:cNvSpPr txBox="1"/>
          <p:nvPr/>
        </p:nvSpPr>
        <p:spPr>
          <a:xfrm>
            <a:off x="6172200" y="5212080"/>
            <a:ext cx="5242255" cy="960120"/>
          </a:xfrm>
          <a:prstGeom prst="rect">
            <a:avLst/>
          </a:prstGeom>
          <a:noFill/>
          <a:ln/>
        </p:spPr>
        <p:txBody>
          <a:bodyPr wrap="square" lIns="0" tIns="0" rIns="0" bIns="0" rtlCol="0" anchor="ctr"/>
          <a:lstStyle/>
          <a:p>
            <a:pPr indent="0" marL="0">
              <a:buNone/>
            </a:pPr>
            <a:r>
              <a:rPr lang="it-IT" altLang="en-US" sz="1500" b="1" dirty="0">
                <a:solidFill>
                  <a:schemeClr val="tx2"/>
                </a:solidFill>
              </a:rPr>
              <a:t>Verifica empirica: </a:t>
            </a:r>
            <a:pPr indent="0" marL="0">
              <a:buNone/>
            </a:pPr>
            <a:r>
              <a:rPr lang="it-IT" altLang="en-US" sz="1500" dirty="0">
                <a:solidFill>
                  <a:schemeClr val="tx1"/>
                </a:solidFill>
              </a:rPr>
              <a:t>copertura stimata ex ante 162 nodi; resistenti in più rispetto al controllo 160 (errore 1.2%).</a:t>
            </a:r>
            <a:endParaRPr lang="it-IT"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Disegno sperimentale accoppiato</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Un confronto prima/dopo confonderebbe l'effetto dell'intervento con l'evoluzione spontanea</a:t>
            </a:r>
            <a:endParaRPr lang="it-IT" sz="1800" dirty="0"/>
          </a:p>
        </p:txBody>
      </p:sp>
      <p:sp>
        <p:nvSpPr>
          <p:cNvPr id="4" name="fase_0"/>
          <p:cNvSpPr/>
          <p:nvPr/>
        </p:nvSpPr>
        <p:spPr>
          <a:xfrm>
            <a:off x="548640" y="2240280"/>
            <a:ext cx="2103120" cy="1188720"/>
          </a:xfrm>
          <a:prstGeom prst="roundRect">
            <a:avLst>
              <a:gd name="adj" fmla="val 6154"/>
            </a:avLst>
          </a:prstGeom>
          <a:solidFill>
            <a:srgbClr val="16243A"/>
          </a:solidFill>
          <a:ln/>
        </p:spPr>
      </p:sp>
      <p:sp>
        <p:nvSpPr>
          <p:cNvPr id="5" name="Text 3"/>
          <p:cNvSpPr txBox="1"/>
          <p:nvPr/>
        </p:nvSpPr>
        <p:spPr>
          <a:xfrm>
            <a:off x="731520" y="2350008"/>
            <a:ext cx="1737360" cy="365760"/>
          </a:xfrm>
          <a:prstGeom prst="rect">
            <a:avLst/>
          </a:prstGeom>
          <a:noFill/>
          <a:ln/>
        </p:spPr>
        <p:txBody>
          <a:bodyPr wrap="square" lIns="0" tIns="0" rIns="0" bIns="0" rtlCol="0" anchor="t"/>
          <a:lstStyle/>
          <a:p>
            <a:pPr indent="0" marL="0">
              <a:buNone/>
            </a:pPr>
            <a:r>
              <a:rPr lang="it-IT" altLang="en-US" sz="1700" b="1" dirty="0">
                <a:solidFill>
                  <a:schemeClr val="bg1"/>
                </a:solidFill>
              </a:rPr>
              <a:t>Fase 0</a:t>
            </a:r>
            <a:endParaRPr lang="it-IT" sz="1700" dirty="0"/>
          </a:p>
        </p:txBody>
      </p:sp>
      <p:sp>
        <p:nvSpPr>
          <p:cNvPr id="6" name="Text 4"/>
          <p:cNvSpPr txBox="1"/>
          <p:nvPr/>
        </p:nvSpPr>
        <p:spPr>
          <a:xfrm>
            <a:off x="731520" y="2743200"/>
            <a:ext cx="1737360" cy="640080"/>
          </a:xfrm>
          <a:prstGeom prst="rect">
            <a:avLst/>
          </a:prstGeom>
          <a:noFill/>
          <a:ln/>
        </p:spPr>
        <p:txBody>
          <a:bodyPr wrap="square" lIns="0" tIns="0" rIns="0" bIns="0" rtlCol="0" anchor="t"/>
          <a:lstStyle/>
          <a:p>
            <a:pPr indent="0" marL="0">
              <a:buNone/>
            </a:pPr>
            <a:r>
              <a:rPr lang="it-IT" altLang="en-US" sz="1300" dirty="0">
                <a:solidFill>
                  <a:schemeClr val="bg1"/>
                </a:solidFill>
              </a:rPr>
              <a:t>Campionamento, comunità, metriche di base</a:t>
            </a:r>
            <a:endParaRPr lang="it-IT" sz="1300" dirty="0"/>
          </a:p>
        </p:txBody>
      </p:sp>
      <p:sp>
        <p:nvSpPr>
          <p:cNvPr id="7" name="fase_1"/>
          <p:cNvSpPr/>
          <p:nvPr/>
        </p:nvSpPr>
        <p:spPr>
          <a:xfrm>
            <a:off x="2834640" y="2240280"/>
            <a:ext cx="1920240" cy="1188720"/>
          </a:xfrm>
          <a:prstGeom prst="roundRect">
            <a:avLst>
              <a:gd name="adj" fmla="val 6154"/>
            </a:avLst>
          </a:prstGeom>
          <a:solidFill>
            <a:srgbClr val="2B6CB0"/>
          </a:solidFill>
          <a:ln/>
        </p:spPr>
      </p:sp>
      <p:sp>
        <p:nvSpPr>
          <p:cNvPr id="8" name="Text 6"/>
          <p:cNvSpPr txBox="1"/>
          <p:nvPr/>
        </p:nvSpPr>
        <p:spPr>
          <a:xfrm>
            <a:off x="3017520" y="2350008"/>
            <a:ext cx="1554480" cy="365760"/>
          </a:xfrm>
          <a:prstGeom prst="rect">
            <a:avLst/>
          </a:prstGeom>
          <a:noFill/>
          <a:ln/>
        </p:spPr>
        <p:txBody>
          <a:bodyPr wrap="square" lIns="0" tIns="0" rIns="0" bIns="0" rtlCol="0" anchor="t"/>
          <a:lstStyle/>
          <a:p>
            <a:pPr indent="0" marL="0">
              <a:buNone/>
            </a:pPr>
            <a:r>
              <a:rPr lang="it-IT" altLang="en-US" sz="1700" b="1" dirty="0">
                <a:solidFill>
                  <a:schemeClr val="bg1"/>
                </a:solidFill>
              </a:rPr>
              <a:t>Fase 1</a:t>
            </a:r>
            <a:endParaRPr lang="it-IT" sz="1700" dirty="0"/>
          </a:p>
        </p:txBody>
      </p:sp>
      <p:sp>
        <p:nvSpPr>
          <p:cNvPr id="9" name="Text 7"/>
          <p:cNvSpPr txBox="1"/>
          <p:nvPr/>
        </p:nvSpPr>
        <p:spPr>
          <a:xfrm>
            <a:off x="3017520" y="2743200"/>
            <a:ext cx="1554480" cy="640080"/>
          </a:xfrm>
          <a:prstGeom prst="rect">
            <a:avLst/>
          </a:prstGeom>
          <a:noFill/>
          <a:ln/>
        </p:spPr>
        <p:txBody>
          <a:bodyPr wrap="square" lIns="0" tIns="0" rIns="0" bIns="0" rtlCol="0" anchor="t"/>
          <a:lstStyle/>
          <a:p>
            <a:pPr indent="0" marL="0">
              <a:buNone/>
            </a:pPr>
            <a:r>
              <a:rPr lang="it-IT" altLang="en-US" sz="1300" dirty="0">
                <a:solidFill>
                  <a:schemeClr val="bg1"/>
                </a:solidFill>
              </a:rPr>
              <a:t>Agenti e 750 pazienti zero</a:t>
            </a:r>
            <a:endParaRPr lang="it-IT" sz="1300" dirty="0"/>
          </a:p>
        </p:txBody>
      </p:sp>
      <p:sp>
        <p:nvSpPr>
          <p:cNvPr id="10" name="fase_2"/>
          <p:cNvSpPr/>
          <p:nvPr/>
        </p:nvSpPr>
        <p:spPr>
          <a:xfrm>
            <a:off x="4937760" y="2240280"/>
            <a:ext cx="2926080" cy="1188720"/>
          </a:xfrm>
          <a:prstGeom prst="roundRect">
            <a:avLst>
              <a:gd name="adj" fmla="val 6154"/>
            </a:avLst>
          </a:prstGeom>
          <a:solidFill>
            <a:srgbClr val="553C9A"/>
          </a:solidFill>
          <a:ln/>
        </p:spPr>
      </p:sp>
      <p:sp>
        <p:nvSpPr>
          <p:cNvPr id="11" name="Text 9"/>
          <p:cNvSpPr txBox="1"/>
          <p:nvPr/>
        </p:nvSpPr>
        <p:spPr>
          <a:xfrm>
            <a:off x="5120640" y="2350008"/>
            <a:ext cx="2560320" cy="365760"/>
          </a:xfrm>
          <a:prstGeom prst="rect">
            <a:avLst/>
          </a:prstGeom>
          <a:noFill/>
          <a:ln/>
        </p:spPr>
        <p:txBody>
          <a:bodyPr wrap="square" lIns="0" tIns="0" rIns="0" bIns="0" rtlCol="0" anchor="t"/>
          <a:lstStyle/>
          <a:p>
            <a:pPr indent="0" marL="0">
              <a:buNone/>
            </a:pPr>
            <a:r>
              <a:rPr lang="it-IT" altLang="en-US" sz="1700" b="1" dirty="0">
                <a:solidFill>
                  <a:schemeClr val="bg1"/>
                </a:solidFill>
              </a:rPr>
              <a:t>Fase 2</a:t>
            </a:r>
            <a:endParaRPr lang="it-IT" sz="1700" dirty="0"/>
          </a:p>
        </p:txBody>
      </p:sp>
      <p:sp>
        <p:nvSpPr>
          <p:cNvPr id="12" name="Text 10"/>
          <p:cNvSpPr txBox="1"/>
          <p:nvPr/>
        </p:nvSpPr>
        <p:spPr>
          <a:xfrm>
            <a:off x="5120640" y="2743200"/>
            <a:ext cx="2560320" cy="640080"/>
          </a:xfrm>
          <a:prstGeom prst="rect">
            <a:avLst/>
          </a:prstGeom>
          <a:noFill/>
          <a:ln/>
        </p:spPr>
        <p:txBody>
          <a:bodyPr wrap="square" lIns="0" tIns="0" rIns="0" bIns="0" rtlCol="0" anchor="t"/>
          <a:lstStyle/>
          <a:p>
            <a:pPr indent="0" marL="0">
              <a:buNone/>
            </a:pPr>
            <a:r>
              <a:rPr lang="it-IT" altLang="en-US" sz="1300" dirty="0">
                <a:solidFill>
                  <a:schemeClr val="bg1"/>
                </a:solidFill>
              </a:rPr>
              <a:t>Co-evoluzione, step 0–99 (due sessioni da 50)</a:t>
            </a:r>
            <a:endParaRPr lang="it-IT" sz="1300" dirty="0"/>
          </a:p>
        </p:txBody>
      </p:sp>
      <p:sp>
        <p:nvSpPr>
          <p:cNvPr id="13" name="checkpoint"/>
          <p:cNvSpPr/>
          <p:nvPr/>
        </p:nvSpPr>
        <p:spPr>
          <a:xfrm>
            <a:off x="8092440" y="2560320"/>
            <a:ext cx="548640" cy="548640"/>
          </a:xfrm>
          <a:prstGeom prst="ellipse">
            <a:avLst/>
          </a:prstGeom>
          <a:solidFill>
            <a:srgbClr val="B7791F"/>
          </a:solidFill>
          <a:ln/>
        </p:spPr>
      </p:sp>
      <p:sp>
        <p:nvSpPr>
          <p:cNvPr id="14" name="Text 12"/>
          <p:cNvSpPr txBox="1"/>
          <p:nvPr/>
        </p:nvSpPr>
        <p:spPr>
          <a:xfrm>
            <a:off x="8092440" y="256032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99</a:t>
            </a:r>
            <a:endParaRPr lang="en-US" sz="1300" dirty="0"/>
          </a:p>
        </p:txBody>
      </p:sp>
      <p:sp>
        <p:nvSpPr>
          <p:cNvPr id="15" name="Text 13"/>
          <p:cNvSpPr txBox="1"/>
          <p:nvPr/>
        </p:nvSpPr>
        <p:spPr>
          <a:xfrm>
            <a:off x="7818120" y="3154680"/>
            <a:ext cx="1097280" cy="274320"/>
          </a:xfrm>
          <a:prstGeom prst="rect">
            <a:avLst/>
          </a:prstGeom>
          <a:noFill/>
          <a:ln/>
        </p:spPr>
        <p:txBody>
          <a:bodyPr wrap="square" lIns="0" tIns="0" rIns="0" bIns="0" rtlCol="0" anchor="t"/>
          <a:lstStyle/>
          <a:p>
            <a:pPr algn="ctr" indent="0" marL="0">
              <a:buNone/>
            </a:pPr>
            <a:r>
              <a:rPr lang="it-IT" altLang="en-US" sz="1100" dirty="0">
                <a:solidFill>
                  <a:srgbClr val="4A5568"/>
                </a:solidFill>
              </a:rPr>
              <a:t>checkpoint</a:t>
            </a:r>
            <a:endParaRPr lang="it-IT" sz="1100" dirty="0"/>
          </a:p>
        </p:txBody>
      </p:sp>
      <p:sp>
        <p:nvSpPr>
          <p:cNvPr id="16" name="Shape 14"/>
          <p:cNvSpPr/>
          <p:nvPr/>
        </p:nvSpPr>
        <p:spPr>
          <a:xfrm flipV="1">
            <a:off x="8641080" y="2103120"/>
            <a:ext cx="502920" cy="731520"/>
          </a:xfrm>
          <a:prstGeom prst="line">
            <a:avLst/>
          </a:prstGeom>
          <a:noFill/>
          <a:ln w="19050">
            <a:solidFill>
              <a:srgbClr val="718096"/>
            </a:solidFill>
            <a:prstDash val="solid"/>
          </a:ln>
        </p:spPr>
      </p:sp>
      <p:sp>
        <p:nvSpPr>
          <p:cNvPr id="17" name="Shape 15"/>
          <p:cNvSpPr/>
          <p:nvPr/>
        </p:nvSpPr>
        <p:spPr>
          <a:xfrm>
            <a:off x="8641080" y="2834640"/>
            <a:ext cx="502920" cy="731520"/>
          </a:xfrm>
          <a:prstGeom prst="line">
            <a:avLst/>
          </a:prstGeom>
          <a:noFill/>
          <a:ln w="19050">
            <a:solidFill>
              <a:srgbClr val="718096"/>
            </a:solidFill>
            <a:prstDash val="solid"/>
          </a:ln>
        </p:spPr>
      </p:sp>
      <p:sp>
        <p:nvSpPr>
          <p:cNvPr id="18" name="ramo_intervento"/>
          <p:cNvSpPr/>
          <p:nvPr/>
        </p:nvSpPr>
        <p:spPr>
          <a:xfrm>
            <a:off x="9189720" y="1783080"/>
            <a:ext cx="2453335" cy="731520"/>
          </a:xfrm>
          <a:prstGeom prst="roundRect">
            <a:avLst>
              <a:gd name="adj" fmla="val 10000"/>
            </a:avLst>
          </a:prstGeom>
          <a:solidFill>
            <a:srgbClr val="B7791F"/>
          </a:solidFill>
          <a:ln/>
        </p:spPr>
      </p:sp>
      <p:sp>
        <p:nvSpPr>
          <p:cNvPr id="19" name="Text 17"/>
          <p:cNvSpPr txBox="1"/>
          <p:nvPr/>
        </p:nvSpPr>
        <p:spPr>
          <a:xfrm>
            <a:off x="9326880" y="1783080"/>
            <a:ext cx="2179015" cy="731520"/>
          </a:xfrm>
          <a:prstGeom prst="rect">
            <a:avLst/>
          </a:prstGeom>
          <a:noFill/>
          <a:ln/>
        </p:spPr>
        <p:txBody>
          <a:bodyPr wrap="square" lIns="0" tIns="0" rIns="0" bIns="0" rtlCol="0" anchor="ctr"/>
          <a:lstStyle/>
          <a:p>
            <a:pPr indent="0" marL="0">
              <a:buNone/>
            </a:pPr>
            <a:r>
              <a:rPr lang="it-IT" altLang="en-US" sz="1400" b="1" dirty="0">
                <a:solidFill>
                  <a:schemeClr val="bg1"/>
                </a:solidFill>
              </a:rPr>
              <a:t>Intervento: 20 fact-checker, step 100–129</a:t>
            </a:r>
            <a:endParaRPr lang="it-IT" sz="1400" dirty="0"/>
          </a:p>
        </p:txBody>
      </p:sp>
      <p:sp>
        <p:nvSpPr>
          <p:cNvPr id="20" name="ramo_controllo"/>
          <p:cNvSpPr/>
          <p:nvPr/>
        </p:nvSpPr>
        <p:spPr>
          <a:xfrm>
            <a:off x="9189720" y="3154680"/>
            <a:ext cx="2453335" cy="731520"/>
          </a:xfrm>
          <a:prstGeom prst="roundRect">
            <a:avLst>
              <a:gd name="adj" fmla="val 10000"/>
            </a:avLst>
          </a:prstGeom>
          <a:solidFill>
            <a:srgbClr val="718096"/>
          </a:solidFill>
          <a:ln/>
        </p:spPr>
      </p:sp>
      <p:sp>
        <p:nvSpPr>
          <p:cNvPr id="21" name="Text 19"/>
          <p:cNvSpPr txBox="1"/>
          <p:nvPr/>
        </p:nvSpPr>
        <p:spPr>
          <a:xfrm>
            <a:off x="9326880" y="3154680"/>
            <a:ext cx="2179015" cy="731520"/>
          </a:xfrm>
          <a:prstGeom prst="rect">
            <a:avLst/>
          </a:prstGeom>
          <a:noFill/>
          <a:ln/>
        </p:spPr>
        <p:txBody>
          <a:bodyPr wrap="square" lIns="0" tIns="0" rIns="0" bIns="0" rtlCol="0" anchor="ctr"/>
          <a:lstStyle/>
          <a:p>
            <a:pPr indent="0" marL="0">
              <a:buNone/>
            </a:pPr>
            <a:r>
              <a:rPr lang="it-IT" altLang="en-US" sz="1400" b="1" dirty="0">
                <a:solidFill>
                  <a:schemeClr val="bg1"/>
                </a:solidFill>
              </a:rPr>
              <a:t>Controllo: nessuna iniezione, step 100–129</a:t>
            </a:r>
            <a:endParaRPr lang="it-IT" sz="1400" dirty="0"/>
          </a:p>
        </p:txBody>
      </p:sp>
      <p:sp>
        <p:nvSpPr>
          <p:cNvPr id="22" name="principio_0"/>
          <p:cNvSpPr/>
          <p:nvPr/>
        </p:nvSpPr>
        <p:spPr>
          <a:xfrm>
            <a:off x="548640" y="4343400"/>
            <a:ext cx="3515258" cy="1554480"/>
          </a:xfrm>
          <a:prstGeom prst="roundRect">
            <a:avLst>
              <a:gd name="adj" fmla="val 4706"/>
            </a:avLst>
          </a:prstGeom>
          <a:solidFill>
            <a:schemeClr val="bg2"/>
          </a:solidFill>
          <a:ln/>
        </p:spPr>
      </p:sp>
      <p:sp>
        <p:nvSpPr>
          <p:cNvPr id="23" name="Text 21"/>
          <p:cNvSpPr txBox="1"/>
          <p:nvPr/>
        </p:nvSpPr>
        <p:spPr>
          <a:xfrm>
            <a:off x="777240" y="4480560"/>
            <a:ext cx="3058058" cy="365760"/>
          </a:xfrm>
          <a:prstGeom prst="rect">
            <a:avLst/>
          </a:prstGeom>
          <a:noFill/>
          <a:ln/>
        </p:spPr>
        <p:txBody>
          <a:bodyPr wrap="square" lIns="0" tIns="0" rIns="0" bIns="0" rtlCol="0" anchor="t"/>
          <a:lstStyle/>
          <a:p>
            <a:pPr indent="0" marL="0">
              <a:buNone/>
            </a:pPr>
            <a:r>
              <a:rPr lang="it-IT" altLang="en-US" sz="1600" b="1" dirty="0">
                <a:solidFill>
                  <a:schemeClr val="tx2"/>
                </a:solidFill>
              </a:rPr>
              <a:t>Stima dell'effetto</a:t>
            </a:r>
            <a:endParaRPr lang="it-IT" sz="1600" dirty="0"/>
          </a:p>
        </p:txBody>
      </p:sp>
      <p:sp>
        <p:nvSpPr>
          <p:cNvPr id="24" name="Text 22"/>
          <p:cNvSpPr txBox="1"/>
          <p:nvPr/>
        </p:nvSpPr>
        <p:spPr>
          <a:xfrm>
            <a:off x="777240" y="4919472"/>
            <a:ext cx="3058058" cy="1097280"/>
          </a:xfrm>
          <a:prstGeom prst="rect">
            <a:avLst/>
          </a:prstGeom>
          <a:noFill/>
          <a:ln/>
        </p:spPr>
        <p:txBody>
          <a:bodyPr wrap="square" lIns="0" tIns="0" rIns="0" bIns="0" rtlCol="0" anchor="t"/>
          <a:lstStyle/>
          <a:p>
            <a:pPr indent="0" marL="0">
              <a:buNone/>
            </a:pPr>
            <a:r>
              <a:rPr lang="it-IT" altLang="en-US" sz="1400" dirty="0">
                <a:solidFill>
                  <a:schemeClr val="tx1"/>
                </a:solidFill>
              </a:rPr>
              <a:t>Δ(t) = Y</a:t>
            </a:r>
            <a:pPr indent="0" marL="0">
              <a:buNone/>
            </a:pPr>
            <a:r>
              <a:rPr lang="it-IT" altLang="en-US" sz="1400" baseline="-40000" dirty="0">
                <a:solidFill>
                  <a:schemeClr val="tx1"/>
                </a:solidFill>
              </a:rPr>
              <a:t>int</a:t>
            </a:r>
            <a:pPr indent="0" marL="0">
              <a:buNone/>
            </a:pPr>
            <a:r>
              <a:rPr lang="it-IT" altLang="en-US" sz="1400" dirty="0">
                <a:solidFill>
                  <a:schemeClr val="tx1"/>
                </a:solidFill>
              </a:rPr>
              <a:t>(t) − Y</a:t>
            </a:r>
            <a:pPr indent="0" marL="0">
              <a:buNone/>
            </a:pPr>
            <a:r>
              <a:rPr lang="it-IT" altLang="en-US" sz="1400" baseline="-40000" dirty="0">
                <a:solidFill>
                  <a:schemeClr val="tx1"/>
                </a:solidFill>
              </a:rPr>
              <a:t>ctrl</a:t>
            </a:r>
            <a:pPr indent="0" marL="0">
              <a:buNone/>
            </a:pPr>
            <a:r>
              <a:rPr lang="it-IT" altLang="en-US" sz="1400" dirty="0">
                <a:solidFill>
                  <a:schemeClr val="tx1"/>
                </a:solidFill>
              </a:rPr>
              <a:t>(t), calcolata allo stesso step</a:t>
            </a:r>
            <a:endParaRPr lang="it-IT" sz="1400" dirty="0"/>
          </a:p>
        </p:txBody>
      </p:sp>
      <p:sp>
        <p:nvSpPr>
          <p:cNvPr id="25" name="principio_1"/>
          <p:cNvSpPr/>
          <p:nvPr/>
        </p:nvSpPr>
        <p:spPr>
          <a:xfrm>
            <a:off x="4338218" y="4343400"/>
            <a:ext cx="3515258" cy="1554480"/>
          </a:xfrm>
          <a:prstGeom prst="roundRect">
            <a:avLst>
              <a:gd name="adj" fmla="val 4706"/>
            </a:avLst>
          </a:prstGeom>
          <a:solidFill>
            <a:schemeClr val="bg2"/>
          </a:solidFill>
          <a:ln/>
        </p:spPr>
      </p:sp>
      <p:sp>
        <p:nvSpPr>
          <p:cNvPr id="26" name="Text 24"/>
          <p:cNvSpPr txBox="1"/>
          <p:nvPr/>
        </p:nvSpPr>
        <p:spPr>
          <a:xfrm>
            <a:off x="4566818" y="4480560"/>
            <a:ext cx="3058058" cy="365760"/>
          </a:xfrm>
          <a:prstGeom prst="rect">
            <a:avLst/>
          </a:prstGeom>
          <a:noFill/>
          <a:ln/>
        </p:spPr>
        <p:txBody>
          <a:bodyPr wrap="square" lIns="0" tIns="0" rIns="0" bIns="0" rtlCol="0" anchor="t"/>
          <a:lstStyle/>
          <a:p>
            <a:pPr indent="0" marL="0">
              <a:buNone/>
            </a:pPr>
            <a:r>
              <a:rPr lang="it-IT" altLang="en-US" sz="1600" b="1" dirty="0">
                <a:solidFill>
                  <a:schemeClr val="tx2"/>
                </a:solidFill>
              </a:rPr>
              <a:t>Numeri casuali comuni</a:t>
            </a:r>
            <a:endParaRPr lang="it-IT" sz="1600" dirty="0"/>
          </a:p>
        </p:txBody>
      </p:sp>
      <p:sp>
        <p:nvSpPr>
          <p:cNvPr id="27" name="Text 25"/>
          <p:cNvSpPr txBox="1"/>
          <p:nvPr/>
        </p:nvSpPr>
        <p:spPr>
          <a:xfrm>
            <a:off x="4566818" y="4919472"/>
            <a:ext cx="3058058" cy="1097280"/>
          </a:xfrm>
          <a:prstGeom prst="rect">
            <a:avLst/>
          </a:prstGeom>
          <a:noFill/>
          <a:ln/>
        </p:spPr>
        <p:txBody>
          <a:bodyPr wrap="square" lIns="0" tIns="0" rIns="0" bIns="0" rtlCol="0" anchor="t"/>
          <a:lstStyle/>
          <a:p>
            <a:pPr indent="0" marL="0">
              <a:buNone/>
            </a:pPr>
            <a:r>
              <a:rPr lang="it-IT" altLang="en-US" sz="1400" dirty="0">
                <a:solidFill>
                  <a:schemeClr val="tx1"/>
                </a:solidFill>
              </a:rPr>
              <a:t>Seed per richiesta derivato dal prompt: risposte identiche finché i prompt coincidono</a:t>
            </a:r>
            <a:endParaRPr lang="it-IT" sz="1400" dirty="0"/>
          </a:p>
        </p:txBody>
      </p:sp>
      <p:sp>
        <p:nvSpPr>
          <p:cNvPr id="28" name="principio_2"/>
          <p:cNvSpPr/>
          <p:nvPr/>
        </p:nvSpPr>
        <p:spPr>
          <a:xfrm>
            <a:off x="8127797" y="4343400"/>
            <a:ext cx="3515258" cy="1554480"/>
          </a:xfrm>
          <a:prstGeom prst="roundRect">
            <a:avLst>
              <a:gd name="adj" fmla="val 4706"/>
            </a:avLst>
          </a:prstGeom>
          <a:solidFill>
            <a:schemeClr val="bg2"/>
          </a:solidFill>
          <a:ln/>
        </p:spPr>
      </p:sp>
      <p:sp>
        <p:nvSpPr>
          <p:cNvPr id="29" name="Text 27"/>
          <p:cNvSpPr txBox="1"/>
          <p:nvPr/>
        </p:nvSpPr>
        <p:spPr>
          <a:xfrm>
            <a:off x="8356397" y="4480560"/>
            <a:ext cx="3058058" cy="365760"/>
          </a:xfrm>
          <a:prstGeom prst="rect">
            <a:avLst/>
          </a:prstGeom>
          <a:noFill/>
          <a:ln/>
        </p:spPr>
        <p:txBody>
          <a:bodyPr wrap="square" lIns="0" tIns="0" rIns="0" bIns="0" rtlCol="0" anchor="t"/>
          <a:lstStyle/>
          <a:p>
            <a:pPr indent="0" marL="0">
              <a:buNone/>
            </a:pPr>
            <a:r>
              <a:rPr lang="it-IT" altLang="en-US" sz="1600" b="1" dirty="0">
                <a:solidFill>
                  <a:schemeClr val="tx2"/>
                </a:solidFill>
              </a:rPr>
              <a:t>Attivazione non forzata</a:t>
            </a:r>
            <a:endParaRPr lang="it-IT" sz="1600" dirty="0"/>
          </a:p>
        </p:txBody>
      </p:sp>
      <p:sp>
        <p:nvSpPr>
          <p:cNvPr id="30" name="Text 28"/>
          <p:cNvSpPr txBox="1"/>
          <p:nvPr/>
        </p:nvSpPr>
        <p:spPr>
          <a:xfrm>
            <a:off x="8356397" y="4919472"/>
            <a:ext cx="3058058" cy="1097280"/>
          </a:xfrm>
          <a:prstGeom prst="rect">
            <a:avLst/>
          </a:prstGeom>
          <a:noFill/>
          <a:ln/>
        </p:spPr>
        <p:txBody>
          <a:bodyPr wrap="square" lIns="0" tIns="0" rIns="0" bIns="0" rtlCol="0" anchor="t"/>
          <a:lstStyle/>
          <a:p>
            <a:pPr indent="0" marL="0">
              <a:buNone/>
            </a:pPr>
            <a:r>
              <a:rPr lang="it-IT" altLang="en-US" sz="1400" dirty="0">
                <a:solidFill>
                  <a:schemeClr val="tx1"/>
                </a:solidFill>
              </a:rPr>
              <a:t>Infection rate a inizio Fase 3 pari a 0.406, sopra la soglia di 0.4</a:t>
            </a:r>
            <a:endParaRPr lang="it-IT"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La diffusione satura al 40.5%</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Curva logistica con saturazione lontana dalla popolazione totale: comportamento di tipo SIR</a:t>
            </a:r>
            <a:endParaRPr lang="it-IT" sz="1800" dirty="0"/>
          </a:p>
        </p:txBody>
      </p:sp>
      <p:graphicFrame>
        <p:nvGraphicFramePr>
          <p:cNvPr id="4" name="grafico_diffusione" descr=""/>
          <p:cNvGraphicFramePr/>
          <p:nvPr/>
        </p:nvGraphicFramePr>
        <p:xfrm>
          <a:off x="548640" y="1737360"/>
          <a:ext cx="74066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321040" y="1691640"/>
            <a:ext cx="3322015" cy="777240"/>
          </a:xfrm>
          <a:prstGeom prst="rect">
            <a:avLst/>
          </a:prstGeom>
          <a:noFill/>
          <a:ln/>
        </p:spPr>
        <p:txBody>
          <a:bodyPr wrap="square" lIns="0" tIns="0" rIns="0" bIns="0" rtlCol="0" anchor="b"/>
          <a:lstStyle/>
          <a:p>
            <a:pPr indent="0" marL="0">
              <a:buNone/>
            </a:pPr>
            <a:r>
              <a:rPr lang="it-IT" altLang="en-US" sz="3600" b="1" dirty="0">
                <a:solidFill>
                  <a:srgbClr val="C53030"/>
                </a:solidFill>
                <a:latin typeface="Cambria" pitchFamily="34" charset="0"/>
                <a:ea typeface="Cambria" pitchFamily="34" charset="-122"/>
                <a:cs typeface="Cambria" pitchFamily="34" charset="-120"/>
              </a:rPr>
              <a:t>K = 2 024</a:t>
            </a:r>
            <a:endParaRPr lang="it-IT" sz="3600" dirty="0"/>
          </a:p>
        </p:txBody>
      </p:sp>
      <p:sp>
        <p:nvSpPr>
          <p:cNvPr id="6" name="Text 3"/>
          <p:cNvSpPr txBox="1"/>
          <p:nvPr/>
        </p:nvSpPr>
        <p:spPr>
          <a:xfrm>
            <a:off x="8321040" y="2514600"/>
            <a:ext cx="3322015" cy="685800"/>
          </a:xfrm>
          <a:prstGeom prst="rect">
            <a:avLst/>
          </a:prstGeom>
          <a:noFill/>
          <a:ln/>
        </p:spPr>
        <p:txBody>
          <a:bodyPr wrap="square" lIns="0" tIns="0" rIns="0" bIns="0" rtlCol="0" anchor="t"/>
          <a:lstStyle/>
          <a:p>
            <a:pPr indent="0" marL="0">
              <a:buNone/>
            </a:pPr>
            <a:r>
              <a:rPr lang="it-IT" altLang="en-US" sz="1300" dirty="0">
                <a:solidFill>
                  <a:srgbClr val="4A5568"/>
                </a:solidFill>
              </a:rPr>
              <a:t>nodi infetti a saturazione (40.5% di 5 000)</a:t>
            </a:r>
            <a:endParaRPr lang="it-IT" sz="1300" dirty="0"/>
          </a:p>
        </p:txBody>
      </p:sp>
      <p:sp>
        <p:nvSpPr>
          <p:cNvPr id="7" name="Text 4"/>
          <p:cNvSpPr txBox="1"/>
          <p:nvPr/>
        </p:nvSpPr>
        <p:spPr>
          <a:xfrm>
            <a:off x="8321040" y="3200400"/>
            <a:ext cx="3322015" cy="777240"/>
          </a:xfrm>
          <a:prstGeom prst="rect">
            <a:avLst/>
          </a:prstGeom>
          <a:noFill/>
          <a:ln/>
        </p:spPr>
        <p:txBody>
          <a:bodyPr wrap="square" lIns="0" tIns="0" rIns="0" bIns="0" rtlCol="0" anchor="b"/>
          <a:lstStyle/>
          <a:p>
            <a:pPr indent="0" marL="0">
              <a:buNone/>
            </a:pPr>
            <a:r>
              <a:rPr lang="it-IT" altLang="en-US" sz="3600" b="1" dirty="0">
                <a:solidFill>
                  <a:srgbClr val="16243A"/>
                </a:solidFill>
                <a:latin typeface="Cambria" pitchFamily="34" charset="0"/>
                <a:ea typeface="Cambria" pitchFamily="34" charset="-122"/>
                <a:cs typeface="Cambria" pitchFamily="34" charset="-120"/>
              </a:rPr>
              <a:t>R² = 0.997</a:t>
            </a:r>
            <a:endParaRPr lang="it-IT" sz="3600" dirty="0"/>
          </a:p>
        </p:txBody>
      </p:sp>
      <p:sp>
        <p:nvSpPr>
          <p:cNvPr id="8" name="Text 5"/>
          <p:cNvSpPr txBox="1"/>
          <p:nvPr/>
        </p:nvSpPr>
        <p:spPr>
          <a:xfrm>
            <a:off x="8321040" y="4023360"/>
            <a:ext cx="3322015" cy="685800"/>
          </a:xfrm>
          <a:prstGeom prst="rect">
            <a:avLst/>
          </a:prstGeom>
          <a:noFill/>
          <a:ln/>
        </p:spPr>
        <p:txBody>
          <a:bodyPr wrap="square" lIns="0" tIns="0" rIns="0" bIns="0" rtlCol="0" anchor="t"/>
          <a:lstStyle/>
          <a:p>
            <a:pPr indent="0" marL="0">
              <a:buNone/>
            </a:pPr>
            <a:r>
              <a:rPr lang="it-IT" altLang="en-US" sz="1300" dirty="0">
                <a:solidFill>
                  <a:srgbClr val="4A5568"/>
                </a:solidFill>
              </a:rPr>
              <a:t>adattamento logistico; tasso r = 0.139 per step</a:t>
            </a:r>
            <a:endParaRPr lang="it-IT" sz="1300" dirty="0"/>
          </a:p>
        </p:txBody>
      </p:sp>
      <p:sp>
        <p:nvSpPr>
          <p:cNvPr id="9" name="Text 6"/>
          <p:cNvSpPr txBox="1"/>
          <p:nvPr/>
        </p:nvSpPr>
        <p:spPr>
          <a:xfrm>
            <a:off x="8321040" y="4709160"/>
            <a:ext cx="3322015" cy="777240"/>
          </a:xfrm>
          <a:prstGeom prst="rect">
            <a:avLst/>
          </a:prstGeom>
          <a:noFill/>
          <a:ln/>
        </p:spPr>
        <p:txBody>
          <a:bodyPr wrap="square" lIns="0" tIns="0" rIns="0" bIns="0" rtlCol="0" anchor="b"/>
          <a:lstStyle/>
          <a:p>
            <a:pPr indent="0" marL="0">
              <a:buNone/>
            </a:pPr>
            <a:r>
              <a:rPr lang="it-IT" altLang="en-US" sz="3600" b="1" dirty="0">
                <a:solidFill>
                  <a:srgbClr val="553C9A"/>
                </a:solidFill>
                <a:latin typeface="Cambria" pitchFamily="34" charset="0"/>
                <a:ea typeface="Cambria" pitchFamily="34" charset="-122"/>
                <a:cs typeface="Cambria" pitchFamily="34" charset="-120"/>
              </a:rPr>
              <a:t>78%</a:t>
            </a:r>
            <a:endParaRPr lang="it-IT" sz="3600" dirty="0"/>
          </a:p>
        </p:txBody>
      </p:sp>
      <p:sp>
        <p:nvSpPr>
          <p:cNvPr id="10" name="Text 7"/>
          <p:cNvSpPr txBox="1"/>
          <p:nvPr/>
        </p:nvSpPr>
        <p:spPr>
          <a:xfrm>
            <a:off x="8321040" y="5532120"/>
            <a:ext cx="3322015" cy="685800"/>
          </a:xfrm>
          <a:prstGeom prst="rect">
            <a:avLst/>
          </a:prstGeom>
          <a:noFill/>
          <a:ln/>
        </p:spPr>
        <p:txBody>
          <a:bodyPr wrap="square" lIns="0" tIns="0" rIns="0" bIns="0" rtlCol="0" anchor="t"/>
          <a:lstStyle/>
          <a:p>
            <a:pPr indent="0" marL="0">
              <a:buNone/>
            </a:pPr>
            <a:r>
              <a:rPr lang="it-IT" altLang="en-US" sz="1300" dirty="0">
                <a:solidFill>
                  <a:srgbClr val="4A5568"/>
                </a:solidFill>
              </a:rPr>
              <a:t>delle 3 422 transizioni avviene nei primi 20 step</a:t>
            </a:r>
            <a:endParaRPr lang="it-IT"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La segregazione di opinione domina</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Le metriche strutturali crescono del 5–6%, la belief assortativity del 145%</a:t>
            </a:r>
            <a:endParaRPr lang="it-IT" sz="1800" dirty="0"/>
          </a:p>
        </p:txBody>
      </p:sp>
      <p:graphicFrame>
        <p:nvGraphicFramePr>
          <p:cNvPr id="4" name="grafico_segregazione" descr=""/>
          <p:cNvGraphicFramePr/>
          <p:nvPr/>
        </p:nvGraphicFramePr>
        <p:xfrm>
          <a:off x="548640" y="173736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test_omofilia"/>
          <p:cNvSpPr/>
          <p:nvPr/>
        </p:nvSpPr>
        <p:spPr>
          <a:xfrm>
            <a:off x="7680960" y="1783080"/>
            <a:ext cx="3962095" cy="2148840"/>
          </a:xfrm>
          <a:prstGeom prst="roundRect">
            <a:avLst>
              <a:gd name="adj" fmla="val 3404"/>
            </a:avLst>
          </a:prstGeom>
          <a:solidFill>
            <a:schemeClr val="bg2"/>
          </a:solidFill>
          <a:ln/>
        </p:spPr>
      </p:sp>
      <p:sp>
        <p:nvSpPr>
          <p:cNvPr id="6" name="Text 3"/>
          <p:cNvSpPr txBox="1"/>
          <p:nvPr/>
        </p:nvSpPr>
        <p:spPr>
          <a:xfrm>
            <a:off x="7909560" y="1874520"/>
            <a:ext cx="3504895" cy="548640"/>
          </a:xfrm>
          <a:prstGeom prst="rect">
            <a:avLst/>
          </a:prstGeom>
          <a:noFill/>
          <a:ln/>
        </p:spPr>
        <p:txBody>
          <a:bodyPr wrap="square" lIns="0" tIns="0" rIns="0" bIns="0" rtlCol="0" anchor="t"/>
          <a:lstStyle/>
          <a:p>
            <a:pPr indent="0" marL="0">
              <a:buNone/>
            </a:pPr>
            <a:r>
              <a:rPr lang="it-IT" altLang="en-US" sz="1400" b="1" dirty="0">
                <a:solidFill>
                  <a:schemeClr val="tx2"/>
                </a:solidFill>
              </a:rPr>
              <a:t>Test di omofilia (archi eterofili osservati / attesi)</a:t>
            </a:r>
            <a:endParaRPr lang="it-IT" sz="1400" dirty="0"/>
          </a:p>
        </p:txBody>
      </p:sp>
      <p:sp>
        <p:nvSpPr>
          <p:cNvPr id="7" name="Text 4"/>
          <p:cNvSpPr txBox="1"/>
          <p:nvPr/>
        </p:nvSpPr>
        <p:spPr>
          <a:xfrm>
            <a:off x="7909560" y="2468880"/>
            <a:ext cx="3504895" cy="731520"/>
          </a:xfrm>
          <a:prstGeom prst="rect">
            <a:avLst/>
          </a:prstGeom>
          <a:noFill/>
          <a:ln/>
        </p:spPr>
        <p:txBody>
          <a:bodyPr wrap="square" lIns="0" tIns="0" rIns="0" bIns="0" rtlCol="0" anchor="ctr"/>
          <a:lstStyle/>
          <a:p>
            <a:pPr indent="0" marL="0">
              <a:buNone/>
            </a:pPr>
            <a:r>
              <a:rPr lang="it-IT" altLang="en-US" sz="3800" b="1" dirty="0">
                <a:solidFill>
                  <a:srgbClr val="DD6B20"/>
                </a:solidFill>
                <a:latin typeface="Cambria" pitchFamily="34" charset="0"/>
                <a:ea typeface="Cambria" pitchFamily="34" charset="-122"/>
                <a:cs typeface="Cambria" pitchFamily="34" charset="-120"/>
              </a:rPr>
              <a:t>1.087 → 0.291</a:t>
            </a:r>
            <a:endParaRPr lang="it-IT" sz="3800" dirty="0"/>
          </a:p>
        </p:txBody>
      </p:sp>
      <p:sp>
        <p:nvSpPr>
          <p:cNvPr id="8" name="Text 5"/>
          <p:cNvSpPr txBox="1"/>
          <p:nvPr/>
        </p:nvSpPr>
        <p:spPr>
          <a:xfrm>
            <a:off x="7909560" y="3200400"/>
            <a:ext cx="3504895" cy="640080"/>
          </a:xfrm>
          <a:prstGeom prst="rect">
            <a:avLst/>
          </a:prstGeom>
          <a:noFill/>
          <a:ln/>
        </p:spPr>
        <p:txBody>
          <a:bodyPr wrap="square" lIns="0" tIns="0" rIns="0" bIns="0" rtlCol="0" anchor="t"/>
          <a:lstStyle/>
          <a:p>
            <a:pPr indent="0" marL="0">
              <a:buNone/>
            </a:pPr>
            <a:r>
              <a:rPr lang="it-IT" altLang="en-US" sz="1300" dirty="0">
                <a:solidFill>
                  <a:srgbClr val="4A5568"/>
                </a:solidFill>
              </a:rPr>
              <a:t>Allo step 0 non c'è omofilia di opinione: è prodotta dalla dinamica</a:t>
            </a:r>
            <a:endParaRPr lang="it-IT" sz="1300" dirty="0"/>
          </a:p>
        </p:txBody>
      </p:sp>
      <p:sp>
        <p:nvSpPr>
          <p:cNvPr id="9" name="Text 6"/>
          <p:cNvSpPr txBox="1"/>
          <p:nvPr/>
        </p:nvSpPr>
        <p:spPr>
          <a:xfrm>
            <a:off x="7680960" y="4160520"/>
            <a:ext cx="3962095" cy="2011680"/>
          </a:xfrm>
          <a:prstGeom prst="rect">
            <a:avLst/>
          </a:prstGeom>
          <a:noFill/>
          <a:ln/>
        </p:spPr>
        <p:txBody>
          <a:bodyPr wrap="square" lIns="0" tIns="0" rIns="0" bIns="0" rtlCol="0" anchor="t"/>
          <a:lstStyle/>
          <a:p>
            <a:pPr marL="203200" indent="-203200">
              <a:spcAft>
                <a:spcPts val="600"/>
              </a:spcAft>
              <a:buSzPct val="100000"/>
              <a:buChar char="•"/>
            </a:pPr>
            <a:r>
              <a:rPr lang="it-IT" altLang="en-US" sz="1400" dirty="0">
                <a:solidFill>
                  <a:schemeClr val="tx1"/>
                </a:solidFill>
              </a:rPr>
              <a:t>Solo il 9.5% degli archi è sostituito: la struttura cambia poco</a:t>
            </a:r>
            <a:endParaRPr lang="it-IT" sz="1500" dirty="0"/>
          </a:p>
          <a:p>
            <a:pPr marL="203200" indent="-203200">
              <a:spcAft>
                <a:spcPts val="600"/>
              </a:spcAft>
              <a:buSzPct val="100000"/>
              <a:buChar char="•"/>
            </a:pPr>
            <a:r>
              <a:rPr lang="it-IT" altLang="en-US" sz="1400" dirty="0">
                <a:solidFill>
                  <a:schemeClr val="tx1"/>
                </a:solidFill>
              </a:rPr>
              <a:t>Cautela: i candidati a distanza 2 sono in prevalenza intra-comunità</a:t>
            </a:r>
            <a:endParaRPr lang="it-IT" sz="1500" dirty="0"/>
          </a:p>
          <a:p>
            <a:pPr marL="203200" indent="-203200">
              <a:spcAft>
                <a:spcPts val="600"/>
              </a:spcAft>
              <a:buSzPct val="100000"/>
              <a:buChar char="•"/>
            </a:pPr>
            <a:r>
              <a:rPr lang="it-IT" altLang="en-US" sz="1400" dirty="0">
                <a:solidFill>
                  <a:schemeClr val="tx1"/>
                </a:solidFill>
              </a:rPr>
              <a:t>Selezione e influenza non separabili senza ablazione</a:t>
            </a:r>
            <a:endParaRPr lang="it-IT"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Lettura critica delle metriche</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Indici non corretti rispetto alla composizione degli stati possono indurre conclusioni errate</a:t>
            </a:r>
            <a:endParaRPr lang="it-IT" sz="1800" dirty="0"/>
          </a:p>
        </p:txBody>
      </p:sp>
      <p:graphicFrame>
        <p:nvGraphicFramePr>
          <p:cNvPr id="4" name="grafico_omofilia" descr=""/>
          <p:cNvGraphicFramePr/>
          <p:nvPr/>
        </p:nvGraphicFramePr>
        <p:xfrm>
          <a:off x="548640" y="173736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nota_h"/>
          <p:cNvSpPr/>
          <p:nvPr/>
        </p:nvSpPr>
        <p:spPr>
          <a:xfrm>
            <a:off x="7680960" y="1783080"/>
            <a:ext cx="3962095" cy="2103120"/>
          </a:xfrm>
          <a:prstGeom prst="roundRect">
            <a:avLst>
              <a:gd name="adj" fmla="val 3478"/>
            </a:avLst>
          </a:prstGeom>
          <a:solidFill>
            <a:schemeClr val="bg2"/>
          </a:solidFill>
          <a:ln/>
        </p:spPr>
      </p:sp>
      <p:sp>
        <p:nvSpPr>
          <p:cNvPr id="6" name="Text 3"/>
          <p:cNvSpPr txBox="1"/>
          <p:nvPr/>
        </p:nvSpPr>
        <p:spPr>
          <a:xfrm>
            <a:off x="7909560" y="1874520"/>
            <a:ext cx="3504895" cy="365760"/>
          </a:xfrm>
          <a:prstGeom prst="rect">
            <a:avLst/>
          </a:prstGeom>
          <a:noFill/>
          <a:ln/>
        </p:spPr>
        <p:txBody>
          <a:bodyPr wrap="square" lIns="0" tIns="0" rIns="0" bIns="0" rtlCol="0" anchor="t"/>
          <a:lstStyle/>
          <a:p>
            <a:pPr indent="0" marL="0">
              <a:buNone/>
            </a:pPr>
            <a:r>
              <a:rPr lang="it-IT" altLang="en-US" sz="1600" b="1" dirty="0">
                <a:solidFill>
                  <a:schemeClr val="tx2"/>
                </a:solidFill>
              </a:rPr>
              <a:t>Il calo iniziale di H è apparente</a:t>
            </a:r>
            <a:endParaRPr lang="it-IT" sz="1600" dirty="0"/>
          </a:p>
        </p:txBody>
      </p:sp>
      <p:sp>
        <p:nvSpPr>
          <p:cNvPr id="7" name="Text 4"/>
          <p:cNvSpPr txBox="1"/>
          <p:nvPr/>
        </p:nvSpPr>
        <p:spPr>
          <a:xfrm>
            <a:off x="7909560" y="2286000"/>
            <a:ext cx="3504895" cy="1508760"/>
          </a:xfrm>
          <a:prstGeom prst="rect">
            <a:avLst/>
          </a:prstGeom>
          <a:noFill/>
          <a:ln/>
        </p:spPr>
        <p:txBody>
          <a:bodyPr wrap="square" lIns="0" tIns="0" rIns="0" bIns="0" rtlCol="0" anchor="t"/>
          <a:lstStyle/>
          <a:p>
            <a:pPr indent="0" marL="0">
              <a:buNone/>
            </a:pPr>
            <a:r>
              <a:rPr lang="it-IT" altLang="en-US" sz="1400" dirty="0">
                <a:solidFill>
                  <a:schemeClr val="tx1"/>
                </a:solidFill>
              </a:rPr>
              <a:t>Step 0–4: H scende da 0.629 a 0.585, ma H</a:t>
            </a:r>
            <a:pPr indent="0" marL="0">
              <a:buNone/>
            </a:pPr>
            <a:r>
              <a:rPr lang="it-IT" altLang="en-US" sz="1400" baseline="-40000" dirty="0">
                <a:solidFill>
                  <a:schemeClr val="tx1"/>
                </a:solidFill>
              </a:rPr>
              <a:t>0</a:t>
            </a:r>
            <a:pPr indent="0" marL="0">
              <a:buNone/>
            </a:pPr>
            <a:r>
              <a:rPr lang="it-IT" altLang="en-US" sz="1400" dirty="0">
                <a:solidFill>
                  <a:schemeClr val="tx1"/>
                </a:solidFill>
              </a:rPr>
              <a:t> scende da 0.659 a 0.465. L'omofilia relativa al caso aumenta fin dal primo step.</a:t>
            </a:r>
            <a:endParaRPr lang="it-IT" sz="1400" dirty="0"/>
          </a:p>
        </p:txBody>
      </p:sp>
      <p:sp>
        <p:nvSpPr>
          <p:cNvPr id="8" name="nota_bp"/>
          <p:cNvSpPr/>
          <p:nvPr/>
        </p:nvSpPr>
        <p:spPr>
          <a:xfrm>
            <a:off x="7680960" y="4069080"/>
            <a:ext cx="3962095" cy="2103120"/>
          </a:xfrm>
          <a:prstGeom prst="roundRect">
            <a:avLst>
              <a:gd name="adj" fmla="val 3478"/>
            </a:avLst>
          </a:prstGeom>
          <a:solidFill>
            <a:schemeClr val="bg2"/>
          </a:solidFill>
          <a:ln/>
        </p:spPr>
      </p:sp>
      <p:sp>
        <p:nvSpPr>
          <p:cNvPr id="9" name="Text 6"/>
          <p:cNvSpPr txBox="1"/>
          <p:nvPr/>
        </p:nvSpPr>
        <p:spPr>
          <a:xfrm>
            <a:off x="7909560" y="4160520"/>
            <a:ext cx="3504895" cy="365760"/>
          </a:xfrm>
          <a:prstGeom prst="rect">
            <a:avLst/>
          </a:prstGeom>
          <a:noFill/>
          <a:ln/>
        </p:spPr>
        <p:txBody>
          <a:bodyPr wrap="square" lIns="0" tIns="0" rIns="0" bIns="0" rtlCol="0" anchor="t"/>
          <a:lstStyle/>
          <a:p>
            <a:pPr indent="0" marL="0">
              <a:buNone/>
            </a:pPr>
            <a:r>
              <a:rPr lang="it-IT" altLang="en-US" sz="1600" b="1" dirty="0">
                <a:solidFill>
                  <a:schemeClr val="tx2"/>
                </a:solidFill>
              </a:rPr>
              <a:t>BP misura la composizione, non la rete</a:t>
            </a:r>
            <a:endParaRPr lang="it-IT" sz="1600" dirty="0"/>
          </a:p>
        </p:txBody>
      </p:sp>
      <p:sp>
        <p:nvSpPr>
          <p:cNvPr id="10" name="Text 7"/>
          <p:cNvSpPr txBox="1"/>
          <p:nvPr/>
        </p:nvSpPr>
        <p:spPr>
          <a:xfrm>
            <a:off x="7909560" y="4572000"/>
            <a:ext cx="3504895" cy="1508760"/>
          </a:xfrm>
          <a:prstGeom prst="rect">
            <a:avLst/>
          </a:prstGeom>
          <a:noFill/>
          <a:ln/>
        </p:spPr>
        <p:txBody>
          <a:bodyPr wrap="square" lIns="0" tIns="0" rIns="0" bIns="0" rtlCol="0" anchor="t"/>
          <a:lstStyle/>
          <a:p>
            <a:pPr indent="0" marL="0">
              <a:buNone/>
            </a:pPr>
            <a:r>
              <a:rPr lang="it-IT" altLang="en-US" sz="1400" dirty="0">
                <a:solidFill>
                  <a:schemeClr val="tx1"/>
                </a:solidFill>
              </a:rPr>
              <a:t>BP = p</a:t>
            </a:r>
            <a:pPr indent="0" marL="0">
              <a:buNone/>
            </a:pPr>
            <a:r>
              <a:rPr lang="it-IT" altLang="en-US" sz="1400" baseline="-40000" dirty="0">
                <a:solidFill>
                  <a:schemeClr val="tx1"/>
                </a:solidFill>
              </a:rPr>
              <a:t>I</a:t>
            </a:r>
            <a:pPr indent="0" marL="0">
              <a:buNone/>
            </a:pPr>
            <a:r>
              <a:rPr lang="it-IT" altLang="en-US" sz="1400" dirty="0">
                <a:solidFill>
                  <a:schemeClr val="tx1"/>
                </a:solidFill>
              </a:rPr>
              <a:t> + p</a:t>
            </a:r>
            <a:pPr indent="0" marL="0">
              <a:buNone/>
            </a:pPr>
            <a:r>
              <a:rPr lang="it-IT" altLang="en-US" sz="1400" baseline="-40000" dirty="0">
                <a:solidFill>
                  <a:schemeClr val="tx1"/>
                </a:solidFill>
              </a:rPr>
              <a:t>RF</a:t>
            </a:r>
            <a:pPr indent="0" marL="0">
              <a:buNone/>
            </a:pPr>
            <a:r>
              <a:rPr lang="it-IT" altLang="en-US" sz="1400" dirty="0">
                <a:solidFill>
                  <a:schemeClr val="tx1"/>
                </a:solidFill>
              </a:rPr>
              <a:t> − (p</a:t>
            </a:r>
            <a:pPr indent="0" marL="0">
              <a:buNone/>
            </a:pPr>
            <a:r>
              <a:rPr lang="it-IT" altLang="en-US" sz="1400" baseline="-40000" dirty="0">
                <a:solidFill>
                  <a:schemeClr val="tx1"/>
                </a:solidFill>
              </a:rPr>
              <a:t>I</a:t>
            </a:r>
            <a:pPr indent="0" marL="0">
              <a:buNone/>
            </a:pPr>
            <a:r>
              <a:rPr lang="it-IT" altLang="en-US" sz="1400" dirty="0">
                <a:solidFill>
                  <a:schemeClr val="tx1"/>
                </a:solidFill>
              </a:rPr>
              <a:t> − p</a:t>
            </a:r>
            <a:pPr indent="0" marL="0">
              <a:buNone/>
            </a:pPr>
            <a:r>
              <a:rPr lang="it-IT" altLang="en-US" sz="1400" baseline="-40000" dirty="0">
                <a:solidFill>
                  <a:schemeClr val="tx1"/>
                </a:solidFill>
              </a:rPr>
              <a:t>RF</a:t>
            </a:r>
            <a:pPr indent="0" marL="0">
              <a:buNone/>
            </a:pPr>
            <a:r>
              <a:rPr lang="it-IT" altLang="en-US" sz="1400" dirty="0">
                <a:solidFill>
                  <a:schemeClr val="tx1"/>
                </a:solidFill>
              </a:rPr>
              <a:t>)²: dipende solo dalle numerosità. Allo step 99 restituisce 0.8043, il valore registrato.</a:t>
            </a:r>
            <a:endParaRPr lang="it-IT"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Intervento: prevenzione, non cura</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Venti fact-checker proteggono il 16% dei suscettibili residui; gli infetti restano invariati</a:t>
            </a:r>
            <a:endParaRPr lang="it-IT" sz="1800" dirty="0"/>
          </a:p>
        </p:txBody>
      </p:sp>
      <p:graphicFrame>
        <p:nvGraphicFramePr>
          <p:cNvPr id="4" name="grafico_intervento" descr=""/>
          <p:cNvGraphicFramePr/>
          <p:nvPr/>
        </p:nvGraphicFramePr>
        <p:xfrm>
          <a:off x="4754880" y="1737360"/>
          <a:ext cx="6888175"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1691640"/>
            <a:ext cx="3840480" cy="777240"/>
          </a:xfrm>
          <a:prstGeom prst="rect">
            <a:avLst/>
          </a:prstGeom>
          <a:noFill/>
          <a:ln/>
        </p:spPr>
        <p:txBody>
          <a:bodyPr wrap="square" lIns="0" tIns="0" rIns="0" bIns="0" rtlCol="0" anchor="b"/>
          <a:lstStyle/>
          <a:p>
            <a:pPr indent="0" marL="0">
              <a:buNone/>
            </a:pPr>
            <a:r>
              <a:rPr lang="it-IT" altLang="en-US" sz="4600" b="1" dirty="0">
                <a:solidFill>
                  <a:srgbClr val="2F855A"/>
                </a:solidFill>
                <a:latin typeface="Cambria" pitchFamily="34" charset="0"/>
                <a:ea typeface="Cambria" pitchFamily="34" charset="-122"/>
                <a:cs typeface="Cambria" pitchFamily="34" charset="-120"/>
              </a:rPr>
              <a:t>+160</a:t>
            </a:r>
            <a:endParaRPr lang="it-IT" sz="4600" dirty="0"/>
          </a:p>
        </p:txBody>
      </p:sp>
      <p:sp>
        <p:nvSpPr>
          <p:cNvPr id="6" name="Text 3"/>
          <p:cNvSpPr txBox="1"/>
          <p:nvPr/>
        </p:nvSpPr>
        <p:spPr>
          <a:xfrm>
            <a:off x="548640" y="2514600"/>
            <a:ext cx="3840480" cy="685800"/>
          </a:xfrm>
          <a:prstGeom prst="rect">
            <a:avLst/>
          </a:prstGeom>
          <a:noFill/>
          <a:ln/>
        </p:spPr>
        <p:txBody>
          <a:bodyPr wrap="square" lIns="0" tIns="0" rIns="0" bIns="0" rtlCol="0" anchor="t"/>
          <a:lstStyle/>
          <a:p>
            <a:pPr indent="0" marL="0">
              <a:buNone/>
            </a:pPr>
            <a:r>
              <a:rPr lang="it-IT" altLang="en-US" sz="1300" dirty="0">
                <a:solidFill>
                  <a:srgbClr val="4A5568"/>
                </a:solidFill>
              </a:rPr>
              <a:t>resistenti rispetto al controllo; stima ex ante 162</a:t>
            </a:r>
            <a:endParaRPr lang="it-IT" sz="1300" dirty="0"/>
          </a:p>
        </p:txBody>
      </p:sp>
      <p:sp>
        <p:nvSpPr>
          <p:cNvPr id="7" name="Text 4"/>
          <p:cNvSpPr txBox="1"/>
          <p:nvPr/>
        </p:nvSpPr>
        <p:spPr>
          <a:xfrm>
            <a:off x="548640" y="3200400"/>
            <a:ext cx="3840480" cy="777240"/>
          </a:xfrm>
          <a:prstGeom prst="rect">
            <a:avLst/>
          </a:prstGeom>
          <a:noFill/>
          <a:ln/>
        </p:spPr>
        <p:txBody>
          <a:bodyPr wrap="square" lIns="0" tIns="0" rIns="0" bIns="0" rtlCol="0" anchor="b"/>
          <a:lstStyle/>
          <a:p>
            <a:pPr indent="0" marL="0">
              <a:buNone/>
            </a:pPr>
            <a:r>
              <a:rPr lang="it-IT" altLang="en-US" sz="4600" b="1" dirty="0">
                <a:solidFill>
                  <a:srgbClr val="2B6CB0"/>
                </a:solidFill>
                <a:latin typeface="Cambria" pitchFamily="34" charset="0"/>
                <a:ea typeface="Cambria" pitchFamily="34" charset="-122"/>
                <a:cs typeface="Cambria" pitchFamily="34" charset="-120"/>
              </a:rPr>
              <a:t>−156</a:t>
            </a:r>
            <a:endParaRPr lang="it-IT" sz="4600" dirty="0"/>
          </a:p>
        </p:txBody>
      </p:sp>
      <p:sp>
        <p:nvSpPr>
          <p:cNvPr id="8" name="Text 5"/>
          <p:cNvSpPr txBox="1"/>
          <p:nvPr/>
        </p:nvSpPr>
        <p:spPr>
          <a:xfrm>
            <a:off x="548640" y="4023360"/>
            <a:ext cx="3840480" cy="685800"/>
          </a:xfrm>
          <a:prstGeom prst="rect">
            <a:avLst/>
          </a:prstGeom>
          <a:noFill/>
          <a:ln/>
        </p:spPr>
        <p:txBody>
          <a:bodyPr wrap="square" lIns="0" tIns="0" rIns="0" bIns="0" rtlCol="0" anchor="t"/>
          <a:lstStyle/>
          <a:p>
            <a:pPr indent="0" marL="0">
              <a:buNone/>
            </a:pPr>
            <a:r>
              <a:rPr lang="it-IT" altLang="en-US" sz="1300" dirty="0">
                <a:solidFill>
                  <a:srgbClr val="4A5568"/>
                </a:solidFill>
              </a:rPr>
              <a:t>suscettibili protetti, oltre ai 20 seed (9 volte le 17 transizioni del controllo)</a:t>
            </a:r>
            <a:endParaRPr lang="it-IT" sz="1300" dirty="0"/>
          </a:p>
        </p:txBody>
      </p:sp>
      <p:sp>
        <p:nvSpPr>
          <p:cNvPr id="9" name="Text 6"/>
          <p:cNvSpPr txBox="1"/>
          <p:nvPr/>
        </p:nvSpPr>
        <p:spPr>
          <a:xfrm>
            <a:off x="548640" y="4709160"/>
            <a:ext cx="3840480" cy="777240"/>
          </a:xfrm>
          <a:prstGeom prst="rect">
            <a:avLst/>
          </a:prstGeom>
          <a:noFill/>
          <a:ln/>
        </p:spPr>
        <p:txBody>
          <a:bodyPr wrap="square" lIns="0" tIns="0" rIns="0" bIns="0" rtlCol="0" anchor="b"/>
          <a:lstStyle/>
          <a:p>
            <a:pPr indent="0" marL="0">
              <a:buNone/>
            </a:pPr>
            <a:r>
              <a:rPr lang="it-IT" altLang="en-US" sz="4600" b="1" dirty="0">
                <a:solidFill>
                  <a:srgbClr val="C53030"/>
                </a:solidFill>
                <a:latin typeface="Cambria" pitchFamily="34" charset="0"/>
                <a:ea typeface="Cambria" pitchFamily="34" charset="-122"/>
                <a:cs typeface="Cambria" pitchFamily="34" charset="-120"/>
              </a:rPr>
              <a:t>−4</a:t>
            </a:r>
            <a:endParaRPr lang="it-IT" sz="4600" dirty="0"/>
          </a:p>
        </p:txBody>
      </p:sp>
      <p:sp>
        <p:nvSpPr>
          <p:cNvPr id="10" name="Text 7"/>
          <p:cNvSpPr txBox="1"/>
          <p:nvPr/>
        </p:nvSpPr>
        <p:spPr>
          <a:xfrm>
            <a:off x="548640" y="5532120"/>
            <a:ext cx="3840480" cy="685800"/>
          </a:xfrm>
          <a:prstGeom prst="rect">
            <a:avLst/>
          </a:prstGeom>
          <a:noFill/>
          <a:ln/>
        </p:spPr>
        <p:txBody>
          <a:bodyPr wrap="square" lIns="0" tIns="0" rIns="0" bIns="0" rtlCol="0" anchor="t"/>
          <a:lstStyle/>
          <a:p>
            <a:pPr indent="0" marL="0">
              <a:buNone/>
            </a:pPr>
            <a:r>
              <a:rPr lang="it-IT" altLang="en-US" sz="1300" dirty="0">
                <a:solidFill>
                  <a:srgbClr val="4A5568"/>
                </a:solidFill>
              </a:rPr>
              <a:t>infetti: inferiore alla variazione spontanea del controllo (−8)</a:t>
            </a:r>
            <a:endParaRPr lang="it-IT"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Prestazioni computazionali</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Il costo dominante è l'inferenza dell'LLM: le scelte orientate a R2 hanno l'effetto maggiore</a:t>
            </a:r>
            <a:endParaRPr lang="it-IT" sz="1800" dirty="0"/>
          </a:p>
        </p:txBody>
      </p:sp>
      <p:sp>
        <p:nvSpPr>
          <p:cNvPr id="4" name="kpi_0"/>
          <p:cNvSpPr/>
          <p:nvPr/>
        </p:nvSpPr>
        <p:spPr>
          <a:xfrm>
            <a:off x="548640" y="1828800"/>
            <a:ext cx="2567864" cy="2377440"/>
          </a:xfrm>
          <a:prstGeom prst="roundRect">
            <a:avLst>
              <a:gd name="adj" fmla="val 3077"/>
            </a:avLst>
          </a:prstGeom>
          <a:solidFill>
            <a:schemeClr val="bg2"/>
          </a:solidFill>
          <a:ln/>
        </p:spPr>
      </p:sp>
      <p:sp>
        <p:nvSpPr>
          <p:cNvPr id="5" name="Text 3"/>
          <p:cNvSpPr txBox="1"/>
          <p:nvPr/>
        </p:nvSpPr>
        <p:spPr>
          <a:xfrm>
            <a:off x="731520" y="2011680"/>
            <a:ext cx="2202104" cy="868680"/>
          </a:xfrm>
          <a:prstGeom prst="rect">
            <a:avLst/>
          </a:prstGeom>
          <a:noFill/>
          <a:ln/>
        </p:spPr>
        <p:txBody>
          <a:bodyPr wrap="square" lIns="0" tIns="0" rIns="0" bIns="0" rtlCol="0" anchor="ctr"/>
          <a:lstStyle/>
          <a:p>
            <a:pPr indent="0" marL="0">
              <a:buNone/>
            </a:pPr>
            <a:r>
              <a:rPr lang="it-IT" altLang="en-US" sz="4000" b="1" dirty="0">
                <a:solidFill>
                  <a:srgbClr val="16243A"/>
                </a:solidFill>
                <a:latin typeface="Cambria" pitchFamily="34" charset="0"/>
                <a:ea typeface="Cambria" pitchFamily="34" charset="-122"/>
                <a:cs typeface="Cambria" pitchFamily="34" charset="-120"/>
              </a:rPr>
              <a:t>~6 min</a:t>
            </a:r>
            <a:endParaRPr lang="it-IT" sz="4000" dirty="0"/>
          </a:p>
        </p:txBody>
      </p:sp>
      <p:sp>
        <p:nvSpPr>
          <p:cNvPr id="6" name="Text 4"/>
          <p:cNvSpPr txBox="1"/>
          <p:nvPr/>
        </p:nvSpPr>
        <p:spPr>
          <a:xfrm>
            <a:off x="731520" y="2971800"/>
            <a:ext cx="2202104" cy="1143000"/>
          </a:xfrm>
          <a:prstGeom prst="rect">
            <a:avLst/>
          </a:prstGeom>
          <a:noFill/>
          <a:ln/>
        </p:spPr>
        <p:txBody>
          <a:bodyPr wrap="square" lIns="0" tIns="0" rIns="0" bIns="0" rtlCol="0" anchor="t"/>
          <a:lstStyle/>
          <a:p>
            <a:pPr indent="0" marL="0">
              <a:buNone/>
            </a:pPr>
            <a:r>
              <a:rPr lang="it-IT" altLang="en-US" sz="1400" dirty="0">
                <a:solidFill>
                  <a:schemeClr val="tx1"/>
                </a:solidFill>
              </a:rPr>
              <a:t>per step con parallelismo tensoriale su 2 GPU T4 (~12 min su una sola T4)</a:t>
            </a:r>
            <a:endParaRPr lang="it-IT" sz="1400" dirty="0"/>
          </a:p>
        </p:txBody>
      </p:sp>
      <p:sp>
        <p:nvSpPr>
          <p:cNvPr id="7" name="kpi_1"/>
          <p:cNvSpPr/>
          <p:nvPr/>
        </p:nvSpPr>
        <p:spPr>
          <a:xfrm>
            <a:off x="3390824" y="1828800"/>
            <a:ext cx="2567864" cy="2377440"/>
          </a:xfrm>
          <a:prstGeom prst="roundRect">
            <a:avLst>
              <a:gd name="adj" fmla="val 3077"/>
            </a:avLst>
          </a:prstGeom>
          <a:solidFill>
            <a:schemeClr val="bg2"/>
          </a:solidFill>
          <a:ln/>
        </p:spPr>
      </p:sp>
      <p:sp>
        <p:nvSpPr>
          <p:cNvPr id="8" name="Text 6"/>
          <p:cNvSpPr txBox="1"/>
          <p:nvPr/>
        </p:nvSpPr>
        <p:spPr>
          <a:xfrm>
            <a:off x="3573704" y="2011680"/>
            <a:ext cx="2202104" cy="868680"/>
          </a:xfrm>
          <a:prstGeom prst="rect">
            <a:avLst/>
          </a:prstGeom>
          <a:noFill/>
          <a:ln/>
        </p:spPr>
        <p:txBody>
          <a:bodyPr wrap="square" lIns="0" tIns="0" rIns="0" bIns="0" rtlCol="0" anchor="ctr"/>
          <a:lstStyle/>
          <a:p>
            <a:pPr indent="0" marL="0">
              <a:buNone/>
            </a:pPr>
            <a:r>
              <a:rPr lang="it-IT" altLang="en-US" sz="4000" b="1" dirty="0">
                <a:solidFill>
                  <a:srgbClr val="2B6CB0"/>
                </a:solidFill>
                <a:latin typeface="Cambria" pitchFamily="34" charset="0"/>
                <a:ea typeface="Cambria" pitchFamily="34" charset="-122"/>
                <a:cs typeface="Cambria" pitchFamily="34" charset="-120"/>
              </a:rPr>
              <a:t>≤ 750</a:t>
            </a:r>
            <a:endParaRPr lang="it-IT" sz="4000" dirty="0"/>
          </a:p>
        </p:txBody>
      </p:sp>
      <p:sp>
        <p:nvSpPr>
          <p:cNvPr id="9" name="Text 7"/>
          <p:cNvSpPr txBox="1"/>
          <p:nvPr/>
        </p:nvSpPr>
        <p:spPr>
          <a:xfrm>
            <a:off x="3573704" y="2971800"/>
            <a:ext cx="2202104" cy="1143000"/>
          </a:xfrm>
          <a:prstGeom prst="rect">
            <a:avLst/>
          </a:prstGeom>
          <a:noFill/>
          <a:ln/>
        </p:spPr>
        <p:txBody>
          <a:bodyPr wrap="square" lIns="0" tIns="0" rIns="0" bIns="0" rtlCol="0" anchor="t"/>
          <a:lstStyle/>
          <a:p>
            <a:pPr indent="0" marL="0">
              <a:buNone/>
            </a:pPr>
            <a:r>
              <a:rPr lang="it-IT" altLang="en-US" sz="1400" dirty="0">
                <a:solidFill>
                  <a:schemeClr val="tx1"/>
                </a:solidFill>
              </a:rPr>
              <a:t>invocazioni LLM per step, ridotte omettendo i suscettibili non esposti</a:t>
            </a:r>
            <a:endParaRPr lang="it-IT" sz="1400" dirty="0"/>
          </a:p>
        </p:txBody>
      </p:sp>
      <p:sp>
        <p:nvSpPr>
          <p:cNvPr id="10" name="kpi_2"/>
          <p:cNvSpPr/>
          <p:nvPr/>
        </p:nvSpPr>
        <p:spPr>
          <a:xfrm>
            <a:off x="6233008" y="1828800"/>
            <a:ext cx="2567864" cy="2377440"/>
          </a:xfrm>
          <a:prstGeom prst="roundRect">
            <a:avLst>
              <a:gd name="adj" fmla="val 3077"/>
            </a:avLst>
          </a:prstGeom>
          <a:solidFill>
            <a:schemeClr val="bg2"/>
          </a:solidFill>
          <a:ln/>
        </p:spPr>
      </p:sp>
      <p:sp>
        <p:nvSpPr>
          <p:cNvPr id="11" name="Text 9"/>
          <p:cNvSpPr txBox="1"/>
          <p:nvPr/>
        </p:nvSpPr>
        <p:spPr>
          <a:xfrm>
            <a:off x="6415888" y="2011680"/>
            <a:ext cx="2202104" cy="868680"/>
          </a:xfrm>
          <a:prstGeom prst="rect">
            <a:avLst/>
          </a:prstGeom>
          <a:noFill/>
          <a:ln/>
        </p:spPr>
        <p:txBody>
          <a:bodyPr wrap="square" lIns="0" tIns="0" rIns="0" bIns="0" rtlCol="0" anchor="ctr"/>
          <a:lstStyle/>
          <a:p>
            <a:pPr indent="0" marL="0">
              <a:buNone/>
            </a:pPr>
            <a:r>
              <a:rPr lang="it-IT" altLang="en-US" sz="4000" b="1" dirty="0">
                <a:solidFill>
                  <a:srgbClr val="B7791F"/>
                </a:solidFill>
                <a:latin typeface="Cambria" pitchFamily="34" charset="0"/>
                <a:ea typeface="Cambria" pitchFamily="34" charset="-122"/>
                <a:cs typeface="Cambria" pitchFamily="34" charset="-120"/>
              </a:rPr>
              <a:t>~10⁶</a:t>
            </a:r>
            <a:endParaRPr lang="it-IT" sz="4000" dirty="0"/>
          </a:p>
        </p:txBody>
      </p:sp>
      <p:sp>
        <p:nvSpPr>
          <p:cNvPr id="12" name="Text 10"/>
          <p:cNvSpPr txBox="1"/>
          <p:nvPr/>
        </p:nvSpPr>
        <p:spPr>
          <a:xfrm>
            <a:off x="6415888" y="2971800"/>
            <a:ext cx="2202104" cy="1143000"/>
          </a:xfrm>
          <a:prstGeom prst="rect">
            <a:avLst/>
          </a:prstGeom>
          <a:noFill/>
          <a:ln/>
        </p:spPr>
        <p:txBody>
          <a:bodyPr wrap="square" lIns="0" tIns="0" rIns="0" bIns="0" rtlCol="0" anchor="t"/>
          <a:lstStyle/>
          <a:p>
            <a:pPr indent="0" marL="0">
              <a:buNone/>
            </a:pPr>
            <a:r>
              <a:rPr lang="it-IT" altLang="en-US" sz="1400" dirty="0">
                <a:solidFill>
                  <a:schemeClr val="tx1"/>
                </a:solidFill>
              </a:rPr>
              <a:t>operazioni per selezionare 20 fact-checker: costo trascurabile</a:t>
            </a:r>
            <a:endParaRPr lang="it-IT" sz="1400" dirty="0"/>
          </a:p>
        </p:txBody>
      </p:sp>
      <p:sp>
        <p:nvSpPr>
          <p:cNvPr id="13" name="kpi_3"/>
          <p:cNvSpPr/>
          <p:nvPr/>
        </p:nvSpPr>
        <p:spPr>
          <a:xfrm>
            <a:off x="9075191" y="1828800"/>
            <a:ext cx="2567864" cy="2377440"/>
          </a:xfrm>
          <a:prstGeom prst="roundRect">
            <a:avLst>
              <a:gd name="adj" fmla="val 3077"/>
            </a:avLst>
          </a:prstGeom>
          <a:solidFill>
            <a:schemeClr val="bg2"/>
          </a:solidFill>
          <a:ln/>
        </p:spPr>
      </p:sp>
      <p:sp>
        <p:nvSpPr>
          <p:cNvPr id="14" name="Text 12"/>
          <p:cNvSpPr txBox="1"/>
          <p:nvPr/>
        </p:nvSpPr>
        <p:spPr>
          <a:xfrm>
            <a:off x="9258071" y="2011680"/>
            <a:ext cx="2202104" cy="868680"/>
          </a:xfrm>
          <a:prstGeom prst="rect">
            <a:avLst/>
          </a:prstGeom>
          <a:noFill/>
          <a:ln/>
        </p:spPr>
        <p:txBody>
          <a:bodyPr wrap="square" lIns="0" tIns="0" rIns="0" bIns="0" rtlCol="0" anchor="ctr"/>
          <a:lstStyle/>
          <a:p>
            <a:pPr indent="0" marL="0">
              <a:buNone/>
            </a:pPr>
            <a:r>
              <a:rPr lang="it-IT" altLang="en-US" sz="4000" b="1" dirty="0">
                <a:solidFill>
                  <a:srgbClr val="553C9A"/>
                </a:solidFill>
                <a:latin typeface="Cambria" pitchFamily="34" charset="0"/>
                <a:ea typeface="Cambria" pitchFamily="34" charset="-122"/>
                <a:cs typeface="Cambria" pitchFamily="34" charset="-120"/>
              </a:rPr>
              <a:t>0.360</a:t>
            </a:r>
            <a:endParaRPr lang="it-IT" sz="4000" dirty="0"/>
          </a:p>
        </p:txBody>
      </p:sp>
      <p:sp>
        <p:nvSpPr>
          <p:cNvPr id="15" name="Text 13"/>
          <p:cNvSpPr txBox="1"/>
          <p:nvPr/>
        </p:nvSpPr>
        <p:spPr>
          <a:xfrm>
            <a:off x="9258071" y="2971800"/>
            <a:ext cx="2202104" cy="1143000"/>
          </a:xfrm>
          <a:prstGeom prst="rect">
            <a:avLst/>
          </a:prstGeom>
          <a:noFill/>
          <a:ln/>
        </p:spPr>
        <p:txBody>
          <a:bodyPr wrap="square" lIns="0" tIns="0" rIns="0" bIns="0" rtlCol="0" anchor="t"/>
          <a:lstStyle/>
          <a:p>
            <a:pPr indent="0" marL="0">
              <a:buNone/>
            </a:pPr>
            <a:r>
              <a:rPr lang="it-IT" altLang="en-US" sz="1400" dirty="0">
                <a:solidFill>
                  <a:schemeClr val="tx1"/>
                </a:solidFill>
              </a:rPr>
              <a:t>loss BCE finale del link predictor (0.816 allo step 0; ln 2 ≈ 0.693)</a:t>
            </a:r>
            <a:endParaRPr lang="it-IT" sz="1400" dirty="0"/>
          </a:p>
        </p:txBody>
      </p:sp>
      <p:sp>
        <p:nvSpPr>
          <p:cNvPr id="16" name="Text 14"/>
          <p:cNvSpPr txBox="1"/>
          <p:nvPr/>
        </p:nvSpPr>
        <p:spPr>
          <a:xfrm>
            <a:off x="548640" y="4526280"/>
            <a:ext cx="11094415" cy="1691640"/>
          </a:xfrm>
          <a:prstGeom prst="rect">
            <a:avLst/>
          </a:prstGeom>
          <a:noFill/>
          <a:ln/>
        </p:spPr>
        <p:txBody>
          <a:bodyPr wrap="square" lIns="0" tIns="0" rIns="0" bIns="0" rtlCol="0" anchor="t"/>
          <a:lstStyle/>
          <a:p>
            <a:pPr marL="203200" indent="-203200">
              <a:spcAft>
                <a:spcPts val="600"/>
              </a:spcAft>
              <a:buSzPct val="100000"/>
              <a:buChar char="•"/>
            </a:pPr>
            <a:r>
              <a:rPr lang="it-IT" altLang="en-US" sz="1500" dirty="0">
                <a:solidFill>
                  <a:schemeClr val="tx1"/>
                </a:solidFill>
              </a:rPr>
              <a:t>Fase 2: circa 10 ore stimate (100 step), in due sessioni Kaggle da 50 step con ripresa da checkpoint</a:t>
            </a:r>
            <a:endParaRPr lang="it-IT" sz="1500" dirty="0"/>
          </a:p>
          <a:p>
            <a:pPr marL="203200" indent="-203200">
              <a:spcAft>
                <a:spcPts val="600"/>
              </a:spcAft>
              <a:buSzPct val="100000"/>
              <a:buChar char="•"/>
            </a:pPr>
            <a:r>
              <a:rPr lang="it-IT" altLang="en-US" sz="1500" dirty="0">
                <a:solidFill>
                  <a:schemeClr val="tx1"/>
                </a:solidFill>
              </a:rPr>
              <a:t>Fase 3: circa 3 ore stimate per ciascuna delle due simulazioni da 30 step</a:t>
            </a:r>
            <a:endParaRPr lang="it-IT" sz="1500" dirty="0"/>
          </a:p>
          <a:p>
            <a:pPr marL="203200" indent="-203200">
              <a:spcAft>
                <a:spcPts val="600"/>
              </a:spcAft>
              <a:buSzPct val="100000"/>
              <a:buChar char="•"/>
            </a:pPr>
            <a:r>
              <a:rPr lang="it-IT" altLang="en-US" sz="1500" dirty="0">
                <a:solidFill>
                  <a:schemeClr val="tx1"/>
                </a:solidFill>
              </a:rPr>
              <a:t>Metriche topologiche riutilizzate se l'impronta degli archi non cambia (~13 ms su 26 000 archi)</a:t>
            </a:r>
            <a:endParaRPr lang="it-IT" sz="1500" dirty="0"/>
          </a:p>
          <a:p>
            <a:pPr marL="203200" indent="-203200">
              <a:spcAft>
                <a:spcPts val="600"/>
              </a:spcAft>
              <a:buSzPct val="100000"/>
              <a:buChar char="•"/>
            </a:pPr>
            <a:r>
              <a:rPr lang="it-IT" altLang="en-US" sz="1500" dirty="0">
                <a:solidFill>
                  <a:schemeClr val="tx1"/>
                </a:solidFill>
              </a:rPr>
              <a:t>Validazione del campionamento: 114 s sulla rete completa contro 0.4 s sul sottografo</a:t>
            </a:r>
            <a:endParaRPr lang="it-IT"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it-IT" altLang="en-US" sz="3200" b="1" dirty="0">
                <a:solidFill>
                  <a:schemeClr val="tx2"/>
                </a:solidFill>
              </a:rPr>
              <a:t>Limiti e sviluppi</a:t>
            </a:r>
            <a:endParaRPr lang="it-IT" sz="3200" dirty="0"/>
          </a:p>
        </p:txBody>
      </p:sp>
      <p:sp>
        <p:nvSpPr>
          <p:cNvPr id="3" name="Text 0"/>
          <p:cNvSpPr/>
          <p:nvPr>
            <p:ph idx="101" type="body" hasCustomPrompt="1"/>
          </p:nvPr>
        </p:nvSpPr>
        <p:spPr>
          <a:xfrm>
            <a:off x="548640" y="1024128"/>
            <a:ext cx="11094415" cy="457200"/>
          </a:xfrm>
          <a:prstGeom prst="rect">
            <a:avLst/>
          </a:prstGeom>
          <a:noFill/>
          <a:ln/>
        </p:spPr>
        <p:txBody>
          <a:bodyPr wrap="square" lIns="0" tIns="0" rIns="0" bIns="0" rtlCol="0" anchor="t"/>
          <a:lstStyle/>
          <a:p>
            <a:pPr indent="0" marL="0">
              <a:buNone/>
            </a:pPr>
            <a:r>
              <a:rPr lang="it-IT" altLang="en-US" sz="1800" i="1" dirty="0">
                <a:solidFill>
                  <a:schemeClr val="accent3"/>
                </a:solidFill>
              </a:rPr>
              <a:t>Gli effetti di grande entità sono robusti; quelli piccoli richiedono repliche e ablazioni</a:t>
            </a:r>
            <a:endParaRPr lang="it-IT" sz="1800" dirty="0"/>
          </a:p>
        </p:txBody>
      </p:sp>
      <p:sp>
        <p:nvSpPr>
          <p:cNvPr id="4" name="limite_0"/>
          <p:cNvSpPr/>
          <p:nvPr/>
        </p:nvSpPr>
        <p:spPr>
          <a:xfrm>
            <a:off x="548640" y="1783080"/>
            <a:ext cx="3515258" cy="2377440"/>
          </a:xfrm>
          <a:prstGeom prst="roundRect">
            <a:avLst>
              <a:gd name="adj" fmla="val 3077"/>
            </a:avLst>
          </a:prstGeom>
          <a:solidFill>
            <a:schemeClr val="bg2"/>
          </a:solidFill>
          <a:ln/>
        </p:spPr>
      </p:sp>
      <p:sp>
        <p:nvSpPr>
          <p:cNvPr id="5" name="marcatore_limite_0"/>
          <p:cNvSpPr/>
          <p:nvPr/>
        </p:nvSpPr>
        <p:spPr>
          <a:xfrm>
            <a:off x="777240" y="1938528"/>
            <a:ext cx="329184" cy="329184"/>
          </a:xfrm>
          <a:prstGeom prst="ellipse">
            <a:avLst/>
          </a:prstGeom>
          <a:solidFill>
            <a:srgbClr val="C53030"/>
          </a:solidFill>
          <a:ln/>
        </p:spPr>
      </p:sp>
      <p:sp>
        <p:nvSpPr>
          <p:cNvPr id="6" name="Text 4"/>
          <p:cNvSpPr txBox="1"/>
          <p:nvPr/>
        </p:nvSpPr>
        <p:spPr>
          <a:xfrm>
            <a:off x="1234440" y="1892808"/>
            <a:ext cx="2646578" cy="411480"/>
          </a:xfrm>
          <a:prstGeom prst="rect">
            <a:avLst/>
          </a:prstGeom>
          <a:noFill/>
          <a:ln/>
        </p:spPr>
        <p:txBody>
          <a:bodyPr wrap="square" lIns="0" tIns="0" rIns="0" bIns="0" rtlCol="0" anchor="ctr"/>
          <a:lstStyle/>
          <a:p>
            <a:pPr indent="0" marL="0">
              <a:buNone/>
            </a:pPr>
            <a:r>
              <a:rPr lang="it-IT" altLang="en-US" sz="1700" b="1" dirty="0">
                <a:solidFill>
                  <a:schemeClr val="tx2"/>
                </a:solidFill>
              </a:rPr>
              <a:t>Validità interna</a:t>
            </a:r>
            <a:endParaRPr lang="it-IT" sz="1700" dirty="0"/>
          </a:p>
        </p:txBody>
      </p:sp>
      <p:sp>
        <p:nvSpPr>
          <p:cNvPr id="7" name="Text 5"/>
          <p:cNvSpPr txBox="1"/>
          <p:nvPr/>
        </p:nvSpPr>
        <p:spPr>
          <a:xfrm>
            <a:off x="777240" y="2423160"/>
            <a:ext cx="3058058" cy="1783080"/>
          </a:xfrm>
          <a:prstGeom prst="rect">
            <a:avLst/>
          </a:prstGeom>
          <a:noFill/>
          <a:ln/>
        </p:spPr>
        <p:txBody>
          <a:bodyPr wrap="square" lIns="0" tIns="0" rIns="0" bIns="0" rtlCol="0" anchor="t"/>
          <a:lstStyle/>
          <a:p>
            <a:pPr marL="203200" indent="-203200">
              <a:spcAft>
                <a:spcPts val="600"/>
              </a:spcAft>
              <a:buSzPct val="100000"/>
              <a:buChar char="•"/>
            </a:pPr>
            <a:r>
              <a:rPr lang="it-IT" altLang="en-US" sz="1400" dirty="0">
                <a:solidFill>
                  <a:schemeClr val="tx1"/>
                </a:solidFill>
              </a:rPr>
              <a:t>Una sola esecuzione per configurazione: nessun intervallo di confidenza</a:t>
            </a:r>
            <a:endParaRPr lang="it-IT" sz="1500" dirty="0"/>
          </a:p>
          <a:p>
            <a:pPr marL="203200" indent="-203200">
              <a:spcAft>
                <a:spcPts val="600"/>
              </a:spcAft>
              <a:buSzPct val="100000"/>
              <a:buChar char="•"/>
            </a:pPr>
            <a:r>
              <a:rPr lang="it-IT" altLang="en-US" sz="1400" dirty="0">
                <a:solidFill>
                  <a:schemeClr val="tx1"/>
                </a:solidFill>
              </a:rPr>
              <a:t>vLLM non garantisce il determinismo con batching variabile</a:t>
            </a:r>
            <a:endParaRPr lang="it-IT" sz="1500" dirty="0"/>
          </a:p>
        </p:txBody>
      </p:sp>
      <p:sp>
        <p:nvSpPr>
          <p:cNvPr id="8" name="limite_1"/>
          <p:cNvSpPr/>
          <p:nvPr/>
        </p:nvSpPr>
        <p:spPr>
          <a:xfrm>
            <a:off x="4338218" y="1783080"/>
            <a:ext cx="3515258" cy="2377440"/>
          </a:xfrm>
          <a:prstGeom prst="roundRect">
            <a:avLst>
              <a:gd name="adj" fmla="val 3077"/>
            </a:avLst>
          </a:prstGeom>
          <a:solidFill>
            <a:schemeClr val="bg2"/>
          </a:solidFill>
          <a:ln/>
        </p:spPr>
      </p:sp>
      <p:sp>
        <p:nvSpPr>
          <p:cNvPr id="9" name="marcatore_limite_1"/>
          <p:cNvSpPr/>
          <p:nvPr/>
        </p:nvSpPr>
        <p:spPr>
          <a:xfrm>
            <a:off x="4566818" y="1938528"/>
            <a:ext cx="329184" cy="329184"/>
          </a:xfrm>
          <a:prstGeom prst="ellipse">
            <a:avLst/>
          </a:prstGeom>
          <a:solidFill>
            <a:srgbClr val="553C9A"/>
          </a:solidFill>
          <a:ln/>
        </p:spPr>
      </p:sp>
      <p:sp>
        <p:nvSpPr>
          <p:cNvPr id="10" name="Text 8"/>
          <p:cNvSpPr txBox="1"/>
          <p:nvPr/>
        </p:nvSpPr>
        <p:spPr>
          <a:xfrm>
            <a:off x="5024018" y="1892808"/>
            <a:ext cx="2646578" cy="411480"/>
          </a:xfrm>
          <a:prstGeom prst="rect">
            <a:avLst/>
          </a:prstGeom>
          <a:noFill/>
          <a:ln/>
        </p:spPr>
        <p:txBody>
          <a:bodyPr wrap="square" lIns="0" tIns="0" rIns="0" bIns="0" rtlCol="0" anchor="ctr"/>
          <a:lstStyle/>
          <a:p>
            <a:pPr indent="0" marL="0">
              <a:buNone/>
            </a:pPr>
            <a:r>
              <a:rPr lang="it-IT" altLang="en-US" sz="1700" b="1" dirty="0">
                <a:solidFill>
                  <a:schemeClr val="tx2"/>
                </a:solidFill>
              </a:rPr>
              <a:t>Validità di costrutto</a:t>
            </a:r>
            <a:endParaRPr lang="it-IT" sz="1700" dirty="0"/>
          </a:p>
        </p:txBody>
      </p:sp>
      <p:sp>
        <p:nvSpPr>
          <p:cNvPr id="11" name="Text 9"/>
          <p:cNvSpPr txBox="1"/>
          <p:nvPr/>
        </p:nvSpPr>
        <p:spPr>
          <a:xfrm>
            <a:off x="4566818" y="2423160"/>
            <a:ext cx="3058058" cy="1783080"/>
          </a:xfrm>
          <a:prstGeom prst="rect">
            <a:avLst/>
          </a:prstGeom>
          <a:noFill/>
          <a:ln/>
        </p:spPr>
        <p:txBody>
          <a:bodyPr wrap="square" lIns="0" tIns="0" rIns="0" bIns="0" rtlCol="0" anchor="t"/>
          <a:lstStyle/>
          <a:p>
            <a:pPr marL="203200" indent="-203200">
              <a:spcAft>
                <a:spcPts val="600"/>
              </a:spcAft>
              <a:buSzPct val="100000"/>
              <a:buChar char="•"/>
            </a:pPr>
            <a:r>
              <a:rPr lang="it-IT" altLang="en-US" sz="1400" dirty="0">
                <a:solidFill>
                  <a:schemeClr val="tx1"/>
                </a:solidFill>
              </a:rPr>
              <a:t>ECI e Q rispetto alla partizione dello step 0</a:t>
            </a:r>
            <a:endParaRPr lang="it-IT" sz="1500" dirty="0"/>
          </a:p>
          <a:p>
            <a:pPr marL="203200" indent="-203200">
              <a:spcAft>
                <a:spcPts val="600"/>
              </a:spcAft>
              <a:buSzPct val="100000"/>
              <a:buChar char="•"/>
            </a:pPr>
            <a:r>
              <a:rPr lang="it-IT" altLang="en-US" sz="1400" dirty="0">
                <a:solidFill>
                  <a:schemeClr val="tx1"/>
                </a:solidFill>
              </a:rPr>
              <a:t>Profili assegnati per comunità modulo 4</a:t>
            </a:r>
            <a:endParaRPr lang="it-IT" sz="1500" dirty="0"/>
          </a:p>
          <a:p>
            <a:pPr marL="203200" indent="-203200">
              <a:spcAft>
                <a:spcPts val="600"/>
              </a:spcAft>
              <a:buSzPct val="100000"/>
              <a:buChar char="•"/>
            </a:pPr>
            <a:r>
              <a:rPr lang="it-IT" altLang="en-US" sz="1400" dirty="0">
                <a:solidFill>
                  <a:schemeClr val="tx1"/>
                </a:solidFill>
              </a:rPr>
              <a:t>Obiettivo di selezione miope</a:t>
            </a:r>
            <a:endParaRPr lang="it-IT" sz="1500" dirty="0"/>
          </a:p>
        </p:txBody>
      </p:sp>
      <p:sp>
        <p:nvSpPr>
          <p:cNvPr id="12" name="limite_2"/>
          <p:cNvSpPr/>
          <p:nvPr/>
        </p:nvSpPr>
        <p:spPr>
          <a:xfrm>
            <a:off x="8127797" y="1783080"/>
            <a:ext cx="3515258" cy="2377440"/>
          </a:xfrm>
          <a:prstGeom prst="roundRect">
            <a:avLst>
              <a:gd name="adj" fmla="val 3077"/>
            </a:avLst>
          </a:prstGeom>
          <a:solidFill>
            <a:schemeClr val="bg2"/>
          </a:solidFill>
          <a:ln/>
        </p:spPr>
      </p:sp>
      <p:sp>
        <p:nvSpPr>
          <p:cNvPr id="13" name="marcatore_limite_2"/>
          <p:cNvSpPr/>
          <p:nvPr/>
        </p:nvSpPr>
        <p:spPr>
          <a:xfrm>
            <a:off x="8356397" y="1938528"/>
            <a:ext cx="329184" cy="329184"/>
          </a:xfrm>
          <a:prstGeom prst="ellipse">
            <a:avLst/>
          </a:prstGeom>
          <a:solidFill>
            <a:srgbClr val="2B6CB0"/>
          </a:solidFill>
          <a:ln/>
        </p:spPr>
      </p:sp>
      <p:sp>
        <p:nvSpPr>
          <p:cNvPr id="14" name="Text 12"/>
          <p:cNvSpPr txBox="1"/>
          <p:nvPr/>
        </p:nvSpPr>
        <p:spPr>
          <a:xfrm>
            <a:off x="8813597" y="1892808"/>
            <a:ext cx="2646578" cy="411480"/>
          </a:xfrm>
          <a:prstGeom prst="rect">
            <a:avLst/>
          </a:prstGeom>
          <a:noFill/>
          <a:ln/>
        </p:spPr>
        <p:txBody>
          <a:bodyPr wrap="square" lIns="0" tIns="0" rIns="0" bIns="0" rtlCol="0" anchor="ctr"/>
          <a:lstStyle/>
          <a:p>
            <a:pPr indent="0" marL="0">
              <a:buNone/>
            </a:pPr>
            <a:r>
              <a:rPr lang="it-IT" altLang="en-US" sz="1700" b="1" dirty="0">
                <a:solidFill>
                  <a:schemeClr val="tx2"/>
                </a:solidFill>
              </a:rPr>
              <a:t>Validità esterna</a:t>
            </a:r>
            <a:endParaRPr lang="it-IT" sz="1700" dirty="0"/>
          </a:p>
        </p:txBody>
      </p:sp>
      <p:sp>
        <p:nvSpPr>
          <p:cNvPr id="15" name="Text 13"/>
          <p:cNvSpPr txBox="1"/>
          <p:nvPr/>
        </p:nvSpPr>
        <p:spPr>
          <a:xfrm>
            <a:off x="8356397" y="2423160"/>
            <a:ext cx="3058058" cy="1783080"/>
          </a:xfrm>
          <a:prstGeom prst="rect">
            <a:avLst/>
          </a:prstGeom>
          <a:noFill/>
          <a:ln/>
        </p:spPr>
        <p:txBody>
          <a:bodyPr wrap="square" lIns="0" tIns="0" rIns="0" bIns="0" rtlCol="0" anchor="t"/>
          <a:lstStyle/>
          <a:p>
            <a:pPr marL="203200" indent="-203200">
              <a:spcAft>
                <a:spcPts val="600"/>
              </a:spcAft>
              <a:buSzPct val="100000"/>
              <a:buChar char="•"/>
            </a:pPr>
            <a:r>
              <a:rPr lang="it-IT" altLang="en-US" sz="1400" dirty="0">
                <a:solidFill>
                  <a:schemeClr val="tx1"/>
                </a:solidFill>
              </a:rPr>
              <a:t>Rete di co-autoraggio come approssimazione di una rete sociale</a:t>
            </a:r>
            <a:endParaRPr lang="it-IT" sz="1500" dirty="0"/>
          </a:p>
          <a:p>
            <a:pPr marL="203200" indent="-203200">
              <a:spcAft>
                <a:spcPts val="600"/>
              </a:spcAft>
              <a:buSzPct val="100000"/>
              <a:buChar char="•"/>
            </a:pPr>
            <a:r>
              <a:rPr lang="it-IT" altLang="en-US" sz="1400" dirty="0">
                <a:solidFill>
                  <a:schemeClr val="tx1"/>
                </a:solidFill>
              </a:rPr>
              <a:t>Coda dei gradi troncata; modello 8B e prompt specifici</a:t>
            </a:r>
            <a:endParaRPr lang="it-IT" sz="1500" dirty="0"/>
          </a:p>
        </p:txBody>
      </p:sp>
      <p:sp>
        <p:nvSpPr>
          <p:cNvPr id="16" name="Text 14"/>
          <p:cNvSpPr txBox="1"/>
          <p:nvPr/>
        </p:nvSpPr>
        <p:spPr>
          <a:xfrm>
            <a:off x="548640" y="4526280"/>
            <a:ext cx="11094415" cy="365760"/>
          </a:xfrm>
          <a:prstGeom prst="rect">
            <a:avLst/>
          </a:prstGeom>
          <a:noFill/>
          <a:ln/>
        </p:spPr>
        <p:txBody>
          <a:bodyPr wrap="square" lIns="0" tIns="0" rIns="0" bIns="0" rtlCol="0" anchor="t"/>
          <a:lstStyle/>
          <a:p>
            <a:pPr indent="0" marL="0">
              <a:buNone/>
            </a:pPr>
            <a:r>
              <a:rPr lang="it-IT" altLang="en-US" sz="1800" b="1" dirty="0">
                <a:solidFill>
                  <a:schemeClr val="tx2"/>
                </a:solidFill>
                <a:latin typeface="Cambria" pitchFamily="34" charset="0"/>
                <a:ea typeface="Cambria" pitchFamily="34" charset="-122"/>
                <a:cs typeface="Cambria" pitchFamily="34" charset="-120"/>
              </a:rPr>
              <a:t>Sviluppi previsti</a:t>
            </a:r>
            <a:endParaRPr lang="it-IT" sz="1800" dirty="0"/>
          </a:p>
        </p:txBody>
      </p:sp>
      <p:sp>
        <p:nvSpPr>
          <p:cNvPr id="17" name="Text 15"/>
          <p:cNvSpPr txBox="1"/>
          <p:nvPr/>
        </p:nvSpPr>
        <p:spPr>
          <a:xfrm>
            <a:off x="548640" y="4937760"/>
            <a:ext cx="11094415" cy="1234440"/>
          </a:xfrm>
          <a:prstGeom prst="rect">
            <a:avLst/>
          </a:prstGeom>
          <a:noFill/>
          <a:ln/>
        </p:spPr>
        <p:txBody>
          <a:bodyPr wrap="square" lIns="0" tIns="0" rIns="0" bIns="0" rtlCol="0" anchor="t"/>
          <a:lstStyle/>
          <a:p>
            <a:pPr marL="203200" indent="-203200">
              <a:spcAft>
                <a:spcPts val="600"/>
              </a:spcAft>
              <a:buSzPct val="100000"/>
              <a:buChar char="•"/>
            </a:pPr>
            <a:r>
              <a:rPr lang="it-IT" altLang="en-US" sz="1500" dirty="0">
                <a:solidFill>
                  <a:schemeClr val="tx1"/>
                </a:solidFill>
              </a:rPr>
              <a:t>Repliche con seed diversi; ablazioni: rewiring disattivato, indipendente dalle opinioni, candidati casuali a distanza 2</a:t>
            </a:r>
            <a:endParaRPr lang="it-IT" sz="1500" dirty="0"/>
          </a:p>
          <a:p>
            <a:pPr marL="203200" indent="-203200">
              <a:spcAft>
                <a:spcPts val="600"/>
              </a:spcAft>
              <a:buSzPct val="100000"/>
              <a:buChar char="•"/>
            </a:pPr>
            <a:r>
              <a:rPr lang="it-IT" altLang="en-US" sz="1500" dirty="0">
                <a:solidFill>
                  <a:schemeClr val="tx1"/>
                </a:solidFill>
              </a:rPr>
              <a:t>Variazione di tempistica e budget dell'intervento; obiettivo di selezione non miope; vincolo di connettività nel rewiring</a:t>
            </a:r>
            <a:endParaRPr lang="it-IT"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it-IT" altLang="en-US" sz="3200" b="1" dirty="0">
                <a:solidFill>
                  <a:schemeClr val="bg1"/>
                </a:solidFill>
              </a:rPr>
              <a:t>Risposte alle domande di ricerca</a:t>
            </a:r>
            <a:endParaRPr lang="it-IT" sz="3200" dirty="0"/>
          </a:p>
        </p:txBody>
      </p:sp>
      <p:sp>
        <p:nvSpPr>
          <p:cNvPr id="3" name="risposta_RQ1"/>
          <p:cNvSpPr/>
          <p:nvPr/>
        </p:nvSpPr>
        <p:spPr>
          <a:xfrm>
            <a:off x="548640" y="1554480"/>
            <a:ext cx="731520" cy="731520"/>
          </a:xfrm>
          <a:prstGeom prst="ellipse">
            <a:avLst/>
          </a:prstGeom>
          <a:solidFill>
            <a:srgbClr val="C53030"/>
          </a:solidFill>
          <a:ln/>
        </p:spPr>
      </p:sp>
      <p:sp>
        <p:nvSpPr>
          <p:cNvPr id="4" name="Text 2"/>
          <p:cNvSpPr txBox="1"/>
          <p:nvPr/>
        </p:nvSpPr>
        <p:spPr>
          <a:xfrm>
            <a:off x="548640" y="155448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RQ1</a:t>
            </a:r>
            <a:endParaRPr lang="en-US" sz="1600" dirty="0"/>
          </a:p>
        </p:txBody>
      </p:sp>
      <p:sp>
        <p:nvSpPr>
          <p:cNvPr id="5" name="Text 3"/>
          <p:cNvSpPr txBox="1"/>
          <p:nvPr/>
        </p:nvSpPr>
        <p:spPr>
          <a:xfrm>
            <a:off x="1600200" y="1463040"/>
            <a:ext cx="10042855" cy="960120"/>
          </a:xfrm>
          <a:prstGeom prst="rect">
            <a:avLst/>
          </a:prstGeom>
          <a:noFill/>
          <a:ln/>
        </p:spPr>
        <p:txBody>
          <a:bodyPr wrap="square" lIns="0" tIns="0" rIns="0" bIns="0" rtlCol="0" anchor="ctr"/>
          <a:lstStyle/>
          <a:p>
            <a:pPr indent="0" marL="0">
              <a:buNone/>
            </a:pPr>
            <a:r>
              <a:rPr lang="it-IT" altLang="en-US" sz="1800" dirty="0">
                <a:solidFill>
                  <a:schemeClr val="bg1"/>
                </a:solidFill>
              </a:rPr>
              <a:t>Diffusione logistica (R² = 0.997) con saturazione al 40.5%: comportamento di tipo SIR, non SI. Scala temporale confrontabile con il calendario di attivazione.</a:t>
            </a:r>
            <a:endParaRPr lang="it-IT" sz="1800" dirty="0"/>
          </a:p>
        </p:txBody>
      </p:sp>
      <p:sp>
        <p:nvSpPr>
          <p:cNvPr id="6" name="risposta_RQ2"/>
          <p:cNvSpPr/>
          <p:nvPr/>
        </p:nvSpPr>
        <p:spPr>
          <a:xfrm>
            <a:off x="548640" y="2880360"/>
            <a:ext cx="731520" cy="731520"/>
          </a:xfrm>
          <a:prstGeom prst="ellipse">
            <a:avLst/>
          </a:prstGeom>
          <a:solidFill>
            <a:srgbClr val="553C9A"/>
          </a:solidFill>
          <a:ln/>
        </p:spPr>
      </p:sp>
      <p:sp>
        <p:nvSpPr>
          <p:cNvPr id="7" name="Text 5"/>
          <p:cNvSpPr txBox="1"/>
          <p:nvPr/>
        </p:nvSpPr>
        <p:spPr>
          <a:xfrm>
            <a:off x="548640" y="288036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RQ2</a:t>
            </a:r>
            <a:endParaRPr lang="en-US" sz="1600" dirty="0"/>
          </a:p>
        </p:txBody>
      </p:sp>
      <p:sp>
        <p:nvSpPr>
          <p:cNvPr id="8" name="Text 6"/>
          <p:cNvSpPr txBox="1"/>
          <p:nvPr/>
        </p:nvSpPr>
        <p:spPr>
          <a:xfrm>
            <a:off x="1600200" y="2788920"/>
            <a:ext cx="10042855" cy="960120"/>
          </a:xfrm>
          <a:prstGeom prst="rect">
            <a:avLst/>
          </a:prstGeom>
          <a:noFill/>
          <a:ln/>
        </p:spPr>
        <p:txBody>
          <a:bodyPr wrap="square" lIns="0" tIns="0" rIns="0" bIns="0" rtlCol="0" anchor="ctr"/>
          <a:lstStyle/>
          <a:p>
            <a:pPr indent="0" marL="0">
              <a:buNone/>
            </a:pPr>
            <a:r>
              <a:rPr lang="it-IT" altLang="en-US" sz="1800" dirty="0">
                <a:solidFill>
                  <a:schemeClr val="bg1"/>
                </a:solidFill>
              </a:rPr>
              <a:t>Omofilia di opinione assente all'inizio e prodotta dalla dinamica (1.087 → 0.291); belief assortativity +145%, segregazione strutturale +5–6%.</a:t>
            </a:r>
            <a:endParaRPr lang="it-IT" sz="1800" dirty="0"/>
          </a:p>
        </p:txBody>
      </p:sp>
      <p:sp>
        <p:nvSpPr>
          <p:cNvPr id="9" name="risposta_RQ3"/>
          <p:cNvSpPr/>
          <p:nvPr/>
        </p:nvSpPr>
        <p:spPr>
          <a:xfrm>
            <a:off x="548640" y="4206240"/>
            <a:ext cx="731520" cy="731520"/>
          </a:xfrm>
          <a:prstGeom prst="ellipse">
            <a:avLst/>
          </a:prstGeom>
          <a:solidFill>
            <a:srgbClr val="B7791F"/>
          </a:solidFill>
          <a:ln/>
        </p:spPr>
      </p:sp>
      <p:sp>
        <p:nvSpPr>
          <p:cNvPr id="10" name="Text 8"/>
          <p:cNvSpPr txBox="1"/>
          <p:nvPr/>
        </p:nvSpPr>
        <p:spPr>
          <a:xfrm>
            <a:off x="548640" y="420624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RQ3</a:t>
            </a:r>
            <a:endParaRPr lang="en-US" sz="1600" dirty="0"/>
          </a:p>
        </p:txBody>
      </p:sp>
      <p:sp>
        <p:nvSpPr>
          <p:cNvPr id="11" name="Text 9"/>
          <p:cNvSpPr txBox="1"/>
          <p:nvPr/>
        </p:nvSpPr>
        <p:spPr>
          <a:xfrm>
            <a:off x="1600200" y="4114800"/>
            <a:ext cx="10042855" cy="960120"/>
          </a:xfrm>
          <a:prstGeom prst="rect">
            <a:avLst/>
          </a:prstGeom>
          <a:noFill/>
          <a:ln/>
        </p:spPr>
        <p:txBody>
          <a:bodyPr wrap="square" lIns="0" tIns="0" rIns="0" bIns="0" rtlCol="0" anchor="ctr"/>
          <a:lstStyle/>
          <a:p>
            <a:pPr indent="0" marL="0">
              <a:buNone/>
            </a:pPr>
            <a:r>
              <a:rPr lang="it-IT" altLang="en-US" sz="1800" dirty="0">
                <a:solidFill>
                  <a:schemeClr val="bg1"/>
                </a:solidFill>
              </a:rPr>
              <a:t>Intervento tardivo con 0.4% dei nodi: +160 resistenti, previsti ex ante (162), cinetica spiegata dall'attivazione; effetto sugli infetti non distinguibile.</a:t>
            </a:r>
            <a:endParaRPr lang="it-IT" sz="1800" dirty="0"/>
          </a:p>
        </p:txBody>
      </p:sp>
      <p:sp>
        <p:nvSpPr>
          <p:cNvPr id="12" name="messaggio_finale"/>
          <p:cNvSpPr/>
          <p:nvPr/>
        </p:nvSpPr>
        <p:spPr>
          <a:xfrm>
            <a:off x="548640" y="5486400"/>
            <a:ext cx="11094415" cy="777240"/>
          </a:xfrm>
          <a:prstGeom prst="roundRect">
            <a:avLst>
              <a:gd name="adj" fmla="val 9412"/>
            </a:avLst>
          </a:prstGeom>
          <a:solidFill>
            <a:srgbClr val="22344F"/>
          </a:solidFill>
          <a:ln/>
        </p:spPr>
      </p:sp>
      <p:sp>
        <p:nvSpPr>
          <p:cNvPr id="13" name="Text 11"/>
          <p:cNvSpPr txBox="1"/>
          <p:nvPr/>
        </p:nvSpPr>
        <p:spPr>
          <a:xfrm>
            <a:off x="822960" y="5486400"/>
            <a:ext cx="10545775" cy="777240"/>
          </a:xfrm>
          <a:prstGeom prst="rect">
            <a:avLst/>
          </a:prstGeom>
          <a:noFill/>
          <a:ln/>
        </p:spPr>
        <p:txBody>
          <a:bodyPr wrap="square" lIns="0" tIns="0" rIns="0" bIns="0" rtlCol="0" anchor="ctr"/>
          <a:lstStyle/>
          <a:p>
            <a:pPr indent="0" marL="0">
              <a:buNone/>
            </a:pPr>
            <a:r>
              <a:rPr lang="it-IT" altLang="en-US" sz="1600" i="1" dirty="0">
                <a:solidFill>
                  <a:srgbClr val="E2E8F0"/>
                </a:solidFill>
              </a:rPr>
              <a:t>Scelta metodologica centrale: allineare l'obiettivo di ottimizzazione al meccanismo simulato, anche a costo di rinunciare a una garanzia formale.</a:t>
            </a:r>
            <a:endParaRPr lang="it-IT"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0"/>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oevoluzione">
  <a:themeElements>
    <a:clrScheme name="Coevoluzione">
      <a:dk1>
        <a:srgbClr val="1A202C"/>
      </a:dk1>
      <a:lt1>
        <a:srgbClr val="FFFFFF"/>
      </a:lt1>
      <a:dk2>
        <a:srgbClr val="16243A"/>
      </a:dk2>
      <a:lt2>
        <a:srgbClr val="EDF2F7"/>
      </a:lt2>
      <a:accent1>
        <a:srgbClr val="C53030"/>
      </a:accent1>
      <a:accent2>
        <a:srgbClr val="2F855A"/>
      </a:accent2>
      <a:accent3>
        <a:srgbClr val="2B6CB0"/>
      </a:accent3>
      <a:accent4>
        <a:srgbClr val="B7791F"/>
      </a:accent4>
      <a:accent5>
        <a:srgbClr val="553C9A"/>
      </a:accent5>
      <a:accent6>
        <a:srgbClr val="DD6B20"/>
      </a:accent6>
      <a:hlink>
        <a:srgbClr val="2B6CB0"/>
      </a:hlink>
      <a:folHlink>
        <a:srgbClr val="553C9A"/>
      </a:folHlink>
    </a:clrScheme>
    <a:fontScheme name="Coevoluzio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Co-evoluzione tra cognizione generativa, topologia e intervento</dc:title>
  <dc:subject>Analisi di Social Network e Media</dc:subject>
  <dc:creator>Stefano Brusco</dc:creator>
  <cp:lastModifiedBy>Stefano Brusco</cp:lastModifiedBy>
  <cp:revision>1</cp:revision>
  <dcterms:created xsi:type="dcterms:W3CDTF">2026-10-12T17:49:27Z</dcterms:created>
  <dcterms:modified xsi:type="dcterms:W3CDTF">2026-10-12T17:49:27Z</dcterms:modified>
</cp:coreProperties>
</file>